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10a09265bf974fbb" Type="http://schemas.microsoft.com/office/2007/relationships/ui/extensibility" Target="customUI/customUI14.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4"/>
    <p:sldId id="258" r:id="rId3"/>
    <p:sldId id="259" r:id="rId2"/>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43" autoAdjust="0"/>
    <p:restoredTop sz="94660"/>
  </p:normalViewPr>
  <p:slideViewPr>
    <p:cSldViewPr snapToGrid="0">
      <p:cViewPr varScale="1">
        <p:scale>
          <a:sx n="143" d="100"/>
          <a:sy n="143" d="100"/>
        </p:scale>
        <p:origin x="42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customXml" Target="../customXml/item1.xml"/><Relationship Id="rId12" Type="http://schemas.openxmlformats.org/officeDocument/2006/relationships/customXml" Target="../customXml/item2.xml"/><Relationship Id="rId13" Type="http://schemas.openxmlformats.org/officeDocument/2006/relationships/customXml" Target="../customXml/item3.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Met vibe coding krijg je snel iets werkends. Deze slide stelt drie vragen die bepalen of je er later nog iets aan hebt: begrijp je het over een maand nog, kan een collega het draaien, en weet je waar de data is gebleven?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Vibe coding (programmeren in natuurlijke taal) is goed om snel iets uit te proberen. Agentic engineering gebruikt dezelfde AI, maar met goede gewoontes (git, structuur, documentatie, veiligheid), zodat het project blijft werken en overdraagbaar 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vijf doelen van de cursus: zien wat er kan met coding agents, elk project in git, een overdraagbare mappenstructuur (src/, data/, assets/), geen data of secrets in git of gedeelde mappen, en gezond ontzag voor wat een agent met command line access kan.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coding agent is een taalmodel dat via een command line commando's mag uitvoeren, met bepaalde rechten. Dat kan lokaal op je computer of in de cloud. Met command line access kan een agent in principe alles wat jij ook op je computer kunt.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Je kunt een agent op verschillende manieren gebruiken: in de browser, in je editor (VS Code), als desktop-app, in de terminal of in een sandbox. De map die je opent bepaalt waar de agent bij kan, dus open alleen je projectmap.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agent weet alleen wat jij vraagt (de prompt), wat er in de geopende map staat (zoals AGENTS.md), welke skills beschikbaar zijn en wat er in een hand-off staat. Alles wat niet in de map staat, weet hij niet.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Waarom git: samenwerken, overzicht en terugdraaien, je agent laten werken in je repo, en duurzaamheid. Met goede documentatie van code én intenties werkt je project ook als jij er niet meer bent.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Zo ziet een repo eruit waar een agent goed mee kan werken: AGENTS.md met werkafspraken in de hoofdmap, skills in .agents/skills/ (en .claude/skills/ voor Claude Code) en hand-offs in docs/handoffs/.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basis van git voor je eigen repo: git init (nieuwe repo starten), git clone (bestaande repo kopiëren), git commit (een bewuste bundel wijzigingen met een bericht waarom) en git push (je commits naar GitHub sturen).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Controleer vóór oefening 1: werkt je agent in VS Code, werken git en gh (GitHub CLI), staat tweestapsverificatie op GitHub aan en heb je de uitnodiging voor de cursusrepo geaccepteerd. Start de Codex-extensie niet, zie dan de handleiding in docs/troubleshooting/.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Nabespreking van oefening 1. De les: je kunt met meerdere mensen tegelijk in dezelfde repo werken, en jij bepaalt wat er níét in komt.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Je agent werkt met jouw rechten: alles waar jij op bent ingelogd (mail, OneDrive, GitHub, browser) kan je agent in principe ook gebruiken. Een beetje gezonde angst is op zijn plek.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Als een agent een databestand leest, gaat de data naar de AI-aanbieder. Als de agent een Python-script schrijft dat de data lokaal verwerkt, gaat alleen de uitkomst naar de aanbieder. Let wel op wat er terugkomt: prints, foutmeldingen en geopende bestanden kunnen data bevatten.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Voorbeelden van tools die een agent kan gebruiken: een browser besturen (Playwright), actuele documentatie ophalen (Context7), GitHub (gh), Azure (az), audio en video (ffmpeg, Whisper), Docker, Spec Kit en andere agents. Ben je ingelogd, dan doet de agent dat met jouw rechten.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Voorkom dat je vastzit aan één AI-aanbieder (vendor lock-in): probeer verschillende agents, zet je afspraken in AGENTS.md (dat lezen de meeste agents) en bewaar je kennis in je repo in plaats van in een chatgeschiedenis.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Agents hebben instellingen op twee niveaus: user level (voor al je projecten, in je gebruikersmap) en project level (in de repo, gedeeld met je team). Optioneel in sessie 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Permissiemodi bepalen hoeveel je agent zelf mag: eerst vragen, alleen plannen, automatisch bewerken, of alles (alleen in een sandbox). Met deny-regels verbied je bijvoorbeeld het lezen van .env of je privédata.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Het naslagwerk legt per onderwerp uit welke tools er zijn, waarom en wanneer. Het heeft een README.md voor mensen en een AGENTS.md voor je agent. Vraag je agent het te lezen en je te helpen kiezen; de keuze maak je zelf.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Het naslagwerk staat op de branch naslagwerk van de cursusrepo. Zet de map waar je agent bij kan, in je eigen repo of als extra map in je werkruimte.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Geef repositories een vaste naam volgens doelgroep-doel-specifiek, in kleine letters met streepjes (bijv. wsv-data-mining-koffiepauze). Zo vind je over een paar jaar je weg nog terug.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skill is een herbruikbaar instructiebestand (SKILL.md) dat je agent als context gebruikt, eventueel met naslag (reference) en scripts die de agent kan draaien. 'Installeren' betekent eigenlijk: het bestand op de juiste plek zetten. Wij hebben een intake-skill gemaakt die je helpt een plan voor je project te maken.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intake-skill vraagt eerst of je een korte of uitgebreide intake wilt. Kies in de oefening de korte variant: maximaal één brede vraag per thema, zodat je snel een bruikbaar plan hebt. Daarna biedt de skill tien vervolgvragen aan om het plan aan te scherpen; kies dan 'Nee, klaar'. De uitgebreide intake en de verdieping kun je later nog doen.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Oefening: maak je eigen repo, doorloop de intake-skill (korte variant), lees en verbeter het plan-van-aanpak.md, laat iemand anders feedback geven, en laat je agent de afspraken uit het plan in AGENTS.md zetten. Controleer met de checklist of je plan en AGENTS.md het project, de data access, wat de agent niet mag lezen, de werkwijze en de mappenstructuur beschrijven.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documenten in je repo en hun rol: plan-van-aanpak.md (richting), AGENTS.md (werkafspraken voor de agent), tasks.md (stappen), docs/handoffs/ (overdracht tussen sessies) en decisions.md (besluiten, naar behoefte).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Optioneel: voorbeelden van regels voor je agent, op user level (voor al je projecten) en op project level (alleen voor dit project).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Nabespreking van oefening 2: wat leverde de intake-skill op, wat was onverwacht, en welke feedback kreeg je van een ander?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Voorbeelden van wat je kunt bouwen: data ophalen via API's, data bekijken in een dashboard, interactieve apps en automatisering. De beperking zit vooral in je eigen fantasie en in een goed afgebakend doel.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vaste dagelijkse werkwijze met een agent: start met de laatste hand-off, plan eerst, bouw in kleine stappen, controleer zelf, commit per werkende stap, nieuwe chat per feature, en sluit af met een hand-off.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.venv is de eigen Python-omgeving van je project (nooit in git). requirements.txt is de lijst met packages, zodat een ander met 'pip install -r requirements.txt' dezelfde omgeving kan opbouwen.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Data en credentials (wachtwoorden, API-keys, .env) horen nooit in git. Ook geen voorbeelddata van echte sporters.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Terugblik op de vijf doelen van de cursus: welke zijn gelukt?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kernboodschap: code schrijven doet de agent. Jouw werk is overzicht houden, je doel scherp houden en blijven valideren of het klopt.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Onderwerpen voor sessie 2: branches en pull requests, issues via de agent, builder/reviewer (twee agents), tests en hosting, en extra tools voor agents zoals Playwright en Context7.</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Het praktische doel van sessie 1: aan het eind van de dag draait je eerste versie op de computer van een collega, zonder dat jij hoeft te helpen. Dat dwingt je om alles goed vast te leggen.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projecten van de deelnemers in deze groep. Ze verschillen sterk, maar de werkwijze (git, plan, agent, overdraagbaar maken) is voor iedereen hetzelfde.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ontwikkeling van AI bij programmeren: van code kopiëren uit een chat, via suggesties in je editor, naar agents die zelf bestanden lezen, schrijven en commando's uitvoeren. Jouw rol verschuift van zelf typen naar regisseren, begrijpen (internaliseren) en controleren.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Git bij samenwerken: fetch (kijken wat er nieuw is), pull (het nieuwe ophalen en samenvoegen), merge conflict (twee verschillende wijzigingen op dezelfde regel van hetzelfde bestand) en branches (parallelle versies, voor gevorderden).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.gitignore-bestand vertelt git welke bestanden het moet negeren, zoals .env (secrets), data/private/ en .venv/. Zet hem klaar vóór je eerste commit. Het is geen beveiliging: je agent kan genegeerde bestanden nog steeds lezen.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Het verschil in één tabel: beide genereren code, maar bij agentic engineering werkt het ook bij een ander, werk je in korte sessies met hand-offs en staat alles in de repo in plaats van alleen lokaal.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Oefening om git te leren: clone de cursusrepo, maak een bestand in de map van jouw sessie, commit en push, haal de wijzigingen van anderen op, en test dat een bestand in .gitignore echt niet op GitHub komt.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Vijf opzetten van veilig naar riskant: alleen het schema, bouwen op nepdata (aanbevolen), een kleine sample, lokaal verwerken met Python, of de hele tabel uploaden. Kies op basis van hoe gevoelig de data is. Tip: laat je agent debugging-prints schrijven zonder gevoelige informatie.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eigenaar van de data (of wie namens hem spreekt) bepaalt wat je ermee mag. Let daarnaast op je account (gratis accounts trainen vaak op je data) en de AVG (gezondheidsdata is bijzonder gevoelig).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Deze presentatie staat in de cursusrepo (docs/agentic-engineering-sessie-1.pptx). Elke slide heeft een agent-note in de notities; kopieer die naar je agent als je meer uitleg wilt of wilt weten hoe je iets toepast in je eigen project.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Naamgevingsafspraken: kleine letters, woorden met streepjes, geen spaties of 'final/v2' in namen (daarvoor heb je git). Python-bestanden gebruiken underscores.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Vier lessen: vertraag en begrijp wat de agent doet, werk feature voor feature met een commit per stap, begin een nieuwe chat voor iets nieuws, en laat de agent een hand-off schrijven.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 vaste dagelijkse werkwijze met een agent: start met de laatste hand-off, plan eerst, bouw in kleine stappen, controleer zelf, commit per werkende stap, nieuwe chat per feature, en sluit af met een hand-off.</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Eenvoudige commando's (git status, je app starten, bestanden lezen) kun je uiteindelijk beter zelf doen; dat kost geen tokens. Laat de agent denkwerk doen: features bouwen, fouten verklaren, code herstructureren, tests schrijven.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Hoe langer een chat, hoe duurder en hoe slechter het werk van de agent. Werk daarom in korte sessies en leg de stand vast in een hand-off.</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Optionele onderwerpen voor wie verder wil: mappenstructuur, notebooks (let op data in de output), .gitkeep (lege map in git) en hand-offs en besluiten. Alles staat in het naslagwerk.</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Oefening: werk met je agent aan je eigen project volgens de dagelijkse workflow, maak een eerste proof of concept, commit na elke werkende stap en sluit af met een hand-off.</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Om je project overdraagbaar te maken heb je minimaal een README.md (wat doet het, hoe start je het), requirements.txt (welke software) en .env.example (welke instellingen moet iemand zelf invullen) nodig.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Drie manieren om data te delen zonder git: kleine voorbeelddata (&lt; 1 MB, niets gevoeligs, liefst synthetisch) in de repo, een script dat nepdata maakt, of echte data in een gedeelde map met het pad in je .env.</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Oefening: maak je repo klaar voor een ander, voeg een buddy toe en kijk of die het zonder jouw hulp aan de praat krijgt.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Reflectie: wat is er veranderd in hoe je denkt over programmeren met AI, en hoe zou je je AGENTS.md uitbreiden?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Zo ziet je repo er na sessie 1 idealiter uit: README.md, AGENTS.md, CLAUDE.md, .gitignore, .env.example, requirements.txt, data/example/, src/ en docs/handoffs/. Niet in git: .env, .venv/ en data/private/.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De kern van sessie 1: git voor samenwerken en overzicht, nooit data of credentials in git, verwerken is niet lezen (de data-eigenaar bepaalt wat mag), en goede gewoontes.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AGENT-NOTE: Huiswerk na sessie 1: werk verder aan je project, houd hand-offs bij, maak je repo deelbaar (README.md, .gitignore, requirements.txt, .env.example, AGENTS.md) en noteer waar je vastloopt.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 variant 1">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10E55A8B-BEAF-4C30-8B8D-F14078175DF3}"/>
              </a:ext>
            </a:extLst>
          </p:cNvPr>
          <p:cNvPicPr>
            <a:picLocks noChangeAspect="1"/>
          </p:cNvPicPr>
          <p:nvPr userDrawn="1"/>
        </p:nvPicPr>
        <p:blipFill>
          <a:blip r:embed="rId2"/>
          <a:stretch>
            <a:fillRect/>
          </a:stretch>
        </p:blipFill>
        <p:spPr>
          <a:xfrm>
            <a:off x="1851" y="0"/>
            <a:ext cx="9142149" cy="5143500"/>
          </a:xfrm>
          <a:prstGeom prst="rect">
            <a:avLst/>
          </a:prstGeom>
        </p:spPr>
      </p:pic>
      <p:sp>
        <p:nvSpPr>
          <p:cNvPr id="2" name="Title 1"/>
          <p:cNvSpPr>
            <a:spLocks noGrp="1"/>
          </p:cNvSpPr>
          <p:nvPr>
            <p:ph type="ctrTitle" hasCustomPrompt="1"/>
          </p:nvPr>
        </p:nvSpPr>
        <p:spPr>
          <a:xfrm>
            <a:off x="427180" y="412590"/>
            <a:ext cx="4144820" cy="1325044"/>
          </a:xfrm>
        </p:spPr>
        <p:txBody>
          <a:bodyPr anchor="t" anchorCtr="0"/>
          <a:lstStyle>
            <a:lvl1pPr algn="l">
              <a:defRPr sz="4500">
                <a:solidFill>
                  <a:schemeClr val="bg1"/>
                </a:solidFill>
              </a:defRPr>
            </a:lvl1pPr>
          </a:lstStyle>
          <a:p>
            <a:r>
              <a:rPr lang="nl-NL" dirty="0"/>
              <a:t>titel</a:t>
            </a:r>
            <a:endParaRPr lang="en-US" dirty="0"/>
          </a:p>
        </p:txBody>
      </p:sp>
      <p:sp>
        <p:nvSpPr>
          <p:cNvPr id="3" name="Subtitle 2"/>
          <p:cNvSpPr>
            <a:spLocks noGrp="1"/>
          </p:cNvSpPr>
          <p:nvPr>
            <p:ph type="subTitle" idx="1" hasCustomPrompt="1"/>
          </p:nvPr>
        </p:nvSpPr>
        <p:spPr>
          <a:xfrm>
            <a:off x="427180" y="1737793"/>
            <a:ext cx="4144820" cy="822403"/>
          </a:xfrm>
        </p:spPr>
        <p:txBody>
          <a:bodyPr anchor="t" anchorCtr="0"/>
          <a:lstStyle>
            <a:lvl1pPr marL="0" indent="0" algn="l">
              <a:buNone/>
              <a:defRPr sz="2500" b="1">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datum</a:t>
            </a:r>
            <a:endParaRPr lang="en-US" dirty="0"/>
          </a:p>
        </p:txBody>
      </p:sp>
      <p:pic>
        <p:nvPicPr>
          <p:cNvPr id="15" name="Afbeelding 14">
            <a:extLst>
              <a:ext uri="{FF2B5EF4-FFF2-40B4-BE49-F238E27FC236}">
                <a16:creationId xmlns:a16="http://schemas.microsoft.com/office/drawing/2014/main" id="{3BD9F851-A97D-40C5-B582-31B502820860}"/>
              </a:ext>
            </a:extLst>
          </p:cNvPr>
          <p:cNvPicPr>
            <a:picLocks noChangeAspect="1"/>
          </p:cNvPicPr>
          <p:nvPr userDrawn="1"/>
        </p:nvPicPr>
        <p:blipFill>
          <a:blip r:embed="rId3"/>
          <a:stretch>
            <a:fillRect/>
          </a:stretch>
        </p:blipFill>
        <p:spPr>
          <a:xfrm>
            <a:off x="8002621" y="0"/>
            <a:ext cx="1141379" cy="1730015"/>
          </a:xfrm>
          <a:prstGeom prst="rect">
            <a:avLst/>
          </a:prstGeom>
        </p:spPr>
      </p:pic>
      <p:pic>
        <p:nvPicPr>
          <p:cNvPr id="17" name="Afbeelding 16">
            <a:extLst>
              <a:ext uri="{FF2B5EF4-FFF2-40B4-BE49-F238E27FC236}">
                <a16:creationId xmlns:a16="http://schemas.microsoft.com/office/drawing/2014/main" id="{421E1E15-E91B-40FE-A730-377F2B618909}"/>
              </a:ext>
            </a:extLst>
          </p:cNvPr>
          <p:cNvPicPr>
            <a:picLocks noChangeAspect="1"/>
          </p:cNvPicPr>
          <p:nvPr userDrawn="1"/>
        </p:nvPicPr>
        <p:blipFill>
          <a:blip r:embed="rId4"/>
          <a:stretch>
            <a:fillRect/>
          </a:stretch>
        </p:blipFill>
        <p:spPr>
          <a:xfrm>
            <a:off x="0" y="4164653"/>
            <a:ext cx="9144000" cy="381000"/>
          </a:xfrm>
          <a:prstGeom prst="rect">
            <a:avLst/>
          </a:prstGeom>
        </p:spPr>
      </p:pic>
      <p:pic>
        <p:nvPicPr>
          <p:cNvPr id="4" name="Afbeelding 3">
            <a:extLst>
              <a:ext uri="{FF2B5EF4-FFF2-40B4-BE49-F238E27FC236}">
                <a16:creationId xmlns:a16="http://schemas.microsoft.com/office/drawing/2014/main" id="{94383846-7664-7191-7097-3819C4AB50F1}"/>
              </a:ext>
              <a:ext uri="{C183D7F6-B498-43B3-948B-1728B52AA6E4}">
                <adec:decorative xmlns:adec="http://schemas.microsoft.com/office/drawing/2017/decorative" val="1"/>
              </a:ext>
            </a:extLst>
          </p:cNvPr>
          <p:cNvPicPr>
            <a:picLocks noChangeAspect="1"/>
          </p:cNvPicPr>
          <p:nvPr userDrawn="1"/>
        </p:nvPicPr>
        <p:blipFill>
          <a:blip r:embed="rId5"/>
          <a:srcRect/>
          <a:stretch/>
        </p:blipFill>
        <p:spPr>
          <a:xfrm>
            <a:off x="4057900" y="4369386"/>
            <a:ext cx="5066879" cy="964538"/>
          </a:xfrm>
          <a:prstGeom prst="rect">
            <a:avLst/>
          </a:prstGeom>
        </p:spPr>
      </p:pic>
    </p:spTree>
    <p:extLst>
      <p:ext uri="{BB962C8B-B14F-4D97-AF65-F5344CB8AC3E}">
        <p14:creationId xmlns:p14="http://schemas.microsoft.com/office/powerpoint/2010/main" val="338648912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variant 2">
    <p:spTree>
      <p:nvGrpSpPr>
        <p:cNvPr id="1" name=""/>
        <p:cNvGrpSpPr/>
        <p:nvPr/>
      </p:nvGrpSpPr>
      <p:grpSpPr>
        <a:xfrm>
          <a:off x="0" y="0"/>
          <a:ext cx="0" cy="0"/>
          <a:chOff x="0" y="0"/>
          <a:chExt cx="0" cy="0"/>
        </a:xfrm>
      </p:grpSpPr>
      <p:pic>
        <p:nvPicPr>
          <p:cNvPr id="14" name="Afbeelding 13">
            <a:extLst>
              <a:ext uri="{FF2B5EF4-FFF2-40B4-BE49-F238E27FC236}">
                <a16:creationId xmlns:a16="http://schemas.microsoft.com/office/drawing/2014/main" id="{EBFF0CFC-99B5-4F93-A2AB-D26F4FB67057}"/>
              </a:ext>
            </a:extLst>
          </p:cNvPr>
          <p:cNvPicPr>
            <a:picLocks noChangeAspect="1"/>
          </p:cNvPicPr>
          <p:nvPr userDrawn="1"/>
        </p:nvPicPr>
        <p:blipFill rotWithShape="1">
          <a:blip r:embed="rId2"/>
          <a:srcRect l="24995" r="27772"/>
          <a:stretch/>
        </p:blipFill>
        <p:spPr>
          <a:xfrm>
            <a:off x="0" y="0"/>
            <a:ext cx="4318079" cy="5143500"/>
          </a:xfrm>
          <a:prstGeom prst="rect">
            <a:avLst/>
          </a:prstGeom>
        </p:spPr>
      </p:pic>
      <p:sp>
        <p:nvSpPr>
          <p:cNvPr id="2" name="Title 1"/>
          <p:cNvSpPr>
            <a:spLocks noGrp="1"/>
          </p:cNvSpPr>
          <p:nvPr>
            <p:ph type="ctrTitle" hasCustomPrompt="1"/>
          </p:nvPr>
        </p:nvSpPr>
        <p:spPr>
          <a:xfrm>
            <a:off x="427180" y="412590"/>
            <a:ext cx="4144820" cy="1790700"/>
          </a:xfrm>
        </p:spPr>
        <p:txBody>
          <a:bodyPr anchor="t" anchorCtr="0"/>
          <a:lstStyle>
            <a:lvl1pPr algn="l">
              <a:defRPr sz="4500">
                <a:solidFill>
                  <a:schemeClr val="bg1"/>
                </a:solidFill>
              </a:defRPr>
            </a:lvl1pPr>
          </a:lstStyle>
          <a:p>
            <a:r>
              <a:rPr lang="nl-NL" dirty="0"/>
              <a:t>titel</a:t>
            </a:r>
            <a:endParaRPr lang="en-US" dirty="0"/>
          </a:p>
        </p:txBody>
      </p:sp>
      <p:sp>
        <p:nvSpPr>
          <p:cNvPr id="3" name="Subtitle 2"/>
          <p:cNvSpPr>
            <a:spLocks noGrp="1"/>
          </p:cNvSpPr>
          <p:nvPr>
            <p:ph type="subTitle" idx="1" hasCustomPrompt="1"/>
          </p:nvPr>
        </p:nvSpPr>
        <p:spPr>
          <a:xfrm>
            <a:off x="4724400" y="3398953"/>
            <a:ext cx="3680460" cy="822403"/>
          </a:xfrm>
        </p:spPr>
        <p:txBody>
          <a:bodyPr anchor="t" anchorCtr="0"/>
          <a:lstStyle>
            <a:lvl1pPr marL="0" indent="0" algn="l">
              <a:buNone/>
              <a:defRPr sz="2500" b="1">
                <a:solidFill>
                  <a:schemeClr val="tx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datum</a:t>
            </a:r>
            <a:endParaRPr lang="en-US" dirty="0"/>
          </a:p>
        </p:txBody>
      </p:sp>
      <p:sp>
        <p:nvSpPr>
          <p:cNvPr id="9" name="Tijdelijke aanduiding voor afbeelding 4">
            <a:extLst>
              <a:ext uri="{FF2B5EF4-FFF2-40B4-BE49-F238E27FC236}">
                <a16:creationId xmlns:a16="http://schemas.microsoft.com/office/drawing/2014/main" id="{BED42EA4-3EFE-4D0E-972F-C682E3B8F97D}"/>
              </a:ext>
            </a:extLst>
          </p:cNvPr>
          <p:cNvSpPr>
            <a:spLocks noGrp="1"/>
          </p:cNvSpPr>
          <p:nvPr>
            <p:ph type="pic" sz="quarter" idx="10"/>
          </p:nvPr>
        </p:nvSpPr>
        <p:spPr>
          <a:xfrm>
            <a:off x="4318079" y="0"/>
            <a:ext cx="4825921" cy="3098800"/>
          </a:xfrm>
          <a:solidFill>
            <a:schemeClr val="bg1">
              <a:lumMod val="95000"/>
            </a:schemeClr>
          </a:solidFill>
        </p:spPr>
        <p:txBody>
          <a:bodyPr/>
          <a:lstStyle/>
          <a:p>
            <a:r>
              <a:rPr lang="nl-NL"/>
              <a:t>Klik op het pictogram als u een afbeelding wilt toevoegen</a:t>
            </a:r>
          </a:p>
        </p:txBody>
      </p:sp>
      <p:pic>
        <p:nvPicPr>
          <p:cNvPr id="18" name="Afbeelding 17">
            <a:extLst>
              <a:ext uri="{FF2B5EF4-FFF2-40B4-BE49-F238E27FC236}">
                <a16:creationId xmlns:a16="http://schemas.microsoft.com/office/drawing/2014/main" id="{4B9CA467-D460-47A7-ACFF-C53E5C92B965}"/>
              </a:ext>
            </a:extLst>
          </p:cNvPr>
          <p:cNvPicPr>
            <a:picLocks noChangeAspect="1"/>
          </p:cNvPicPr>
          <p:nvPr userDrawn="1"/>
        </p:nvPicPr>
        <p:blipFill>
          <a:blip r:embed="rId3"/>
          <a:stretch>
            <a:fillRect/>
          </a:stretch>
        </p:blipFill>
        <p:spPr>
          <a:xfrm>
            <a:off x="0" y="4160621"/>
            <a:ext cx="9144000" cy="381000"/>
          </a:xfrm>
          <a:prstGeom prst="rect">
            <a:avLst/>
          </a:prstGeom>
        </p:spPr>
      </p:pic>
      <p:sp>
        <p:nvSpPr>
          <p:cNvPr id="20" name="Tijdelijke aanduiding voor tekst 3">
            <a:extLst>
              <a:ext uri="{FF2B5EF4-FFF2-40B4-BE49-F238E27FC236}">
                <a16:creationId xmlns:a16="http://schemas.microsoft.com/office/drawing/2014/main" id="{EE3F514B-DE18-4195-A917-3ABCA737A5AF}"/>
              </a:ext>
            </a:extLst>
          </p:cNvPr>
          <p:cNvSpPr>
            <a:spLocks noGrp="1"/>
          </p:cNvSpPr>
          <p:nvPr>
            <p:ph type="body" sz="quarter" idx="15" hasCustomPrompt="1"/>
          </p:nvPr>
        </p:nvSpPr>
        <p:spPr>
          <a:xfrm>
            <a:off x="8010522" y="0"/>
            <a:ext cx="1133475" cy="1714441"/>
          </a:xfrm>
          <a:blipFill dpi="0" rotWithShape="1">
            <a:blip r:embed="rId4">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pic>
        <p:nvPicPr>
          <p:cNvPr id="5" name="Afbeelding 4">
            <a:extLst>
              <a:ext uri="{FF2B5EF4-FFF2-40B4-BE49-F238E27FC236}">
                <a16:creationId xmlns:a16="http://schemas.microsoft.com/office/drawing/2014/main" id="{419D918D-3760-74C7-552D-7844F7AE8470}"/>
              </a:ext>
              <a:ext uri="{C183D7F6-B498-43B3-948B-1728B52AA6E4}">
                <adec:decorative xmlns:adec="http://schemas.microsoft.com/office/drawing/2017/decorative" val="1"/>
              </a:ext>
            </a:extLst>
          </p:cNvPr>
          <p:cNvPicPr>
            <a:picLocks noChangeAspect="1"/>
          </p:cNvPicPr>
          <p:nvPr userDrawn="1"/>
        </p:nvPicPr>
        <p:blipFill>
          <a:blip r:embed="rId5"/>
          <a:srcRect/>
          <a:stretch/>
        </p:blipFill>
        <p:spPr>
          <a:xfrm>
            <a:off x="4052602" y="4368668"/>
            <a:ext cx="5078769" cy="968262"/>
          </a:xfrm>
          <a:prstGeom prst="rect">
            <a:avLst/>
          </a:prstGeom>
        </p:spPr>
      </p:pic>
    </p:spTree>
    <p:extLst>
      <p:ext uri="{BB962C8B-B14F-4D97-AF65-F5344CB8AC3E}">
        <p14:creationId xmlns:p14="http://schemas.microsoft.com/office/powerpoint/2010/main" val="56569042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met afbeelding">
    <p:spTree>
      <p:nvGrpSpPr>
        <p:cNvPr id="1" name=""/>
        <p:cNvGrpSpPr/>
        <p:nvPr/>
      </p:nvGrpSpPr>
      <p:grpSpPr>
        <a:xfrm>
          <a:off x="0" y="0"/>
          <a:ext cx="0" cy="0"/>
          <a:chOff x="0" y="0"/>
          <a:chExt cx="0" cy="0"/>
        </a:xfrm>
      </p:grpSpPr>
      <p:sp>
        <p:nvSpPr>
          <p:cNvPr id="14" name="Tijdelijke aanduiding voor afbeelding 13">
            <a:extLst>
              <a:ext uri="{FF2B5EF4-FFF2-40B4-BE49-F238E27FC236}">
                <a16:creationId xmlns:a16="http://schemas.microsoft.com/office/drawing/2014/main" id="{CAE106B4-F641-46A6-8FEF-018083E7CA41}"/>
              </a:ext>
            </a:extLst>
          </p:cNvPr>
          <p:cNvSpPr>
            <a:spLocks noGrp="1"/>
          </p:cNvSpPr>
          <p:nvPr>
            <p:ph type="pic" sz="quarter" idx="12"/>
          </p:nvPr>
        </p:nvSpPr>
        <p:spPr>
          <a:xfrm>
            <a:off x="0" y="0"/>
            <a:ext cx="9144000" cy="4536000"/>
          </a:xfrm>
          <a:solidFill>
            <a:schemeClr val="bg1">
              <a:lumMod val="95000"/>
            </a:schemeClr>
          </a:solidFill>
        </p:spPr>
        <p:txBody>
          <a:bodyPr/>
          <a:lstStyle/>
          <a:p>
            <a:r>
              <a:rPr lang="nl-NL"/>
              <a:t>Klik op het pictogram als u een afbeelding wilt toevoegen</a:t>
            </a:r>
            <a:endParaRPr lang="nl-NL" dirty="0"/>
          </a:p>
        </p:txBody>
      </p:sp>
      <p:sp>
        <p:nvSpPr>
          <p:cNvPr id="7" name="Tijdelijke aanduiding voor tekst 6">
            <a:extLst>
              <a:ext uri="{FF2B5EF4-FFF2-40B4-BE49-F238E27FC236}">
                <a16:creationId xmlns:a16="http://schemas.microsoft.com/office/drawing/2014/main" id="{BCBA12EA-ED5D-46DF-AB49-FDFB59BC449C}"/>
              </a:ext>
            </a:extLst>
          </p:cNvPr>
          <p:cNvSpPr>
            <a:spLocks noGrp="1"/>
          </p:cNvSpPr>
          <p:nvPr>
            <p:ph type="body" sz="quarter" idx="13" hasCustomPrompt="1"/>
          </p:nvPr>
        </p:nvSpPr>
        <p:spPr>
          <a:xfrm>
            <a:off x="0" y="2442949"/>
            <a:ext cx="9144000" cy="2098800"/>
          </a:xfrm>
          <a:gradFill flip="none" rotWithShape="1">
            <a:gsLst>
              <a:gs pos="0">
                <a:schemeClr val="bg1">
                  <a:alpha val="0"/>
                </a:schemeClr>
              </a:gs>
              <a:gs pos="83000">
                <a:schemeClr val="tx2">
                  <a:alpha val="51000"/>
                </a:schemeClr>
              </a:gs>
            </a:gsLst>
            <a:lin ang="5400000" scaled="1"/>
            <a:tileRect/>
          </a:gradFill>
        </p:spPr>
        <p:txBody>
          <a:bodyPr/>
          <a:lstStyle>
            <a:lvl1pPr>
              <a:defRPr sz="100"/>
            </a:lvl1pPr>
          </a:lstStyle>
          <a:p>
            <a:pPr lvl="0"/>
            <a:r>
              <a:rPr lang="nl-NL" dirty="0"/>
              <a:t> </a:t>
            </a:r>
          </a:p>
          <a:p>
            <a:pPr lvl="0"/>
            <a:endParaRPr lang="en-GB" dirty="0"/>
          </a:p>
        </p:txBody>
      </p:sp>
      <p:sp>
        <p:nvSpPr>
          <p:cNvPr id="4" name="Tijdelijke aanduiding voor tekst 3">
            <a:extLst>
              <a:ext uri="{FF2B5EF4-FFF2-40B4-BE49-F238E27FC236}">
                <a16:creationId xmlns:a16="http://schemas.microsoft.com/office/drawing/2014/main" id="{125BFD6C-F3F2-49E4-B313-F4B8DCD70734}"/>
              </a:ext>
            </a:extLst>
          </p:cNvPr>
          <p:cNvSpPr>
            <a:spLocks noGrp="1"/>
          </p:cNvSpPr>
          <p:nvPr>
            <p:ph type="body" sz="quarter" idx="14" hasCustomPrompt="1"/>
          </p:nvPr>
        </p:nvSpPr>
        <p:spPr>
          <a:xfrm>
            <a:off x="0" y="4160888"/>
            <a:ext cx="9144000" cy="388621"/>
          </a:xfrm>
          <a:blipFill>
            <a:blip r:embed="rId2"/>
            <a:stretch>
              <a:fillRect/>
            </a:stretch>
          </a:blipFill>
        </p:spPr>
        <p:txBody>
          <a:bodyPr/>
          <a:lstStyle>
            <a:lvl1pPr>
              <a:defRPr sz="100"/>
            </a:lvl1pPr>
          </a:lstStyle>
          <a:p>
            <a:pPr lvl="0"/>
            <a:r>
              <a:rPr lang="nl-NL" dirty="0"/>
              <a:t> </a:t>
            </a:r>
            <a:endParaRPr lang="en-GB" dirty="0"/>
          </a:p>
        </p:txBody>
      </p:sp>
      <p:sp>
        <p:nvSpPr>
          <p:cNvPr id="9" name="Title 1">
            <a:extLst>
              <a:ext uri="{FF2B5EF4-FFF2-40B4-BE49-F238E27FC236}">
                <a16:creationId xmlns:a16="http://schemas.microsoft.com/office/drawing/2014/main" id="{96F05476-8E12-4590-B0EA-A1818BA80421}"/>
              </a:ext>
            </a:extLst>
          </p:cNvPr>
          <p:cNvSpPr>
            <a:spLocks noGrp="1"/>
          </p:cNvSpPr>
          <p:nvPr>
            <p:ph type="ctrTitle" hasCustomPrompt="1"/>
          </p:nvPr>
        </p:nvSpPr>
        <p:spPr>
          <a:xfrm>
            <a:off x="348599" y="2803525"/>
            <a:ext cx="5687870" cy="1130670"/>
          </a:xfrm>
        </p:spPr>
        <p:txBody>
          <a:bodyPr anchor="t" anchorCtr="0"/>
          <a:lstStyle>
            <a:lvl1pPr algn="l">
              <a:defRPr sz="4500">
                <a:solidFill>
                  <a:schemeClr val="bg1"/>
                </a:solidFill>
              </a:defRPr>
            </a:lvl1pPr>
          </a:lstStyle>
          <a:p>
            <a:r>
              <a:rPr lang="nl-NL" dirty="0"/>
              <a:t>titel</a:t>
            </a:r>
            <a:endParaRPr lang="en-US" dirty="0"/>
          </a:p>
        </p:txBody>
      </p:sp>
      <p:sp>
        <p:nvSpPr>
          <p:cNvPr id="10" name="Subtitle 2">
            <a:extLst>
              <a:ext uri="{FF2B5EF4-FFF2-40B4-BE49-F238E27FC236}">
                <a16:creationId xmlns:a16="http://schemas.microsoft.com/office/drawing/2014/main" id="{AA5AD878-D66B-4959-A182-EEC454B1228D}"/>
              </a:ext>
            </a:extLst>
          </p:cNvPr>
          <p:cNvSpPr>
            <a:spLocks noGrp="1"/>
          </p:cNvSpPr>
          <p:nvPr>
            <p:ph type="subTitle" idx="1" hasCustomPrompt="1"/>
          </p:nvPr>
        </p:nvSpPr>
        <p:spPr>
          <a:xfrm>
            <a:off x="348599" y="3956075"/>
            <a:ext cx="3702859" cy="388621"/>
          </a:xfrm>
        </p:spPr>
        <p:txBody>
          <a:bodyPr anchor="ctr" anchorCtr="0"/>
          <a:lstStyle>
            <a:lvl1pPr marL="0" indent="0" algn="l">
              <a:buNone/>
              <a:defRPr sz="2200" b="1">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datum</a:t>
            </a:r>
            <a:endParaRPr lang="en-US" dirty="0"/>
          </a:p>
        </p:txBody>
      </p:sp>
      <p:sp>
        <p:nvSpPr>
          <p:cNvPr id="8" name="Tijdelijke aanduiding voor tekst 3">
            <a:extLst>
              <a:ext uri="{FF2B5EF4-FFF2-40B4-BE49-F238E27FC236}">
                <a16:creationId xmlns:a16="http://schemas.microsoft.com/office/drawing/2014/main" id="{94F20B57-1ECC-4447-8DB4-AC6822DE59FE}"/>
              </a:ext>
            </a:extLst>
          </p:cNvPr>
          <p:cNvSpPr>
            <a:spLocks noGrp="1"/>
          </p:cNvSpPr>
          <p:nvPr>
            <p:ph type="body" sz="quarter" idx="15" hasCustomPrompt="1"/>
          </p:nvPr>
        </p:nvSpPr>
        <p:spPr>
          <a:xfrm>
            <a:off x="8010522" y="0"/>
            <a:ext cx="1133475" cy="1714441"/>
          </a:xfrm>
          <a:blipFill dpi="0" rotWithShape="1">
            <a:blip r:embed="rId3">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pic>
        <p:nvPicPr>
          <p:cNvPr id="2" name="Afbeelding 1">
            <a:extLst>
              <a:ext uri="{FF2B5EF4-FFF2-40B4-BE49-F238E27FC236}">
                <a16:creationId xmlns:a16="http://schemas.microsoft.com/office/drawing/2014/main" id="{2937406B-A610-5F4A-4827-E4BAAD7753D0}"/>
              </a:ext>
              <a:ext uri="{C183D7F6-B498-43B3-948B-1728B52AA6E4}">
                <adec:decorative xmlns:adec="http://schemas.microsoft.com/office/drawing/2017/decorative" val="1"/>
              </a:ext>
            </a:extLst>
          </p:cNvPr>
          <p:cNvPicPr>
            <a:picLocks noChangeAspect="1"/>
          </p:cNvPicPr>
          <p:nvPr userDrawn="1"/>
        </p:nvPicPr>
        <p:blipFill>
          <a:blip r:embed="rId4"/>
          <a:srcRect/>
          <a:stretch/>
        </p:blipFill>
        <p:spPr>
          <a:xfrm>
            <a:off x="4042802" y="4369280"/>
            <a:ext cx="5098370" cy="967037"/>
          </a:xfrm>
          <a:prstGeom prst="rect">
            <a:avLst/>
          </a:prstGeom>
        </p:spPr>
      </p:pic>
    </p:spTree>
    <p:extLst>
      <p:ext uri="{BB962C8B-B14F-4D97-AF65-F5344CB8AC3E}">
        <p14:creationId xmlns:p14="http://schemas.microsoft.com/office/powerpoint/2010/main" val="198501571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fbeelding link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813" y="540001"/>
            <a:ext cx="3247712" cy="542040"/>
          </a:xfrm>
        </p:spPr>
        <p:txBody>
          <a:bodyPr/>
          <a:lstStyle>
            <a:lvl1pPr>
              <a:defRPr/>
            </a:lvl1pPr>
          </a:lstStyle>
          <a:p>
            <a:r>
              <a:rPr lang="nl-NL" dirty="0"/>
              <a:t>titel</a:t>
            </a:r>
            <a:endParaRPr lang="en-US" dirty="0"/>
          </a:p>
        </p:txBody>
      </p:sp>
      <p:sp>
        <p:nvSpPr>
          <p:cNvPr id="10" name="Tijdelijke aanduiding voor tekst 9">
            <a:extLst>
              <a:ext uri="{FF2B5EF4-FFF2-40B4-BE49-F238E27FC236}">
                <a16:creationId xmlns:a16="http://schemas.microsoft.com/office/drawing/2014/main" id="{B5AF1D9F-FD04-4E01-9FED-24BC514DCBC1}"/>
              </a:ext>
            </a:extLst>
          </p:cNvPr>
          <p:cNvSpPr>
            <a:spLocks noGrp="1"/>
          </p:cNvSpPr>
          <p:nvPr>
            <p:ph type="body" sz="quarter" idx="10"/>
          </p:nvPr>
        </p:nvSpPr>
        <p:spPr>
          <a:xfrm>
            <a:off x="4762500" y="1706880"/>
            <a:ext cx="3752850" cy="280774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2" name="Tijdelijke aanduiding voor tekst 11">
            <a:extLst>
              <a:ext uri="{FF2B5EF4-FFF2-40B4-BE49-F238E27FC236}">
                <a16:creationId xmlns:a16="http://schemas.microsoft.com/office/drawing/2014/main" id="{BCE65F86-A00C-46D7-8252-815107C0BB1C}"/>
              </a:ext>
            </a:extLst>
          </p:cNvPr>
          <p:cNvSpPr>
            <a:spLocks noGrp="1"/>
          </p:cNvSpPr>
          <p:nvPr>
            <p:ph type="body" sz="quarter" idx="11" hasCustomPrompt="1"/>
          </p:nvPr>
        </p:nvSpPr>
        <p:spPr>
          <a:xfrm>
            <a:off x="4762500" y="1257300"/>
            <a:ext cx="3247983" cy="364742"/>
          </a:xfrm>
        </p:spPr>
        <p:txBody>
          <a:bodyPr/>
          <a:lstStyle>
            <a:lvl1pPr>
              <a:defRPr sz="1800" b="1">
                <a:solidFill>
                  <a:schemeClr val="accent1"/>
                </a:solidFill>
              </a:defRPr>
            </a:lvl1pPr>
          </a:lstStyle>
          <a:p>
            <a:pPr lvl="0"/>
            <a:r>
              <a:rPr lang="nl-NL" noProof="0"/>
              <a:t>subkop</a:t>
            </a:r>
          </a:p>
        </p:txBody>
      </p:sp>
      <p:sp>
        <p:nvSpPr>
          <p:cNvPr id="14" name="Tijdelijke aanduiding voor afbeelding 13">
            <a:extLst>
              <a:ext uri="{FF2B5EF4-FFF2-40B4-BE49-F238E27FC236}">
                <a16:creationId xmlns:a16="http://schemas.microsoft.com/office/drawing/2014/main" id="{CAE106B4-F641-46A6-8FEF-018083E7CA41}"/>
              </a:ext>
            </a:extLst>
          </p:cNvPr>
          <p:cNvSpPr>
            <a:spLocks noGrp="1"/>
          </p:cNvSpPr>
          <p:nvPr>
            <p:ph type="pic" sz="quarter" idx="12"/>
          </p:nvPr>
        </p:nvSpPr>
        <p:spPr>
          <a:xfrm>
            <a:off x="1" y="0"/>
            <a:ext cx="4338638" cy="5143500"/>
          </a:xfrm>
          <a:solidFill>
            <a:schemeClr val="bg1">
              <a:lumMod val="95000"/>
            </a:schemeClr>
          </a:solidFill>
        </p:spPr>
        <p:txBody>
          <a:bodyPr/>
          <a:lstStyle/>
          <a:p>
            <a:r>
              <a:rPr lang="nl-NL"/>
              <a:t>Klik op het pictogram als u een afbeelding wilt toevoegen</a:t>
            </a:r>
          </a:p>
        </p:txBody>
      </p:sp>
      <p:sp>
        <p:nvSpPr>
          <p:cNvPr id="6" name="Tijdelijke aanduiding voor tekst 3">
            <a:extLst>
              <a:ext uri="{FF2B5EF4-FFF2-40B4-BE49-F238E27FC236}">
                <a16:creationId xmlns:a16="http://schemas.microsoft.com/office/drawing/2014/main" id="{B40F5178-D9BA-43C0-B445-41F621ECD999}"/>
              </a:ext>
            </a:extLst>
          </p:cNvPr>
          <p:cNvSpPr>
            <a:spLocks noGrp="1"/>
          </p:cNvSpPr>
          <p:nvPr>
            <p:ph type="body" sz="quarter" idx="16" hasCustomPrompt="1"/>
          </p:nvPr>
        </p:nvSpPr>
        <p:spPr>
          <a:xfrm>
            <a:off x="0" y="4164713"/>
            <a:ext cx="9144000" cy="37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pic>
        <p:nvPicPr>
          <p:cNvPr id="8" name="Afbeelding 7">
            <a:extLst>
              <a:ext uri="{FF2B5EF4-FFF2-40B4-BE49-F238E27FC236}">
                <a16:creationId xmlns:a16="http://schemas.microsoft.com/office/drawing/2014/main" id="{E25A6915-12D7-4001-94E4-2752A407184F}"/>
              </a:ext>
            </a:extLst>
          </p:cNvPr>
          <p:cNvPicPr>
            <a:picLocks noChangeAspect="1"/>
          </p:cNvPicPr>
          <p:nvPr userDrawn="1"/>
        </p:nvPicPr>
        <p:blipFill>
          <a:blip r:embed="rId3"/>
          <a:stretch>
            <a:fillRect/>
          </a:stretch>
        </p:blipFill>
        <p:spPr>
          <a:xfrm>
            <a:off x="8010524" y="1"/>
            <a:ext cx="1133475" cy="1714440"/>
          </a:xfrm>
          <a:prstGeom prst="rect">
            <a:avLst/>
          </a:prstGeom>
        </p:spPr>
      </p:pic>
      <p:pic>
        <p:nvPicPr>
          <p:cNvPr id="3" name="Powered by">
            <a:extLst>
              <a:ext uri="{FF2B5EF4-FFF2-40B4-BE49-F238E27FC236}">
                <a16:creationId xmlns:a16="http://schemas.microsoft.com/office/drawing/2014/main" id="{BC8B875F-C3C5-28B3-9823-77C508F03D74}"/>
              </a:ext>
              <a:ext uri="{C183D7F6-B498-43B3-948B-1728B52AA6E4}">
                <adec:decorative xmlns:adec="http://schemas.microsoft.com/office/drawing/2017/decorative" val="1"/>
              </a:ext>
            </a:extLst>
          </p:cNvPr>
          <p:cNvPicPr>
            <a:picLocks noChangeAspect="1"/>
          </p:cNvPicPr>
          <p:nvPr userDrawn="1"/>
        </p:nvPicPr>
        <p:blipFill>
          <a:blip r:embed="rId4"/>
          <a:srcRect/>
          <a:stretch/>
        </p:blipFill>
        <p:spPr>
          <a:xfrm>
            <a:off x="4043154" y="4366800"/>
            <a:ext cx="5097667" cy="972000"/>
          </a:xfrm>
          <a:prstGeom prst="rect">
            <a:avLst/>
          </a:prstGeom>
        </p:spPr>
      </p:pic>
    </p:spTree>
    <p:extLst>
      <p:ext uri="{BB962C8B-B14F-4D97-AF65-F5344CB8AC3E}">
        <p14:creationId xmlns:p14="http://schemas.microsoft.com/office/powerpoint/2010/main" val="323991743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beelding rech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8569" y="540001"/>
            <a:ext cx="3752850" cy="717299"/>
          </a:xfrm>
        </p:spPr>
        <p:txBody>
          <a:bodyPr/>
          <a:lstStyle>
            <a:lvl1pPr>
              <a:defRPr/>
            </a:lvl1pPr>
          </a:lstStyle>
          <a:p>
            <a:r>
              <a:rPr lang="nl-NL" dirty="0"/>
              <a:t>titel</a:t>
            </a:r>
            <a:endParaRPr lang="en-US" dirty="0"/>
          </a:p>
        </p:txBody>
      </p:sp>
      <p:sp>
        <p:nvSpPr>
          <p:cNvPr id="10" name="Tijdelijke aanduiding voor tekst 9">
            <a:extLst>
              <a:ext uri="{FF2B5EF4-FFF2-40B4-BE49-F238E27FC236}">
                <a16:creationId xmlns:a16="http://schemas.microsoft.com/office/drawing/2014/main" id="{B5AF1D9F-FD04-4E01-9FED-24BC514DCBC1}"/>
              </a:ext>
            </a:extLst>
          </p:cNvPr>
          <p:cNvSpPr>
            <a:spLocks noGrp="1"/>
          </p:cNvSpPr>
          <p:nvPr>
            <p:ph type="body" sz="quarter" idx="10"/>
          </p:nvPr>
        </p:nvSpPr>
        <p:spPr>
          <a:xfrm>
            <a:off x="378569" y="1800000"/>
            <a:ext cx="3752850" cy="280345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4" name="Tijdelijke aanduiding voor afbeelding 13">
            <a:extLst>
              <a:ext uri="{FF2B5EF4-FFF2-40B4-BE49-F238E27FC236}">
                <a16:creationId xmlns:a16="http://schemas.microsoft.com/office/drawing/2014/main" id="{CAE106B4-F641-46A6-8FEF-018083E7CA41}"/>
              </a:ext>
            </a:extLst>
          </p:cNvPr>
          <p:cNvSpPr>
            <a:spLocks noGrp="1"/>
          </p:cNvSpPr>
          <p:nvPr>
            <p:ph type="pic" sz="quarter" idx="12"/>
          </p:nvPr>
        </p:nvSpPr>
        <p:spPr>
          <a:xfrm>
            <a:off x="4806950" y="0"/>
            <a:ext cx="4337050" cy="5143500"/>
          </a:xfrm>
          <a:solidFill>
            <a:schemeClr val="bg1">
              <a:lumMod val="95000"/>
            </a:schemeClr>
          </a:solidFill>
        </p:spPr>
        <p:txBody>
          <a:bodyPr/>
          <a:lstStyle/>
          <a:p>
            <a:r>
              <a:rPr lang="nl-NL"/>
              <a:t>Klik op het pictogram als u een afbeelding wilt toevoegen</a:t>
            </a:r>
          </a:p>
        </p:txBody>
      </p:sp>
      <p:sp>
        <p:nvSpPr>
          <p:cNvPr id="8" name="Tijdelijke aanduiding voor tekst 11">
            <a:extLst>
              <a:ext uri="{FF2B5EF4-FFF2-40B4-BE49-F238E27FC236}">
                <a16:creationId xmlns:a16="http://schemas.microsoft.com/office/drawing/2014/main" id="{64B28545-DAD0-4384-97C6-20DC455A4F7F}"/>
              </a:ext>
            </a:extLst>
          </p:cNvPr>
          <p:cNvSpPr>
            <a:spLocks noGrp="1"/>
          </p:cNvSpPr>
          <p:nvPr>
            <p:ph type="body" sz="quarter" idx="14" hasCustomPrompt="1"/>
          </p:nvPr>
        </p:nvSpPr>
        <p:spPr>
          <a:xfrm>
            <a:off x="378569" y="1257300"/>
            <a:ext cx="3752850" cy="364742"/>
          </a:xfrm>
        </p:spPr>
        <p:txBody>
          <a:bodyPr/>
          <a:lstStyle>
            <a:lvl1pPr>
              <a:defRPr sz="1800" b="1">
                <a:solidFill>
                  <a:schemeClr val="accent1"/>
                </a:solidFill>
              </a:defRPr>
            </a:lvl1pPr>
          </a:lstStyle>
          <a:p>
            <a:pPr lvl="0"/>
            <a:r>
              <a:rPr lang="nl-NL" noProof="0" dirty="0" err="1"/>
              <a:t>subkop</a:t>
            </a:r>
            <a:endParaRPr lang="nl-NL" noProof="0" dirty="0"/>
          </a:p>
        </p:txBody>
      </p:sp>
      <p:sp>
        <p:nvSpPr>
          <p:cNvPr id="4" name="Tijdelijke aanduiding voor tekst 3">
            <a:extLst>
              <a:ext uri="{FF2B5EF4-FFF2-40B4-BE49-F238E27FC236}">
                <a16:creationId xmlns:a16="http://schemas.microsoft.com/office/drawing/2014/main" id="{780E7D2A-2609-4E5D-8988-0AE74ED741F8}"/>
              </a:ext>
            </a:extLst>
          </p:cNvPr>
          <p:cNvSpPr>
            <a:spLocks noGrp="1"/>
          </p:cNvSpPr>
          <p:nvPr>
            <p:ph type="body" sz="quarter" idx="15" hasCustomPrompt="1"/>
          </p:nvPr>
        </p:nvSpPr>
        <p:spPr>
          <a:xfrm>
            <a:off x="8010522" y="0"/>
            <a:ext cx="1133475" cy="1714441"/>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sp>
        <p:nvSpPr>
          <p:cNvPr id="11" name="Tijdelijke aanduiding voor tekst 3">
            <a:extLst>
              <a:ext uri="{FF2B5EF4-FFF2-40B4-BE49-F238E27FC236}">
                <a16:creationId xmlns:a16="http://schemas.microsoft.com/office/drawing/2014/main" id="{64B33E80-F002-43AA-8A91-2EDBFB9F4EE6}"/>
              </a:ext>
            </a:extLst>
          </p:cNvPr>
          <p:cNvSpPr>
            <a:spLocks noGrp="1"/>
          </p:cNvSpPr>
          <p:nvPr>
            <p:ph type="body" sz="quarter" idx="16" hasCustomPrompt="1"/>
          </p:nvPr>
        </p:nvSpPr>
        <p:spPr>
          <a:xfrm>
            <a:off x="0" y="4164713"/>
            <a:ext cx="9144000" cy="378000"/>
          </a:xfrm>
          <a:blipFill dpi="0" rotWithShape="1">
            <a:blip r:embed="rId3">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sp>
        <p:nvSpPr>
          <p:cNvPr id="3" name="Tijdelijke aanduiding voor tekst 3">
            <a:extLst>
              <a:ext uri="{FF2B5EF4-FFF2-40B4-BE49-F238E27FC236}">
                <a16:creationId xmlns:a16="http://schemas.microsoft.com/office/drawing/2014/main" id="{6AB2179D-D5C6-7B9F-ED06-E31E76A4CC2A}"/>
              </a:ext>
            </a:extLst>
          </p:cNvPr>
          <p:cNvSpPr>
            <a:spLocks noGrp="1"/>
          </p:cNvSpPr>
          <p:nvPr>
            <p:ph type="body" sz="quarter" idx="17" hasCustomPrompt="1"/>
          </p:nvPr>
        </p:nvSpPr>
        <p:spPr>
          <a:xfrm>
            <a:off x="4042800" y="4366800"/>
            <a:ext cx="5097600" cy="972000"/>
          </a:xfrm>
          <a:blipFill dpi="0" rotWithShape="1">
            <a:blip r:embed="rId4">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spTree>
    <p:extLst>
      <p:ext uri="{BB962C8B-B14F-4D97-AF65-F5344CB8AC3E}">
        <p14:creationId xmlns:p14="http://schemas.microsoft.com/office/powerpoint/2010/main" val="358414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fbeelding linkson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8569" y="540001"/>
            <a:ext cx="3752850" cy="717300"/>
          </a:xfrm>
        </p:spPr>
        <p:txBody>
          <a:bodyPr/>
          <a:lstStyle>
            <a:lvl1pPr>
              <a:defRPr/>
            </a:lvl1pPr>
          </a:lstStyle>
          <a:p>
            <a:r>
              <a:rPr lang="nl-NL" dirty="0"/>
              <a:t>titel</a:t>
            </a:r>
            <a:endParaRPr lang="en-US" dirty="0"/>
          </a:p>
        </p:txBody>
      </p:sp>
      <p:sp>
        <p:nvSpPr>
          <p:cNvPr id="10" name="Tijdelijke aanduiding voor tekst 9">
            <a:extLst>
              <a:ext uri="{FF2B5EF4-FFF2-40B4-BE49-F238E27FC236}">
                <a16:creationId xmlns:a16="http://schemas.microsoft.com/office/drawing/2014/main" id="{B5AF1D9F-FD04-4E01-9FED-24BC514DCBC1}"/>
              </a:ext>
            </a:extLst>
          </p:cNvPr>
          <p:cNvSpPr>
            <a:spLocks noGrp="1"/>
          </p:cNvSpPr>
          <p:nvPr>
            <p:ph type="body" sz="quarter" idx="10"/>
          </p:nvPr>
        </p:nvSpPr>
        <p:spPr>
          <a:xfrm>
            <a:off x="4853656" y="607470"/>
            <a:ext cx="3362499" cy="370545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4" name="Tijdelijke aanduiding voor afbeelding 13">
            <a:extLst>
              <a:ext uri="{FF2B5EF4-FFF2-40B4-BE49-F238E27FC236}">
                <a16:creationId xmlns:a16="http://schemas.microsoft.com/office/drawing/2014/main" id="{CAE106B4-F641-46A6-8FEF-018083E7CA41}"/>
              </a:ext>
            </a:extLst>
          </p:cNvPr>
          <p:cNvSpPr>
            <a:spLocks noGrp="1"/>
          </p:cNvSpPr>
          <p:nvPr>
            <p:ph type="pic" sz="quarter" idx="12"/>
          </p:nvPr>
        </p:nvSpPr>
        <p:spPr>
          <a:xfrm>
            <a:off x="0" y="2194560"/>
            <a:ext cx="4337050" cy="2948940"/>
          </a:xfrm>
          <a:solidFill>
            <a:schemeClr val="bg1">
              <a:lumMod val="95000"/>
            </a:schemeClr>
          </a:solidFill>
        </p:spPr>
        <p:txBody>
          <a:bodyPr/>
          <a:lstStyle/>
          <a:p>
            <a:r>
              <a:rPr lang="nl-NL"/>
              <a:t>Klik op het pictogram als u een afbeelding wilt toevoegen</a:t>
            </a:r>
          </a:p>
        </p:txBody>
      </p:sp>
      <p:sp>
        <p:nvSpPr>
          <p:cNvPr id="8" name="Tijdelijke aanduiding voor tekst 11">
            <a:extLst>
              <a:ext uri="{FF2B5EF4-FFF2-40B4-BE49-F238E27FC236}">
                <a16:creationId xmlns:a16="http://schemas.microsoft.com/office/drawing/2014/main" id="{0BA80A4A-ABB4-4FEB-9686-43B4C2872D58}"/>
              </a:ext>
            </a:extLst>
          </p:cNvPr>
          <p:cNvSpPr>
            <a:spLocks noGrp="1"/>
          </p:cNvSpPr>
          <p:nvPr>
            <p:ph type="body" sz="quarter" idx="11" hasCustomPrompt="1"/>
          </p:nvPr>
        </p:nvSpPr>
        <p:spPr>
          <a:xfrm>
            <a:off x="378569" y="1257300"/>
            <a:ext cx="3752850" cy="364742"/>
          </a:xfrm>
        </p:spPr>
        <p:txBody>
          <a:bodyPr/>
          <a:lstStyle>
            <a:lvl1pPr>
              <a:defRPr sz="1800" b="1">
                <a:solidFill>
                  <a:schemeClr val="accent1"/>
                </a:solidFill>
              </a:defRPr>
            </a:lvl1pPr>
          </a:lstStyle>
          <a:p>
            <a:pPr lvl="0"/>
            <a:r>
              <a:rPr lang="nl-NL" noProof="0"/>
              <a:t>subkop</a:t>
            </a:r>
          </a:p>
        </p:txBody>
      </p:sp>
      <p:sp>
        <p:nvSpPr>
          <p:cNvPr id="9" name="Tijdelijke aanduiding voor tekst 3">
            <a:extLst>
              <a:ext uri="{FF2B5EF4-FFF2-40B4-BE49-F238E27FC236}">
                <a16:creationId xmlns:a16="http://schemas.microsoft.com/office/drawing/2014/main" id="{01726497-64AC-4ECF-A47C-3AC916CF6C60}"/>
              </a:ext>
            </a:extLst>
          </p:cNvPr>
          <p:cNvSpPr>
            <a:spLocks noGrp="1"/>
          </p:cNvSpPr>
          <p:nvPr>
            <p:ph type="body" sz="quarter" idx="16" hasCustomPrompt="1"/>
          </p:nvPr>
        </p:nvSpPr>
        <p:spPr>
          <a:xfrm>
            <a:off x="0" y="4164713"/>
            <a:ext cx="9144000" cy="37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pic>
        <p:nvPicPr>
          <p:cNvPr id="11" name="Afbeelding 10">
            <a:extLst>
              <a:ext uri="{FF2B5EF4-FFF2-40B4-BE49-F238E27FC236}">
                <a16:creationId xmlns:a16="http://schemas.microsoft.com/office/drawing/2014/main" id="{1916E316-6A37-44CB-96CE-B4D97FD89714}"/>
              </a:ext>
            </a:extLst>
          </p:cNvPr>
          <p:cNvPicPr>
            <a:picLocks noChangeAspect="1"/>
          </p:cNvPicPr>
          <p:nvPr userDrawn="1"/>
        </p:nvPicPr>
        <p:blipFill>
          <a:blip r:embed="rId3"/>
          <a:stretch>
            <a:fillRect/>
          </a:stretch>
        </p:blipFill>
        <p:spPr>
          <a:xfrm>
            <a:off x="8010524" y="1"/>
            <a:ext cx="1133475" cy="1714440"/>
          </a:xfrm>
          <a:prstGeom prst="rect">
            <a:avLst/>
          </a:prstGeom>
        </p:spPr>
      </p:pic>
      <p:pic>
        <p:nvPicPr>
          <p:cNvPr id="3" name="Powered by">
            <a:extLst>
              <a:ext uri="{FF2B5EF4-FFF2-40B4-BE49-F238E27FC236}">
                <a16:creationId xmlns:a16="http://schemas.microsoft.com/office/drawing/2014/main" id="{70AA376E-EA30-6204-12E7-8F659C27A6F8}"/>
              </a:ext>
              <a:ext uri="{C183D7F6-B498-43B3-948B-1728B52AA6E4}">
                <adec:decorative xmlns:adec="http://schemas.microsoft.com/office/drawing/2017/decorative" val="1"/>
              </a:ext>
            </a:extLst>
          </p:cNvPr>
          <p:cNvPicPr>
            <a:picLocks noChangeAspect="1"/>
          </p:cNvPicPr>
          <p:nvPr userDrawn="1"/>
        </p:nvPicPr>
        <p:blipFill>
          <a:blip r:embed="rId4"/>
          <a:srcRect/>
          <a:stretch/>
        </p:blipFill>
        <p:spPr>
          <a:xfrm>
            <a:off x="4043154" y="4366800"/>
            <a:ext cx="5097667" cy="972000"/>
          </a:xfrm>
          <a:prstGeom prst="rect">
            <a:avLst/>
          </a:prstGeom>
        </p:spPr>
      </p:pic>
    </p:spTree>
    <p:extLst>
      <p:ext uri="{BB962C8B-B14F-4D97-AF65-F5344CB8AC3E}">
        <p14:creationId xmlns:p14="http://schemas.microsoft.com/office/powerpoint/2010/main" val="3605700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fbeelding boven">
    <p:spTree>
      <p:nvGrpSpPr>
        <p:cNvPr id="1" name=""/>
        <p:cNvGrpSpPr/>
        <p:nvPr/>
      </p:nvGrpSpPr>
      <p:grpSpPr>
        <a:xfrm>
          <a:off x="0" y="0"/>
          <a:ext cx="0" cy="0"/>
          <a:chOff x="0" y="0"/>
          <a:chExt cx="0" cy="0"/>
        </a:xfrm>
      </p:grpSpPr>
      <p:sp>
        <p:nvSpPr>
          <p:cNvPr id="14" name="Tijdelijke aanduiding voor afbeelding 13">
            <a:extLst>
              <a:ext uri="{FF2B5EF4-FFF2-40B4-BE49-F238E27FC236}">
                <a16:creationId xmlns:a16="http://schemas.microsoft.com/office/drawing/2014/main" id="{CAE106B4-F641-46A6-8FEF-018083E7CA41}"/>
              </a:ext>
            </a:extLst>
          </p:cNvPr>
          <p:cNvSpPr>
            <a:spLocks noGrp="1"/>
          </p:cNvSpPr>
          <p:nvPr>
            <p:ph type="pic" sz="quarter" idx="12"/>
          </p:nvPr>
        </p:nvSpPr>
        <p:spPr>
          <a:xfrm>
            <a:off x="0" y="0"/>
            <a:ext cx="9144000" cy="2352675"/>
          </a:xfrm>
          <a:solidFill>
            <a:schemeClr val="bg1">
              <a:lumMod val="95000"/>
            </a:schemeClr>
          </a:solidFill>
        </p:spPr>
        <p:txBody>
          <a:bodyPr/>
          <a:lstStyle/>
          <a:p>
            <a:r>
              <a:rPr lang="nl-NL"/>
              <a:t>Klik op het pictogram als u een afbeelding wilt toevoegen</a:t>
            </a:r>
          </a:p>
        </p:txBody>
      </p:sp>
      <p:sp>
        <p:nvSpPr>
          <p:cNvPr id="2" name="Title 1"/>
          <p:cNvSpPr>
            <a:spLocks noGrp="1"/>
          </p:cNvSpPr>
          <p:nvPr>
            <p:ph type="title" hasCustomPrompt="1"/>
          </p:nvPr>
        </p:nvSpPr>
        <p:spPr>
          <a:xfrm>
            <a:off x="381313" y="2572391"/>
            <a:ext cx="3752537" cy="867721"/>
          </a:xfrm>
        </p:spPr>
        <p:txBody>
          <a:bodyPr/>
          <a:lstStyle>
            <a:lvl1pPr>
              <a:defRPr/>
            </a:lvl1pPr>
          </a:lstStyle>
          <a:p>
            <a:r>
              <a:rPr lang="nl-NL" dirty="0"/>
              <a:t>titel</a:t>
            </a:r>
            <a:endParaRPr lang="en-US" dirty="0"/>
          </a:p>
        </p:txBody>
      </p:sp>
      <p:sp>
        <p:nvSpPr>
          <p:cNvPr id="10" name="Tijdelijke aanduiding voor tekst 9">
            <a:extLst>
              <a:ext uri="{FF2B5EF4-FFF2-40B4-BE49-F238E27FC236}">
                <a16:creationId xmlns:a16="http://schemas.microsoft.com/office/drawing/2014/main" id="{B5AF1D9F-FD04-4E01-9FED-24BC514DCBC1}"/>
              </a:ext>
            </a:extLst>
          </p:cNvPr>
          <p:cNvSpPr>
            <a:spLocks noGrp="1"/>
          </p:cNvSpPr>
          <p:nvPr>
            <p:ph type="body" sz="quarter" idx="10"/>
          </p:nvPr>
        </p:nvSpPr>
        <p:spPr>
          <a:xfrm>
            <a:off x="4762500" y="2628900"/>
            <a:ext cx="3752850" cy="184785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pic>
        <p:nvPicPr>
          <p:cNvPr id="5" name="Afbeelding 4">
            <a:extLst>
              <a:ext uri="{FF2B5EF4-FFF2-40B4-BE49-F238E27FC236}">
                <a16:creationId xmlns:a16="http://schemas.microsoft.com/office/drawing/2014/main" id="{BF47050D-5D0A-4101-8DEC-BFAB4CBCADEC}"/>
              </a:ext>
            </a:extLst>
          </p:cNvPr>
          <p:cNvPicPr>
            <a:picLocks noChangeAspect="1"/>
          </p:cNvPicPr>
          <p:nvPr userDrawn="1"/>
        </p:nvPicPr>
        <p:blipFill>
          <a:blip r:embed="rId2"/>
          <a:stretch>
            <a:fillRect/>
          </a:stretch>
        </p:blipFill>
        <p:spPr>
          <a:xfrm>
            <a:off x="0" y="4162332"/>
            <a:ext cx="9144000" cy="383381"/>
          </a:xfrm>
          <a:prstGeom prst="rect">
            <a:avLst/>
          </a:prstGeom>
        </p:spPr>
      </p:pic>
      <p:sp>
        <p:nvSpPr>
          <p:cNvPr id="7" name="Tijdelijke aanduiding voor tekst 3">
            <a:extLst>
              <a:ext uri="{FF2B5EF4-FFF2-40B4-BE49-F238E27FC236}">
                <a16:creationId xmlns:a16="http://schemas.microsoft.com/office/drawing/2014/main" id="{DD01DDE3-BC81-419A-AC31-E901A5E7436D}"/>
              </a:ext>
            </a:extLst>
          </p:cNvPr>
          <p:cNvSpPr>
            <a:spLocks noGrp="1"/>
          </p:cNvSpPr>
          <p:nvPr>
            <p:ph type="body" sz="quarter" idx="15" hasCustomPrompt="1"/>
          </p:nvPr>
        </p:nvSpPr>
        <p:spPr>
          <a:xfrm>
            <a:off x="8010522" y="0"/>
            <a:ext cx="1133475" cy="1714441"/>
          </a:xfrm>
          <a:blipFill dpi="0" rotWithShape="1">
            <a:blip r:embed="rId3">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pic>
        <p:nvPicPr>
          <p:cNvPr id="3" name="Powered by">
            <a:extLst>
              <a:ext uri="{FF2B5EF4-FFF2-40B4-BE49-F238E27FC236}">
                <a16:creationId xmlns:a16="http://schemas.microsoft.com/office/drawing/2014/main" id="{19E440E4-EF4D-0297-CF7B-DBB776547F80}"/>
              </a:ext>
              <a:ext uri="{C183D7F6-B498-43B3-948B-1728B52AA6E4}">
                <adec:decorative xmlns:adec="http://schemas.microsoft.com/office/drawing/2017/decorative" val="1"/>
              </a:ext>
            </a:extLst>
          </p:cNvPr>
          <p:cNvPicPr>
            <a:picLocks noChangeAspect="1"/>
          </p:cNvPicPr>
          <p:nvPr userDrawn="1"/>
        </p:nvPicPr>
        <p:blipFill>
          <a:blip r:embed="rId4"/>
          <a:srcRect/>
          <a:stretch/>
        </p:blipFill>
        <p:spPr>
          <a:xfrm>
            <a:off x="4043154" y="4366800"/>
            <a:ext cx="5097667" cy="972000"/>
          </a:xfrm>
          <a:prstGeom prst="rect">
            <a:avLst/>
          </a:prstGeom>
        </p:spPr>
      </p:pic>
    </p:spTree>
    <p:extLst>
      <p:ext uri="{BB962C8B-B14F-4D97-AF65-F5344CB8AC3E}">
        <p14:creationId xmlns:p14="http://schemas.microsoft.com/office/powerpoint/2010/main" val="2009228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beelding">
    <p:spTree>
      <p:nvGrpSpPr>
        <p:cNvPr id="1" name=""/>
        <p:cNvGrpSpPr/>
        <p:nvPr/>
      </p:nvGrpSpPr>
      <p:grpSpPr>
        <a:xfrm>
          <a:off x="0" y="0"/>
          <a:ext cx="0" cy="0"/>
          <a:chOff x="0" y="0"/>
          <a:chExt cx="0" cy="0"/>
        </a:xfrm>
      </p:grpSpPr>
      <p:sp>
        <p:nvSpPr>
          <p:cNvPr id="14" name="Tijdelijke aanduiding voor afbeelding 13">
            <a:extLst>
              <a:ext uri="{FF2B5EF4-FFF2-40B4-BE49-F238E27FC236}">
                <a16:creationId xmlns:a16="http://schemas.microsoft.com/office/drawing/2014/main" id="{CAE106B4-F641-46A6-8FEF-018083E7CA41}"/>
              </a:ext>
            </a:extLst>
          </p:cNvPr>
          <p:cNvSpPr>
            <a:spLocks noGrp="1"/>
          </p:cNvSpPr>
          <p:nvPr>
            <p:ph type="pic" sz="quarter" idx="12"/>
          </p:nvPr>
        </p:nvSpPr>
        <p:spPr>
          <a:xfrm>
            <a:off x="0" y="0"/>
            <a:ext cx="9144000" cy="5143500"/>
          </a:xfrm>
          <a:solidFill>
            <a:schemeClr val="bg1">
              <a:lumMod val="95000"/>
            </a:schemeClr>
          </a:solidFill>
        </p:spPr>
        <p:txBody>
          <a:bodyPr/>
          <a:lstStyle/>
          <a:p>
            <a:r>
              <a:rPr lang="nl-NL"/>
              <a:t>Klik op het pictogram als u een afbeelding wilt toevoegen</a:t>
            </a:r>
            <a:endParaRPr lang="nl-NL" dirty="0"/>
          </a:p>
        </p:txBody>
      </p:sp>
      <p:sp>
        <p:nvSpPr>
          <p:cNvPr id="4" name="Tijdelijke aanduiding voor tekst 3">
            <a:extLst>
              <a:ext uri="{FF2B5EF4-FFF2-40B4-BE49-F238E27FC236}">
                <a16:creationId xmlns:a16="http://schemas.microsoft.com/office/drawing/2014/main" id="{B3070A6B-8B4C-47E4-952D-78F41CA66794}"/>
              </a:ext>
            </a:extLst>
          </p:cNvPr>
          <p:cNvSpPr>
            <a:spLocks noGrp="1"/>
          </p:cNvSpPr>
          <p:nvPr>
            <p:ph type="body" sz="quarter" idx="16" hasCustomPrompt="1"/>
          </p:nvPr>
        </p:nvSpPr>
        <p:spPr>
          <a:xfrm>
            <a:off x="0" y="4164713"/>
            <a:ext cx="9144000" cy="37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sp>
        <p:nvSpPr>
          <p:cNvPr id="5" name="Tijdelijke aanduiding voor tekst 3">
            <a:extLst>
              <a:ext uri="{FF2B5EF4-FFF2-40B4-BE49-F238E27FC236}">
                <a16:creationId xmlns:a16="http://schemas.microsoft.com/office/drawing/2014/main" id="{58CD8728-C04B-4CA5-A9EE-0459713DEC0F}"/>
              </a:ext>
            </a:extLst>
          </p:cNvPr>
          <p:cNvSpPr>
            <a:spLocks noGrp="1"/>
          </p:cNvSpPr>
          <p:nvPr>
            <p:ph type="body" sz="quarter" idx="15" hasCustomPrompt="1"/>
          </p:nvPr>
        </p:nvSpPr>
        <p:spPr>
          <a:xfrm>
            <a:off x="8010522" y="0"/>
            <a:ext cx="1133475" cy="1714441"/>
          </a:xfrm>
          <a:blipFill dpi="0" rotWithShape="1">
            <a:blip r:embed="rId3">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sp>
        <p:nvSpPr>
          <p:cNvPr id="2" name="Tijdelijke aanduiding voor tekst 3">
            <a:extLst>
              <a:ext uri="{FF2B5EF4-FFF2-40B4-BE49-F238E27FC236}">
                <a16:creationId xmlns:a16="http://schemas.microsoft.com/office/drawing/2014/main" id="{873341DD-249A-3C13-DD78-36D2C39B19D2}"/>
              </a:ext>
            </a:extLst>
          </p:cNvPr>
          <p:cNvSpPr>
            <a:spLocks noGrp="1"/>
          </p:cNvSpPr>
          <p:nvPr>
            <p:ph type="body" sz="quarter" idx="17" hasCustomPrompt="1"/>
          </p:nvPr>
        </p:nvSpPr>
        <p:spPr>
          <a:xfrm>
            <a:off x="4042800" y="4366800"/>
            <a:ext cx="5097600" cy="972000"/>
          </a:xfrm>
          <a:blipFill dpi="0" rotWithShape="1">
            <a:blip r:embed="rId4">
              <a:extLst>
                <a:ext uri="{28A0092B-C50C-407E-A947-70E740481C1C}">
                  <a14:useLocalDpi xmlns:a14="http://schemas.microsoft.com/office/drawing/2010/main" val="0"/>
                </a:ext>
              </a:extLst>
            </a:blip>
            <a:srcRect/>
            <a:stretch>
              <a:fillRect/>
            </a:stretch>
          </a:blipFill>
        </p:spPr>
        <p:txBody>
          <a:bodyPr/>
          <a:lstStyle>
            <a:lvl1pPr>
              <a:defRPr sz="100"/>
            </a:lvl1pPr>
          </a:lstStyle>
          <a:p>
            <a:pPr lvl="0"/>
            <a:r>
              <a:rPr lang="nl-NL" dirty="0"/>
              <a:t>.</a:t>
            </a:r>
            <a:endParaRPr lang="en-GB" dirty="0"/>
          </a:p>
        </p:txBody>
      </p:sp>
    </p:spTree>
    <p:extLst>
      <p:ext uri="{BB962C8B-B14F-4D97-AF65-F5344CB8AC3E}">
        <p14:creationId xmlns:p14="http://schemas.microsoft.com/office/powerpoint/2010/main" val="312411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678" y="501497"/>
            <a:ext cx="7416000" cy="498227"/>
          </a:xfrm>
        </p:spPr>
        <p:txBody>
          <a:bodyPr/>
          <a:lstStyle>
            <a:lvl1pPr>
              <a:defRPr/>
            </a:lvl1pPr>
          </a:lstStyle>
          <a:p>
            <a:r>
              <a:rPr lang="nl-NL" dirty="0"/>
              <a:t>titel</a:t>
            </a:r>
            <a:endParaRPr lang="en-US" dirty="0"/>
          </a:p>
        </p:txBody>
      </p:sp>
      <p:sp>
        <p:nvSpPr>
          <p:cNvPr id="10" name="Tijdelijke aanduiding voor tekst 9">
            <a:extLst>
              <a:ext uri="{FF2B5EF4-FFF2-40B4-BE49-F238E27FC236}">
                <a16:creationId xmlns:a16="http://schemas.microsoft.com/office/drawing/2014/main" id="{B5AF1D9F-FD04-4E01-9FED-24BC514DCBC1}"/>
              </a:ext>
            </a:extLst>
          </p:cNvPr>
          <p:cNvSpPr>
            <a:spLocks noGrp="1"/>
          </p:cNvSpPr>
          <p:nvPr>
            <p:ph type="body" sz="quarter" idx="10"/>
          </p:nvPr>
        </p:nvSpPr>
        <p:spPr>
          <a:xfrm>
            <a:off x="381000" y="1706880"/>
            <a:ext cx="8134350" cy="274447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7" name="Tijdelijke aanduiding voor tekst 11">
            <a:extLst>
              <a:ext uri="{FF2B5EF4-FFF2-40B4-BE49-F238E27FC236}">
                <a16:creationId xmlns:a16="http://schemas.microsoft.com/office/drawing/2014/main" id="{75AC9B4B-DDAE-4A1C-97B0-2ED226DAF5BE}"/>
              </a:ext>
            </a:extLst>
          </p:cNvPr>
          <p:cNvSpPr>
            <a:spLocks noGrp="1"/>
          </p:cNvSpPr>
          <p:nvPr>
            <p:ph type="body" sz="quarter" idx="13" hasCustomPrompt="1"/>
          </p:nvPr>
        </p:nvSpPr>
        <p:spPr>
          <a:xfrm>
            <a:off x="381000" y="1257300"/>
            <a:ext cx="7416000" cy="364742"/>
          </a:xfrm>
        </p:spPr>
        <p:txBody>
          <a:bodyPr/>
          <a:lstStyle>
            <a:lvl1pPr>
              <a:defRPr sz="1800" b="1">
                <a:solidFill>
                  <a:schemeClr val="accent1"/>
                </a:solidFill>
              </a:defRPr>
            </a:lvl1pPr>
          </a:lstStyle>
          <a:p>
            <a:pPr lvl="0"/>
            <a:r>
              <a:rPr lang="nl-NL" dirty="0" err="1"/>
              <a:t>subkop</a:t>
            </a:r>
            <a:endParaRPr lang="nl-NL" dirty="0"/>
          </a:p>
        </p:txBody>
      </p:sp>
      <p:pic>
        <p:nvPicPr>
          <p:cNvPr id="4" name="Afbeelding 3">
            <a:extLst>
              <a:ext uri="{FF2B5EF4-FFF2-40B4-BE49-F238E27FC236}">
                <a16:creationId xmlns:a16="http://schemas.microsoft.com/office/drawing/2014/main" id="{33EF8F89-F07B-4D49-AAE7-F15F2FC978B2}"/>
              </a:ext>
            </a:extLst>
          </p:cNvPr>
          <p:cNvPicPr>
            <a:picLocks noChangeAspect="1"/>
          </p:cNvPicPr>
          <p:nvPr userDrawn="1"/>
        </p:nvPicPr>
        <p:blipFill>
          <a:blip r:embed="rId2"/>
          <a:stretch>
            <a:fillRect/>
          </a:stretch>
        </p:blipFill>
        <p:spPr>
          <a:xfrm>
            <a:off x="0" y="4162332"/>
            <a:ext cx="9144000" cy="383381"/>
          </a:xfrm>
          <a:prstGeom prst="rect">
            <a:avLst/>
          </a:prstGeom>
        </p:spPr>
      </p:pic>
      <p:pic>
        <p:nvPicPr>
          <p:cNvPr id="9" name="Afbeelding 8">
            <a:extLst>
              <a:ext uri="{FF2B5EF4-FFF2-40B4-BE49-F238E27FC236}">
                <a16:creationId xmlns:a16="http://schemas.microsoft.com/office/drawing/2014/main" id="{C489B62C-791A-47CA-B67B-D2B2D381B889}"/>
              </a:ext>
            </a:extLst>
          </p:cNvPr>
          <p:cNvPicPr>
            <a:picLocks noChangeAspect="1"/>
          </p:cNvPicPr>
          <p:nvPr userDrawn="1"/>
        </p:nvPicPr>
        <p:blipFill>
          <a:blip r:embed="rId3"/>
          <a:stretch>
            <a:fillRect/>
          </a:stretch>
        </p:blipFill>
        <p:spPr>
          <a:xfrm>
            <a:off x="8010524" y="1"/>
            <a:ext cx="1133475" cy="1714440"/>
          </a:xfrm>
          <a:prstGeom prst="rect">
            <a:avLst/>
          </a:prstGeom>
        </p:spPr>
      </p:pic>
      <p:pic>
        <p:nvPicPr>
          <p:cNvPr id="3" name="Powered by">
            <a:extLst>
              <a:ext uri="{FF2B5EF4-FFF2-40B4-BE49-F238E27FC236}">
                <a16:creationId xmlns:a16="http://schemas.microsoft.com/office/drawing/2014/main" id="{88AB3491-4FFE-B8CC-A498-79DFDA08ABF5}"/>
              </a:ext>
              <a:ext uri="{C183D7F6-B498-43B3-948B-1728B52AA6E4}">
                <adec:decorative xmlns:adec="http://schemas.microsoft.com/office/drawing/2017/decorative" val="1"/>
              </a:ext>
            </a:extLst>
          </p:cNvPr>
          <p:cNvPicPr>
            <a:picLocks noChangeAspect="1"/>
          </p:cNvPicPr>
          <p:nvPr userDrawn="1"/>
        </p:nvPicPr>
        <p:blipFill>
          <a:blip r:embed="rId4"/>
          <a:srcRect/>
          <a:stretch/>
        </p:blipFill>
        <p:spPr>
          <a:xfrm>
            <a:off x="4043154" y="4366800"/>
            <a:ext cx="5097667" cy="972000"/>
          </a:xfrm>
          <a:prstGeom prst="rect">
            <a:avLst/>
          </a:prstGeom>
        </p:spPr>
      </p:pic>
    </p:spTree>
    <p:extLst>
      <p:ext uri="{BB962C8B-B14F-4D97-AF65-F5344CB8AC3E}">
        <p14:creationId xmlns:p14="http://schemas.microsoft.com/office/powerpoint/2010/main" val="196569905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3711" y="524843"/>
            <a:ext cx="8171639" cy="503862"/>
          </a:xfrm>
          <a:prstGeom prst="rect">
            <a:avLst/>
          </a:prstGeom>
        </p:spPr>
        <p:txBody>
          <a:bodyPr vert="horz" lIns="0" tIns="0" rIns="0" bIns="0" rtlCol="0" anchor="t" anchorCtr="0">
            <a:noAutofit/>
          </a:bodyPr>
          <a:lstStyle/>
          <a:p>
            <a:r>
              <a:rPr lang="nl-NL" dirty="0"/>
              <a:t>klik om stijl te bewerken</a:t>
            </a:r>
            <a:endParaRPr lang="en-US" dirty="0"/>
          </a:p>
        </p:txBody>
      </p:sp>
      <p:sp>
        <p:nvSpPr>
          <p:cNvPr id="3" name="Text Placeholder 2"/>
          <p:cNvSpPr>
            <a:spLocks noGrp="1"/>
          </p:cNvSpPr>
          <p:nvPr>
            <p:ph type="body" idx="1"/>
          </p:nvPr>
        </p:nvSpPr>
        <p:spPr>
          <a:xfrm>
            <a:off x="343711" y="1692613"/>
            <a:ext cx="8171639" cy="2688886"/>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Tree>
    <p:extLst>
      <p:ext uri="{BB962C8B-B14F-4D97-AF65-F5344CB8AC3E}">
        <p14:creationId xmlns:p14="http://schemas.microsoft.com/office/powerpoint/2010/main" val="4118272437"/>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692" r:id="rId3"/>
    <p:sldLayoutId id="2147483662" r:id="rId4"/>
    <p:sldLayoutId id="2147483690" r:id="rId5"/>
    <p:sldLayoutId id="2147483691" r:id="rId6"/>
    <p:sldLayoutId id="2147483675" r:id="rId7"/>
    <p:sldLayoutId id="2147483676" r:id="rId8"/>
    <p:sldLayoutId id="2147483677" r:id="rId9"/>
  </p:sldLayoutIdLst>
  <p:txStyles>
    <p:titleStyle>
      <a:lvl1pPr algn="l" defTabSz="685800" rtl="0" eaLnBrk="1" latinLnBrk="0" hangingPunct="1">
        <a:lnSpc>
          <a:spcPct val="90000"/>
        </a:lnSpc>
        <a:spcBef>
          <a:spcPct val="0"/>
        </a:spcBef>
        <a:buNone/>
        <a:defRPr sz="3300" b="1" kern="1200" baseline="0">
          <a:solidFill>
            <a:schemeClr val="accent4"/>
          </a:solidFill>
          <a:latin typeface="Brown" pitchFamily="50" charset="0"/>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266700" indent="-266700" algn="l" defTabSz="685800" rtl="0" eaLnBrk="1" latinLnBrk="0" hangingPunct="1">
        <a:lnSpc>
          <a:spcPct val="90000"/>
        </a:lnSpc>
        <a:spcBef>
          <a:spcPts val="375"/>
        </a:spcBef>
        <a:buFont typeface="Arial" panose="020B0604020202020204" pitchFamily="34" charset="0"/>
        <a:buChar char="•"/>
        <a:tabLst/>
        <a:defRPr sz="1600" kern="1200">
          <a:solidFill>
            <a:schemeClr val="tx1"/>
          </a:solidFill>
          <a:latin typeface="+mn-lt"/>
          <a:ea typeface="+mn-ea"/>
          <a:cs typeface="+mn-cs"/>
        </a:defRPr>
      </a:lvl2pPr>
      <a:lvl3pPr marL="449263" indent="-17780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715963" indent="-179388"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898525"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8.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notesSlide" Target="../notesSlides/notesSlide5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3.png"/><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4.png"/><Relationship Id="rId3"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jpg"/><Relationship Id="rId3" Type="http://schemas.openxmlformats.org/officeDocument/2006/relationships/notesSlide" Target="../notesSlides/notesSlide6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0.jpg"/><Relationship Id="rId3"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4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2.jpg"/><Relationship Id="rId3" Type="http://schemas.openxmlformats.org/officeDocument/2006/relationships/notesSlide" Target="../notesSlides/notesSlide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notesSlide" Target="../notesSlides/notesSlide4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Agentic Engineering Sessies</a:t>
            </a:r>
          </a:p>
        </p:txBody>
      </p:sp>
      <p:sp>
        <p:nvSpPr>
          <p:cNvPr id="3" name="Subtitle 2"/>
          <p:cNvSpPr>
            <a:spLocks noGrp="1"/>
          </p:cNvSpPr>
          <p:nvPr>
            <p:ph type="subTitle" idx="1"/>
          </p:nvPr>
        </p:nvSpPr>
        <p:spPr>
          <a:xfrm>
            <a:off x="429768" y="2468880"/>
            <a:ext cx="4142232" cy="1097280"/>
          </a:xfrm>
        </p:spPr>
        <p:txBody>
          <a:bodyPr/>
          <a:lstStyle/>
          <a:p>
            <a:r>
              <a:t>Sessie 1: Opstarten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6600"/>
                </a:solidFill>
                <a:highlight>
                  <a:srgbClr val="FFFF00"/>
                </a:highlight>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zijn wij?</a:t>
            </a:r>
          </a:p>
        </p:txBody>
      </p:sp>
      <p:pic>
        <p:nvPicPr>
          <p:cNvPr id="3" name="Picture 2" descr="rens_agentic.png"/>
          <p:cNvPicPr>
            <a:picLocks noChangeAspect="1"/>
          </p:cNvPicPr>
          <p:nvPr/>
        </p:nvPicPr>
        <p:blipFill>
          <a:blip r:embed="rId2"/>
          <a:stretch>
            <a:fillRect/>
          </a:stretch>
        </p:blipFill>
        <p:spPr>
          <a:xfrm>
            <a:off x="1005840" y="1188720"/>
            <a:ext cx="2285287" cy="2743200"/>
          </a:xfrm>
          <a:prstGeom prst="rect">
            <a:avLst/>
          </a:prstGeom>
        </p:spPr>
      </p:pic>
      <p:sp>
        <p:nvSpPr>
          <p:cNvPr id="4" name="TextBox 3"/>
          <p:cNvSpPr txBox="1"/>
          <p:nvPr/>
        </p:nvSpPr>
        <p:spPr>
          <a:xfrm>
            <a:off x="731520" y="4023360"/>
            <a:ext cx="2833926" cy="274320"/>
          </a:xfrm>
          <a:prstGeom prst="rect">
            <a:avLst/>
          </a:prstGeom>
          <a:noFill/>
        </p:spPr>
        <p:txBody>
          <a:bodyPr wrap="square" anchor="t" lIns="0" rIns="0" tIns="0" bIns="0">
            <a:spAutoFit/>
          </a:bodyPr>
          <a:lstStyle/>
          <a:p>
            <a:pPr algn="ctr">
              <a:spcAft>
                <a:spcPts val="400"/>
              </a:spcAft>
            </a:pPr>
            <a:r>
              <a:rPr b="1" sz="1600">
                <a:solidFill>
                  <a:srgbClr val="FF6600"/>
                </a:solidFill>
              </a:rPr>
              <a:t>Rens Meerhoff</a:t>
            </a:r>
          </a:p>
        </p:txBody>
      </p:sp>
      <p:sp>
        <p:nvSpPr>
          <p:cNvPr id="5" name="TextBox 4"/>
          <p:cNvSpPr txBox="1"/>
          <p:nvPr/>
        </p:nvSpPr>
        <p:spPr>
          <a:xfrm>
            <a:off x="731520" y="4315968"/>
            <a:ext cx="2833926" cy="274320"/>
          </a:xfrm>
          <a:prstGeom prst="rect">
            <a:avLst/>
          </a:prstGeom>
          <a:noFill/>
        </p:spPr>
        <p:txBody>
          <a:bodyPr wrap="square" anchor="t" lIns="0" rIns="0" tIns="0" bIns="0">
            <a:spAutoFit/>
          </a:bodyPr>
          <a:lstStyle/>
          <a:p>
            <a:pPr algn="ctr">
              <a:spcAft>
                <a:spcPts val="400"/>
              </a:spcAft>
            </a:pPr>
            <a:r>
              <a:rPr sz="1200">
                <a:solidFill>
                  <a:srgbClr val="00378A"/>
                </a:solidFill>
              </a:rPr>
              <a:t>Iets met Data</a:t>
            </a:r>
          </a:p>
        </p:txBody>
      </p:sp>
      <p:pic>
        <p:nvPicPr>
          <p:cNvPr id="6" name="Picture 5" descr="finn_agentic.png"/>
          <p:cNvPicPr>
            <a:picLocks noChangeAspect="1"/>
          </p:cNvPicPr>
          <p:nvPr/>
        </p:nvPicPr>
        <p:blipFill>
          <a:blip r:embed="rId3"/>
          <a:stretch>
            <a:fillRect/>
          </a:stretch>
        </p:blipFill>
        <p:spPr>
          <a:xfrm>
            <a:off x="4937760" y="1188720"/>
            <a:ext cx="2285287" cy="2743200"/>
          </a:xfrm>
          <a:prstGeom prst="rect">
            <a:avLst/>
          </a:prstGeom>
        </p:spPr>
      </p:pic>
      <p:sp>
        <p:nvSpPr>
          <p:cNvPr id="7" name="TextBox 6"/>
          <p:cNvSpPr txBox="1"/>
          <p:nvPr/>
        </p:nvSpPr>
        <p:spPr>
          <a:xfrm>
            <a:off x="4663440" y="4023360"/>
            <a:ext cx="2833926" cy="274320"/>
          </a:xfrm>
          <a:prstGeom prst="rect">
            <a:avLst/>
          </a:prstGeom>
          <a:noFill/>
        </p:spPr>
        <p:txBody>
          <a:bodyPr wrap="square" anchor="t" lIns="0" rIns="0" tIns="0" bIns="0">
            <a:spAutoFit/>
          </a:bodyPr>
          <a:lstStyle/>
          <a:p>
            <a:pPr algn="ctr">
              <a:spcAft>
                <a:spcPts val="400"/>
              </a:spcAft>
            </a:pPr>
            <a:r>
              <a:rPr b="1" sz="1600">
                <a:solidFill>
                  <a:srgbClr val="FF6600"/>
                </a:solidFill>
              </a:rPr>
              <a:t>Finn Frielink</a:t>
            </a:r>
          </a:p>
        </p:txBody>
      </p:sp>
      <p:sp>
        <p:nvSpPr>
          <p:cNvPr id="8" name="TextBox 7"/>
          <p:cNvSpPr txBox="1"/>
          <p:nvPr/>
        </p:nvSpPr>
        <p:spPr>
          <a:xfrm>
            <a:off x="4663440" y="4315968"/>
            <a:ext cx="2833926" cy="274320"/>
          </a:xfrm>
          <a:prstGeom prst="rect">
            <a:avLst/>
          </a:prstGeom>
          <a:noFill/>
        </p:spPr>
        <p:txBody>
          <a:bodyPr wrap="square" anchor="t" lIns="0" rIns="0" tIns="0" bIns="0">
            <a:spAutoFit/>
          </a:bodyPr>
          <a:lstStyle/>
          <a:p>
            <a:pPr algn="ctr">
              <a:spcAft>
                <a:spcPts val="400"/>
              </a:spcAft>
            </a:pPr>
            <a:r>
              <a:rPr sz="1200">
                <a:solidFill>
                  <a:srgbClr val="00378A"/>
                </a:solidFill>
              </a:rPr>
              <a:t>Iets met Technologie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chief-vibe-coding-20260513.png"/>
          <p:cNvPicPr>
            <a:picLocks noGrp="1" noChangeAspect="1"/>
          </p:cNvPicPr>
          <p:nvPr>
            <p:ph type="pic" idx="12" sz="quarter"/>
          </p:nvPr>
        </p:nvPicPr>
        <p:blipFill>
          <a:blip r:embed="rId2"/>
          <a:srcRect/>
          <a:stretch>
            <a:fillRect/>
          </a:stretch>
        </p:blipFill>
        <p:spPr/>
      </p:pic>
      <p:sp>
        <p:nvSpPr>
          <p:cNvPr id="3" name="Onderschrift"/>
          <p:cNvSpPr/>
          <p:nvPr/>
        </p:nvSpPr>
        <p:spPr>
          <a:xfrm>
            <a:off x="164592" y="3977639"/>
            <a:ext cx="5669280" cy="548640"/>
          </a:xfrm>
          <a:prstGeom prst="rect">
            <a:avLst/>
          </a:prstGeom>
          <a:solidFill>
            <a:srgbClr val="00378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1752" y="3977639"/>
            <a:ext cx="5486400" cy="548640"/>
          </a:xfrm>
          <a:prstGeom prst="rect">
            <a:avLst/>
          </a:prstGeom>
          <a:noFill/>
        </p:spPr>
        <p:txBody>
          <a:bodyPr wrap="square" anchor="ctr" lIns="0" rIns="0" tIns="0" bIns="0">
            <a:spAutoFit/>
          </a:bodyPr>
          <a:lstStyle/>
          <a:p>
            <a:pPr algn="l">
              <a:spcAft>
                <a:spcPts val="400"/>
              </a:spcAft>
            </a:pPr>
            <a:r>
              <a:rPr b="1" sz="1800">
                <a:solidFill>
                  <a:srgbClr val="FFFFFF"/>
                </a:solidFill>
              </a:rPr>
              <a:t>Toen: Hackathon Vibe Coding. Eén prompt, één 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Het werkt. Maar…</a:t>
            </a:r>
          </a:p>
        </p:txBody>
      </p:sp>
      <p:sp>
        <p:nvSpPr>
          <p:cNvPr id="3" name="Stap 1"/>
          <p:cNvSpPr/>
          <p:nvPr/>
        </p:nvSpPr>
        <p:spPr>
          <a:xfrm>
            <a:off x="384048" y="18288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4" name="TextBox 3"/>
          <p:cNvSpPr txBox="1"/>
          <p:nvPr/>
        </p:nvSpPr>
        <p:spPr>
          <a:xfrm>
            <a:off x="886968" y="1856231"/>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Kun jij dit over een maand nog?</a:t>
            </a:r>
          </a:p>
        </p:txBody>
      </p:sp>
      <p:sp>
        <p:nvSpPr>
          <p:cNvPr id="5" name="Stap 2"/>
          <p:cNvSpPr/>
          <p:nvPr/>
        </p:nvSpPr>
        <p:spPr>
          <a:xfrm>
            <a:off x="384048" y="25146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6" name="TextBox 5"/>
          <p:cNvSpPr txBox="1"/>
          <p:nvPr/>
        </p:nvSpPr>
        <p:spPr>
          <a:xfrm>
            <a:off x="886968" y="254203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Kan je collega dit draaien?</a:t>
            </a:r>
          </a:p>
        </p:txBody>
      </p:sp>
      <p:sp>
        <p:nvSpPr>
          <p:cNvPr id="7" name="Stap 3"/>
          <p:cNvSpPr/>
          <p:nvPr/>
        </p:nvSpPr>
        <p:spPr>
          <a:xfrm>
            <a:off x="384048" y="32004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8" name="TextBox 7"/>
          <p:cNvSpPr txBox="1"/>
          <p:nvPr/>
        </p:nvSpPr>
        <p:spPr>
          <a:xfrm>
            <a:off x="886968" y="322783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Waar staat de data eigenlijk?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ibe-coding-web-chimera.jpg"/>
          <p:cNvPicPr>
            <a:picLocks noChangeAspect="1"/>
          </p:cNvPicPr>
          <p:nvPr/>
        </p:nvPicPr>
        <p:blipFill>
          <a:blip r:embed="rId2"/>
          <a:stretch>
            <a:fillRect/>
          </a:stretch>
        </p:blipFill>
        <p:spPr>
          <a:xfrm>
            <a:off x="1925528" y="411480"/>
            <a:ext cx="4515702" cy="4023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Proefballon vs. luchtballon</a:t>
            </a:r>
          </a:p>
        </p:txBody>
      </p:sp>
      <p:sp>
        <p:nvSpPr>
          <p:cNvPr id="3" name="Kaart 1"/>
          <p:cNvSpPr/>
          <p:nvPr/>
        </p:nvSpPr>
        <p:spPr>
          <a:xfrm>
            <a:off x="384048" y="1737360"/>
            <a:ext cx="2377440" cy="14630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2011680" cy="457200"/>
          </a:xfrm>
          <a:prstGeom prst="rect">
            <a:avLst/>
          </a:prstGeom>
          <a:noFill/>
        </p:spPr>
        <p:txBody>
          <a:bodyPr wrap="square" anchor="t" lIns="0" rIns="0" tIns="0" bIns="0">
            <a:spAutoFit/>
          </a:bodyPr>
          <a:lstStyle/>
          <a:p>
            <a:pPr algn="l">
              <a:spcAft>
                <a:spcPts val="400"/>
              </a:spcAft>
            </a:pPr>
            <a:r>
              <a:rPr b="1" sz="1800">
                <a:solidFill>
                  <a:srgbClr val="FF6600"/>
                </a:solidFill>
              </a:rPr>
              <a:t>Vibe Coding</a:t>
            </a:r>
          </a:p>
        </p:txBody>
      </p:sp>
      <p:sp>
        <p:nvSpPr>
          <p:cNvPr id="5" name="TextBox 4"/>
          <p:cNvSpPr txBox="1"/>
          <p:nvPr/>
        </p:nvSpPr>
        <p:spPr>
          <a:xfrm>
            <a:off x="566928" y="2423160"/>
            <a:ext cx="2011680" cy="640080"/>
          </a:xfrm>
          <a:prstGeom prst="rect">
            <a:avLst/>
          </a:prstGeom>
          <a:noFill/>
        </p:spPr>
        <p:txBody>
          <a:bodyPr wrap="square" anchor="t" lIns="0" rIns="0" tIns="0" bIns="0">
            <a:spAutoFit/>
          </a:bodyPr>
          <a:lstStyle/>
          <a:p>
            <a:pPr algn="l">
              <a:spcAft>
                <a:spcPts val="400"/>
              </a:spcAft>
            </a:pPr>
            <a:r>
              <a:rPr sz="1500">
                <a:solidFill>
                  <a:srgbClr val="00378A"/>
                </a:solidFill>
              </a:rPr>
              <a:t>laat een </a:t>
            </a:r>
            <a:r>
              <a:rPr b="1" sz="1500">
                <a:solidFill>
                  <a:srgbClr val="00378A"/>
                </a:solidFill>
              </a:rPr>
              <a:t>proefballon</a:t>
            </a:r>
            <a:r>
              <a:rPr sz="1500">
                <a:solidFill>
                  <a:srgbClr val="00378A"/>
                </a:solidFill>
              </a:rPr>
              <a:t> de lucht in gaan</a:t>
            </a:r>
          </a:p>
        </p:txBody>
      </p:sp>
      <p:sp>
        <p:nvSpPr>
          <p:cNvPr id="6" name="Kaart 2"/>
          <p:cNvSpPr/>
          <p:nvPr/>
        </p:nvSpPr>
        <p:spPr>
          <a:xfrm>
            <a:off x="3035808" y="1737360"/>
            <a:ext cx="2377440" cy="14630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18688" y="1920240"/>
            <a:ext cx="2011680" cy="457200"/>
          </a:xfrm>
          <a:prstGeom prst="rect">
            <a:avLst/>
          </a:prstGeom>
          <a:noFill/>
        </p:spPr>
        <p:txBody>
          <a:bodyPr wrap="square" anchor="t" lIns="0" rIns="0" tIns="0" bIns="0">
            <a:spAutoFit/>
          </a:bodyPr>
          <a:lstStyle/>
          <a:p>
            <a:pPr algn="l">
              <a:spcAft>
                <a:spcPts val="400"/>
              </a:spcAft>
            </a:pPr>
            <a:r>
              <a:rPr b="1" sz="1800">
                <a:solidFill>
                  <a:srgbClr val="FF6600"/>
                </a:solidFill>
              </a:rPr>
              <a:t>Agentic Engineering</a:t>
            </a:r>
          </a:p>
        </p:txBody>
      </p:sp>
      <p:sp>
        <p:nvSpPr>
          <p:cNvPr id="8" name="TextBox 7"/>
          <p:cNvSpPr txBox="1"/>
          <p:nvPr/>
        </p:nvSpPr>
        <p:spPr>
          <a:xfrm>
            <a:off x="3218688" y="2423160"/>
            <a:ext cx="2011680" cy="640080"/>
          </a:xfrm>
          <a:prstGeom prst="rect">
            <a:avLst/>
          </a:prstGeom>
          <a:noFill/>
        </p:spPr>
        <p:txBody>
          <a:bodyPr wrap="square" anchor="t" lIns="0" rIns="0" tIns="0" bIns="0">
            <a:spAutoFit/>
          </a:bodyPr>
          <a:lstStyle/>
          <a:p>
            <a:pPr algn="l">
              <a:spcAft>
                <a:spcPts val="400"/>
              </a:spcAft>
            </a:pPr>
            <a:r>
              <a:rPr sz="1500">
                <a:solidFill>
                  <a:srgbClr val="00378A"/>
                </a:solidFill>
              </a:rPr>
              <a:t>houdt hem </a:t>
            </a:r>
            <a:r>
              <a:rPr b="1" sz="1500">
                <a:solidFill>
                  <a:srgbClr val="00378A"/>
                </a:solidFill>
              </a:rPr>
              <a:t>in de lucht</a:t>
            </a:r>
          </a:p>
        </p:txBody>
      </p:sp>
      <p:sp>
        <p:nvSpPr>
          <p:cNvPr id="9" name="TextBox 8"/>
          <p:cNvSpPr txBox="1"/>
          <p:nvPr/>
        </p:nvSpPr>
        <p:spPr>
          <a:xfrm>
            <a:off x="384048" y="3566160"/>
            <a:ext cx="5029200" cy="365760"/>
          </a:xfrm>
          <a:prstGeom prst="rect">
            <a:avLst/>
          </a:prstGeom>
          <a:noFill/>
        </p:spPr>
        <p:txBody>
          <a:bodyPr wrap="square" anchor="t" lIns="0" rIns="0" tIns="0" bIns="0">
            <a:spAutoFit/>
          </a:bodyPr>
          <a:lstStyle/>
          <a:p>
            <a:pPr algn="l">
              <a:spcAft>
                <a:spcPts val="400"/>
              </a:spcAft>
            </a:pPr>
            <a:r>
              <a:rPr b="1" sz="1600">
                <a:solidFill>
                  <a:srgbClr val="FF6600"/>
                </a:solidFill>
              </a:rPr>
              <a:t>Dezelfde motor, een andere houding.</a:t>
            </a:r>
          </a:p>
        </p:txBody>
      </p:sp>
      <p:pic>
        <p:nvPicPr>
          <p:cNvPr id="10" name="Picture 9" descr="drake-vibe-coding-vs-agentic-engineering.jpg"/>
          <p:cNvPicPr>
            <a:picLocks noChangeAspect="1"/>
          </p:cNvPicPr>
          <p:nvPr/>
        </p:nvPicPr>
        <p:blipFill>
          <a:blip r:embed="rId2"/>
          <a:stretch>
            <a:fillRect/>
          </a:stretch>
        </p:blipFill>
        <p:spPr>
          <a:xfrm>
            <a:off x="5715000" y="1417320"/>
            <a:ext cx="2939201" cy="29260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Doelen van de Agentic Engineering sessies</a:t>
            </a:r>
          </a:p>
        </p:txBody>
      </p:sp>
      <p:sp>
        <p:nvSpPr>
          <p:cNvPr id="3" name="Text Placeholder 2"/>
          <p:cNvSpPr>
            <a:spLocks noGrp="1"/>
          </p:cNvSpPr>
          <p:nvPr>
            <p:ph type="body" idx="10" sz="quarter"/>
          </p:nvPr>
        </p:nvSpPr>
        <p:spPr/>
        <p:txBody>
          <a:bodyPr/>
          <a:lstStyle/>
          <a:p>
            <a:pPr>
              <a:spcAft>
                <a:spcPts val="600"/>
              </a:spcAft>
            </a:pPr>
            <a:r>
              <a:t>☐  Onder de indruk: </a:t>
            </a:r>
            <a:r>
              <a:rPr i="1"/>
              <a:t>the only limitation is your imagination</a:t>
            </a:r>
          </a:p>
          <a:p>
            <a:pPr>
              <a:spcAft>
                <a:spcPts val="600"/>
              </a:spcAft>
            </a:pPr>
            <a:r>
              <a:t>☐  Elk project staat </a:t>
            </a:r>
            <a:r>
              <a:rPr b="1"/>
              <a:t>altijd in git</a:t>
            </a:r>
          </a:p>
          <a:p>
            <a:pPr>
              <a:spcAft>
                <a:spcPts val="600"/>
              </a:spcAft>
            </a:pPr>
            <a:r>
              <a:t>☐  </a:t>
            </a:r>
            <a:r>
              <a:rPr b="1"/>
              <a:t>Overdraagbare mappenstructuur</a:t>
            </a:r>
            <a:r>
              <a:t>: code in </a:t>
            </a:r>
            <a:r>
              <a:rPr>
                <a:latin typeface="Consolas"/>
              </a:rPr>
              <a:t>src/</a:t>
            </a:r>
            <a:r>
              <a:t>, data in </a:t>
            </a:r>
            <a:r>
              <a:rPr>
                <a:latin typeface="Consolas"/>
              </a:rPr>
              <a:t>data/</a:t>
            </a:r>
            <a:r>
              <a:t>, plaatjes in </a:t>
            </a:r>
            <a:r>
              <a:rPr>
                <a:latin typeface="Consolas"/>
              </a:rPr>
              <a:t>assets/</a:t>
            </a:r>
          </a:p>
          <a:p>
            <a:pPr>
              <a:spcAft>
                <a:spcPts val="600"/>
              </a:spcAft>
            </a:pPr>
            <a:r>
              <a:t>☐  </a:t>
            </a:r>
            <a:r>
              <a:rPr b="1"/>
              <a:t>Geen data in git</a:t>
            </a:r>
            <a:r>
              <a:t>, geen secrets in een gedeelde (en zeker niet in publieke) </a:t>
            </a:r>
            <a:r>
              <a:rPr>
                <a:latin typeface="Consolas"/>
              </a:rPr>
              <a:t>.env</a:t>
            </a:r>
          </a:p>
          <a:p>
            <a:pPr>
              <a:spcAft>
                <a:spcPts val="600"/>
              </a:spcAft>
            </a:pPr>
            <a:r>
              <a:t>☐  Beangstigend: </a:t>
            </a:r>
            <a:r>
              <a:rPr i="1"/>
              <a:t>with great power comes great responsibility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Doel van vandaag</a:t>
            </a:r>
          </a:p>
        </p:txBody>
      </p:sp>
      <p:sp>
        <p:nvSpPr>
          <p:cNvPr id="3" name="TextBox 2"/>
          <p:cNvSpPr txBox="1"/>
          <p:nvPr/>
        </p:nvSpPr>
        <p:spPr>
          <a:xfrm>
            <a:off x="384048" y="1737360"/>
            <a:ext cx="8138160" cy="2286000"/>
          </a:xfrm>
          <a:prstGeom prst="rect">
            <a:avLst/>
          </a:prstGeom>
          <a:noFill/>
        </p:spPr>
        <p:txBody>
          <a:bodyPr wrap="square" anchor="t" lIns="0" rIns="0" tIns="0" bIns="0">
            <a:spAutoFit/>
          </a:bodyPr>
          <a:lstStyle/>
          <a:p>
            <a:pPr algn="l">
              <a:spcAft>
                <a:spcPts val="400"/>
              </a:spcAft>
            </a:pPr>
            <a:r>
              <a:rPr b="1" sz="2400">
                <a:solidFill>
                  <a:srgbClr val="00378A"/>
                </a:solidFill>
              </a:rPr>
              <a:t>… draait jouw eerste versie op de computer van iemand anders.</a:t>
            </a:r>
          </a:p>
          <a:p>
            <a:pPr algn="l">
              <a:spcAft>
                <a:spcPts val="400"/>
              </a:spcAft>
            </a:pPr>
          </a:p>
          <a:p>
            <a:pPr algn="l">
              <a:spcAft>
                <a:spcPts val="400"/>
              </a:spcAft>
            </a:pPr>
            <a:r>
              <a:rPr b="1" sz="2400">
                <a:solidFill>
                  <a:srgbClr val="00378A"/>
                </a:solidFill>
              </a:rPr>
              <a:t>… zonder jouw hulp.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werkt waaraan?</a:t>
            </a:r>
          </a:p>
        </p:txBody>
      </p:sp>
      <p:sp>
        <p:nvSpPr>
          <p:cNvPr id="4" name="Text Placeholder 3"/>
          <p:cNvSpPr>
            <a:spLocks noGrp="1"/>
          </p:cNvSpPr>
          <p:nvPr>
            <p:ph type="body" idx="13" sz="quarter"/>
          </p:nvPr>
        </p:nvSpPr>
        <p:spPr/>
        <p:txBody>
          <a:bodyPr/>
          <a:lstStyle/>
          <a:p>
            <a:r>
              <a:t>Een greep uit de intakes van alle drie de groepen</a:t>
            </a:r>
          </a:p>
        </p:txBody>
      </p:sp>
      <p:sp>
        <p:nvSpPr>
          <p:cNvPr id="5" name="Use case 1"/>
          <p:cNvSpPr/>
          <p:nvPr/>
        </p:nvSpPr>
        <p:spPr>
          <a:xfrm>
            <a:off x="384048" y="169164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1207" y="176479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Prestatiebeleid</a:t>
            </a:r>
          </a:p>
        </p:txBody>
      </p:sp>
      <p:sp>
        <p:nvSpPr>
          <p:cNvPr id="7" name="TextBox 6"/>
          <p:cNvSpPr txBox="1"/>
          <p:nvPr/>
        </p:nvSpPr>
        <p:spPr>
          <a:xfrm>
            <a:off x="521207" y="2020824"/>
            <a:ext cx="1657350" cy="448056"/>
          </a:xfrm>
          <a:prstGeom prst="rect">
            <a:avLst/>
          </a:prstGeom>
          <a:noFill/>
        </p:spPr>
        <p:txBody>
          <a:bodyPr wrap="square" anchor="t" lIns="0" rIns="0" tIns="0" bIns="0">
            <a:spAutoFit/>
          </a:bodyPr>
          <a:lstStyle/>
          <a:p>
            <a:pPr algn="l">
              <a:spcAft>
                <a:spcPts val="400"/>
              </a:spcAft>
            </a:pPr>
            <a:r>
              <a:rPr b="1" sz="1000">
                <a:solidFill>
                  <a:srgbClr val="00378A"/>
                </a:solidFill>
              </a:rPr>
              <a:t>99 rapportages</a:t>
            </a:r>
            <a:r>
              <a:rPr sz="1000">
                <a:solidFill>
                  <a:srgbClr val="00378A"/>
                </a:solidFill>
              </a:rPr>
              <a:t> niet meer met de hand maken</a:t>
            </a:r>
          </a:p>
        </p:txBody>
      </p:sp>
      <p:sp>
        <p:nvSpPr>
          <p:cNvPr id="8" name="Use case 2"/>
          <p:cNvSpPr/>
          <p:nvPr/>
        </p:nvSpPr>
        <p:spPr>
          <a:xfrm>
            <a:off x="2452878" y="169164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90038" y="176479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Volleybal</a:t>
            </a:r>
          </a:p>
        </p:txBody>
      </p:sp>
      <p:sp>
        <p:nvSpPr>
          <p:cNvPr id="10" name="TextBox 9"/>
          <p:cNvSpPr txBox="1"/>
          <p:nvPr/>
        </p:nvSpPr>
        <p:spPr>
          <a:xfrm>
            <a:off x="2590038" y="202082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Sensordata via een </a:t>
            </a:r>
            <a:r>
              <a:rPr b="1" sz="1000">
                <a:solidFill>
                  <a:srgbClr val="00378A"/>
                </a:solidFill>
              </a:rPr>
              <a:t>API</a:t>
            </a:r>
            <a:r>
              <a:rPr sz="1000">
                <a:solidFill>
                  <a:srgbClr val="00378A"/>
                </a:solidFill>
              </a:rPr>
              <a:t> ophalen en de weekbelasting in zones tonen</a:t>
            </a:r>
          </a:p>
        </p:txBody>
      </p:sp>
      <p:sp>
        <p:nvSpPr>
          <p:cNvPr id="11" name="Use case 3"/>
          <p:cNvSpPr/>
          <p:nvPr/>
        </p:nvSpPr>
        <p:spPr>
          <a:xfrm>
            <a:off x="4521708" y="169164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58868" y="176479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Trainingsdata</a:t>
            </a:r>
          </a:p>
        </p:txBody>
      </p:sp>
      <p:sp>
        <p:nvSpPr>
          <p:cNvPr id="13" name="TextBox 12"/>
          <p:cNvSpPr txBox="1"/>
          <p:nvPr/>
        </p:nvSpPr>
        <p:spPr>
          <a:xfrm>
            <a:off x="4658868" y="202082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Eigen parameters van een </a:t>
            </a:r>
            <a:r>
              <a:rPr b="1" sz="1000">
                <a:solidFill>
                  <a:srgbClr val="00378A"/>
                </a:solidFill>
              </a:rPr>
              <a:t>sporthorloge</a:t>
            </a:r>
            <a:r>
              <a:rPr sz="1000">
                <a:solidFill>
                  <a:srgbClr val="00378A"/>
                </a:solidFill>
              </a:rPr>
              <a:t> naar AMS, met herkenning van oefeningen</a:t>
            </a:r>
          </a:p>
        </p:txBody>
      </p:sp>
      <p:sp>
        <p:nvSpPr>
          <p:cNvPr id="14" name="Use case 4"/>
          <p:cNvSpPr/>
          <p:nvPr/>
        </p:nvSpPr>
        <p:spPr>
          <a:xfrm>
            <a:off x="6590538" y="169164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7698" y="176479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Zwembond</a:t>
            </a:r>
          </a:p>
        </p:txBody>
      </p:sp>
      <p:sp>
        <p:nvSpPr>
          <p:cNvPr id="16" name="TextBox 15"/>
          <p:cNvSpPr txBox="1"/>
          <p:nvPr/>
        </p:nvSpPr>
        <p:spPr>
          <a:xfrm>
            <a:off x="6727698" y="2020824"/>
            <a:ext cx="1657350" cy="448056"/>
          </a:xfrm>
          <a:prstGeom prst="rect">
            <a:avLst/>
          </a:prstGeom>
          <a:noFill/>
        </p:spPr>
        <p:txBody>
          <a:bodyPr wrap="square" anchor="t" lIns="0" rIns="0" tIns="0" bIns="0">
            <a:spAutoFit/>
          </a:bodyPr>
          <a:lstStyle/>
          <a:p>
            <a:pPr algn="l">
              <a:spcAft>
                <a:spcPts val="400"/>
              </a:spcAft>
            </a:pPr>
            <a:r>
              <a:rPr b="1" sz="1000">
                <a:solidFill>
                  <a:srgbClr val="00378A"/>
                </a:solidFill>
              </a:rPr>
              <a:t>Tegenstanderanalyses</a:t>
            </a:r>
            <a:r>
              <a:rPr sz="1000">
                <a:solidFill>
                  <a:srgbClr val="00378A"/>
                </a:solidFill>
              </a:rPr>
              <a:t> makkelijk delen met de coaches</a:t>
            </a:r>
          </a:p>
        </p:txBody>
      </p:sp>
      <p:sp>
        <p:nvSpPr>
          <p:cNvPr id="17" name="Use case 5"/>
          <p:cNvSpPr/>
          <p:nvPr/>
        </p:nvSpPr>
        <p:spPr>
          <a:xfrm>
            <a:off x="384048" y="265176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7" y="272491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Tennis</a:t>
            </a:r>
          </a:p>
        </p:txBody>
      </p:sp>
      <p:sp>
        <p:nvSpPr>
          <p:cNvPr id="19" name="TextBox 18"/>
          <p:cNvSpPr txBox="1"/>
          <p:nvPr/>
        </p:nvSpPr>
        <p:spPr>
          <a:xfrm>
            <a:off x="521207" y="298094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Nieuwe literatuur automatisch samengevat </a:t>
            </a:r>
            <a:r>
              <a:rPr b="1" sz="1000">
                <a:solidFill>
                  <a:srgbClr val="00378A"/>
                </a:solidFill>
              </a:rPr>
              <a:t>als podcast</a:t>
            </a:r>
          </a:p>
        </p:txBody>
      </p:sp>
      <p:sp>
        <p:nvSpPr>
          <p:cNvPr id="20" name="Use case 6"/>
          <p:cNvSpPr/>
          <p:nvPr/>
        </p:nvSpPr>
        <p:spPr>
          <a:xfrm>
            <a:off x="2452878" y="265176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90038" y="272491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Schaatsen</a:t>
            </a:r>
          </a:p>
        </p:txBody>
      </p:sp>
      <p:sp>
        <p:nvSpPr>
          <p:cNvPr id="22" name="TextBox 21"/>
          <p:cNvSpPr txBox="1"/>
          <p:nvPr/>
        </p:nvSpPr>
        <p:spPr>
          <a:xfrm>
            <a:off x="2590038" y="298094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Welke </a:t>
            </a:r>
            <a:r>
              <a:rPr b="1" sz="1000">
                <a:solidFill>
                  <a:srgbClr val="00378A"/>
                </a:solidFill>
              </a:rPr>
              <a:t>variaties in training</a:t>
            </a:r>
            <a:r>
              <a:rPr sz="1000">
                <a:solidFill>
                  <a:srgbClr val="00378A"/>
                </a:solidFill>
              </a:rPr>
              <a:t> geven welke variaties op het ijs?</a:t>
            </a:r>
          </a:p>
        </p:txBody>
      </p:sp>
      <p:sp>
        <p:nvSpPr>
          <p:cNvPr id="23" name="Use case 7"/>
          <p:cNvSpPr/>
          <p:nvPr/>
        </p:nvSpPr>
        <p:spPr>
          <a:xfrm>
            <a:off x="4521708" y="265176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8868" y="272491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Dammen</a:t>
            </a:r>
          </a:p>
        </p:txBody>
      </p:sp>
      <p:sp>
        <p:nvSpPr>
          <p:cNvPr id="25" name="TextBox 24"/>
          <p:cNvSpPr txBox="1"/>
          <p:nvPr/>
        </p:nvSpPr>
        <p:spPr>
          <a:xfrm>
            <a:off x="4658868" y="298094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Ranglijsten </a:t>
            </a:r>
            <a:r>
              <a:rPr b="1" sz="1000">
                <a:solidFill>
                  <a:srgbClr val="00378A"/>
                </a:solidFill>
              </a:rPr>
              <a:t>webscrapen</a:t>
            </a:r>
            <a:r>
              <a:rPr sz="1000">
                <a:solidFill>
                  <a:srgbClr val="00378A"/>
                </a:solidFill>
              </a:rPr>
              <a:t>: hoe goed moet je zijn voor de wereldtop?</a:t>
            </a:r>
          </a:p>
        </p:txBody>
      </p:sp>
      <p:sp>
        <p:nvSpPr>
          <p:cNvPr id="26" name="Use case 8"/>
          <p:cNvSpPr/>
          <p:nvPr/>
        </p:nvSpPr>
        <p:spPr>
          <a:xfrm>
            <a:off x="6590538" y="265176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7698" y="272491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Wielrennen</a:t>
            </a:r>
          </a:p>
        </p:txBody>
      </p:sp>
      <p:sp>
        <p:nvSpPr>
          <p:cNvPr id="28" name="TextBox 27"/>
          <p:cNvSpPr txBox="1"/>
          <p:nvPr/>
        </p:nvSpPr>
        <p:spPr>
          <a:xfrm>
            <a:off x="6727698" y="2980944"/>
            <a:ext cx="1657350" cy="448056"/>
          </a:xfrm>
          <a:prstGeom prst="rect">
            <a:avLst/>
          </a:prstGeom>
          <a:noFill/>
        </p:spPr>
        <p:txBody>
          <a:bodyPr wrap="square" anchor="t" lIns="0" rIns="0" tIns="0" bIns="0">
            <a:spAutoFit/>
          </a:bodyPr>
          <a:lstStyle/>
          <a:p>
            <a:pPr algn="l">
              <a:spcAft>
                <a:spcPts val="400"/>
              </a:spcAft>
            </a:pPr>
            <a:r>
              <a:rPr b="1" sz="1000">
                <a:solidFill>
                  <a:srgbClr val="00378A"/>
                </a:solidFill>
              </a:rPr>
              <a:t>Luchtweerstand</a:t>
            </a:r>
            <a:r>
              <a:rPr sz="1000">
                <a:solidFill>
                  <a:srgbClr val="00378A"/>
                </a:solidFill>
              </a:rPr>
              <a:t> van verschillende houdingen inzichtelijk maken</a:t>
            </a:r>
          </a:p>
        </p:txBody>
      </p:sp>
      <p:sp>
        <p:nvSpPr>
          <p:cNvPr id="29" name="Use case 9"/>
          <p:cNvSpPr/>
          <p:nvPr/>
        </p:nvSpPr>
        <p:spPr>
          <a:xfrm>
            <a:off x="384048" y="361188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7" y="368503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Boccia</a:t>
            </a:r>
          </a:p>
        </p:txBody>
      </p:sp>
      <p:sp>
        <p:nvSpPr>
          <p:cNvPr id="31" name="TextBox 30"/>
          <p:cNvSpPr txBox="1"/>
          <p:nvPr/>
        </p:nvSpPr>
        <p:spPr>
          <a:xfrm>
            <a:off x="521207" y="394106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Videobeelden omzetten naar een </a:t>
            </a:r>
            <a:r>
              <a:rPr b="1" sz="1000">
                <a:solidFill>
                  <a:srgbClr val="00378A"/>
                </a:solidFill>
              </a:rPr>
              <a:t>bovenaanzicht</a:t>
            </a:r>
            <a:r>
              <a:rPr sz="1000">
                <a:solidFill>
                  <a:srgbClr val="00378A"/>
                </a:solidFill>
              </a:rPr>
              <a:t> van de ballen</a:t>
            </a:r>
          </a:p>
        </p:txBody>
      </p:sp>
      <p:sp>
        <p:nvSpPr>
          <p:cNvPr id="32" name="Use case 10"/>
          <p:cNvSpPr/>
          <p:nvPr/>
        </p:nvSpPr>
        <p:spPr>
          <a:xfrm>
            <a:off x="2452878" y="361188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90038" y="368503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Paralympisch</a:t>
            </a:r>
          </a:p>
        </p:txBody>
      </p:sp>
      <p:sp>
        <p:nvSpPr>
          <p:cNvPr id="34" name="TextBox 33"/>
          <p:cNvSpPr txBox="1"/>
          <p:nvPr/>
        </p:nvSpPr>
        <p:spPr>
          <a:xfrm>
            <a:off x="2590038" y="3941064"/>
            <a:ext cx="1657350" cy="448056"/>
          </a:xfrm>
          <a:prstGeom prst="rect">
            <a:avLst/>
          </a:prstGeom>
          <a:noFill/>
        </p:spPr>
        <p:txBody>
          <a:bodyPr wrap="square" anchor="t" lIns="0" rIns="0" tIns="0" bIns="0">
            <a:spAutoFit/>
          </a:bodyPr>
          <a:lstStyle/>
          <a:p>
            <a:pPr algn="l">
              <a:spcAft>
                <a:spcPts val="400"/>
              </a:spcAft>
            </a:pPr>
            <a:r>
              <a:rPr sz="1000">
                <a:solidFill>
                  <a:srgbClr val="00378A"/>
                </a:solidFill>
              </a:rPr>
              <a:t>De nieuwste </a:t>
            </a:r>
            <a:r>
              <a:rPr b="1" sz="1000">
                <a:solidFill>
                  <a:srgbClr val="00378A"/>
                </a:solidFill>
              </a:rPr>
              <a:t>wetenschappelijke literatuur</a:t>
            </a:r>
            <a:r>
              <a:rPr sz="1000">
                <a:solidFill>
                  <a:srgbClr val="00378A"/>
                </a:solidFill>
              </a:rPr>
              <a:t> bijhouden</a:t>
            </a:r>
          </a:p>
        </p:txBody>
      </p:sp>
      <p:sp>
        <p:nvSpPr>
          <p:cNvPr id="35" name="Use case 11"/>
          <p:cNvSpPr/>
          <p:nvPr/>
        </p:nvSpPr>
        <p:spPr>
          <a:xfrm>
            <a:off x="4521708" y="361188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58868" y="368503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Prestatiebeleid</a:t>
            </a:r>
          </a:p>
        </p:txBody>
      </p:sp>
      <p:sp>
        <p:nvSpPr>
          <p:cNvPr id="37" name="TextBox 36"/>
          <p:cNvSpPr txBox="1"/>
          <p:nvPr/>
        </p:nvSpPr>
        <p:spPr>
          <a:xfrm>
            <a:off x="4658868" y="3941064"/>
            <a:ext cx="1657350" cy="448056"/>
          </a:xfrm>
          <a:prstGeom prst="rect">
            <a:avLst/>
          </a:prstGeom>
          <a:noFill/>
        </p:spPr>
        <p:txBody>
          <a:bodyPr wrap="square" anchor="t" lIns="0" rIns="0" tIns="0" bIns="0">
            <a:spAutoFit/>
          </a:bodyPr>
          <a:lstStyle/>
          <a:p>
            <a:pPr algn="l">
              <a:spcAft>
                <a:spcPts val="400"/>
              </a:spcAft>
            </a:pPr>
            <a:r>
              <a:rPr b="1" sz="1000">
                <a:solidFill>
                  <a:srgbClr val="00378A"/>
                </a:solidFill>
              </a:rPr>
              <a:t>Head-to-head Elo-ratings</a:t>
            </a:r>
            <a:r>
              <a:rPr sz="1000">
                <a:solidFill>
                  <a:srgbClr val="00378A"/>
                </a:solidFill>
              </a:rPr>
              <a:t> om prestatiepotentieel te bepalen in dammen</a:t>
            </a:r>
          </a:p>
        </p:txBody>
      </p:sp>
      <p:sp>
        <p:nvSpPr>
          <p:cNvPr id="38" name="Use case 12"/>
          <p:cNvSpPr/>
          <p:nvPr/>
        </p:nvSpPr>
        <p:spPr>
          <a:xfrm>
            <a:off x="6590538" y="3611880"/>
            <a:ext cx="1931670" cy="822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27698" y="3685032"/>
            <a:ext cx="1657350" cy="274320"/>
          </a:xfrm>
          <a:prstGeom prst="rect">
            <a:avLst/>
          </a:prstGeom>
          <a:noFill/>
        </p:spPr>
        <p:txBody>
          <a:bodyPr wrap="square" anchor="t" lIns="0" rIns="0" tIns="0" bIns="0">
            <a:spAutoFit/>
          </a:bodyPr>
          <a:lstStyle/>
          <a:p>
            <a:pPr algn="l">
              <a:spcAft>
                <a:spcPts val="400"/>
              </a:spcAft>
            </a:pPr>
            <a:r>
              <a:rPr b="1" sz="1200">
                <a:solidFill>
                  <a:srgbClr val="FF6600"/>
                </a:solidFill>
              </a:rPr>
              <a:t>Freestyle</a:t>
            </a:r>
          </a:p>
        </p:txBody>
      </p:sp>
      <p:sp>
        <p:nvSpPr>
          <p:cNvPr id="40" name="TextBox 39"/>
          <p:cNvSpPr txBox="1"/>
          <p:nvPr/>
        </p:nvSpPr>
        <p:spPr>
          <a:xfrm>
            <a:off x="6727698" y="3941064"/>
            <a:ext cx="1657350" cy="448056"/>
          </a:xfrm>
          <a:prstGeom prst="rect">
            <a:avLst/>
          </a:prstGeom>
          <a:noFill/>
        </p:spPr>
        <p:txBody>
          <a:bodyPr wrap="square" anchor="t" lIns="0" rIns="0" tIns="0" bIns="0">
            <a:spAutoFit/>
          </a:bodyPr>
          <a:lstStyle/>
          <a:p>
            <a:pPr algn="l">
              <a:spcAft>
                <a:spcPts val="400"/>
              </a:spcAft>
            </a:pPr>
            <a:r>
              <a:rPr b="1" sz="1000">
                <a:solidFill>
                  <a:srgbClr val="00378A"/>
                </a:solidFill>
              </a:rPr>
              <a:t>Sleutelmomenten</a:t>
            </a:r>
            <a:r>
              <a:rPr sz="1000">
                <a:solidFill>
                  <a:srgbClr val="00378A"/>
                </a:solidFill>
              </a:rPr>
              <a:t> in een app beter detecteren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Van chat naar agent</a:t>
            </a:r>
          </a:p>
        </p:txBody>
      </p:sp>
      <p:cxnSp>
        <p:nvCxnSpPr>
          <p:cNvPr id="3" name="Connector 2"/>
          <p:cNvCxnSpPr/>
          <p:nvPr/>
        </p:nvCxnSpPr>
        <p:spPr>
          <a:xfrm>
            <a:off x="731520" y="2057400"/>
            <a:ext cx="7498080" cy="0"/>
          </a:xfrm>
          <a:prstGeom prst="line">
            <a:avLst/>
          </a:prstGeom>
          <a:ln w="25400">
            <a:solidFill>
              <a:srgbClr val="FF6600"/>
            </a:solidFill>
          </a:ln>
        </p:spPr>
        <p:style>
          <a:lnRef idx="2">
            <a:schemeClr val="accent1"/>
          </a:lnRef>
          <a:fillRef idx="0">
            <a:schemeClr val="accent1"/>
          </a:fillRef>
          <a:effectRef idx="1">
            <a:schemeClr val="accent1"/>
          </a:effectRef>
          <a:fontRef idx="minor">
            <a:schemeClr val="tx1"/>
          </a:fontRef>
        </p:style>
      </p:cxnSp>
      <p:sp>
        <p:nvSpPr>
          <p:cNvPr id="4" name="Punt 1"/>
          <p:cNvSpPr/>
          <p:nvPr/>
        </p:nvSpPr>
        <p:spPr>
          <a:xfrm>
            <a:off x="612647" y="1892807"/>
            <a:ext cx="329184" cy="329184"/>
          </a:xfrm>
          <a:prstGeom prst="ellipse">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508760"/>
            <a:ext cx="1920240" cy="274320"/>
          </a:xfrm>
          <a:prstGeom prst="rect">
            <a:avLst/>
          </a:prstGeom>
          <a:noFill/>
        </p:spPr>
        <p:txBody>
          <a:bodyPr wrap="square" anchor="t" lIns="0" rIns="0" tIns="0" bIns="0">
            <a:spAutoFit/>
          </a:bodyPr>
          <a:lstStyle/>
          <a:p>
            <a:pPr algn="l">
              <a:spcAft>
                <a:spcPts val="400"/>
              </a:spcAft>
            </a:pPr>
            <a:r>
              <a:rPr b="1" sz="1400">
                <a:solidFill>
                  <a:srgbClr val="FF6600"/>
                </a:solidFill>
              </a:rPr>
              <a:t>2022</a:t>
            </a:r>
          </a:p>
        </p:txBody>
      </p:sp>
      <p:sp>
        <p:nvSpPr>
          <p:cNvPr id="6" name="TextBox 5"/>
          <p:cNvSpPr txBox="1"/>
          <p:nvPr/>
        </p:nvSpPr>
        <p:spPr>
          <a:xfrm>
            <a:off x="384048" y="2423160"/>
            <a:ext cx="1920240" cy="320040"/>
          </a:xfrm>
          <a:prstGeom prst="rect">
            <a:avLst/>
          </a:prstGeom>
          <a:noFill/>
        </p:spPr>
        <p:txBody>
          <a:bodyPr wrap="square" anchor="t" lIns="0" rIns="0" tIns="0" bIns="0">
            <a:spAutoFit/>
          </a:bodyPr>
          <a:lstStyle/>
          <a:p>
            <a:pPr algn="l">
              <a:spcAft>
                <a:spcPts val="400"/>
              </a:spcAft>
            </a:pPr>
            <a:r>
              <a:rPr b="1" sz="1600">
                <a:solidFill>
                  <a:srgbClr val="00378A"/>
                </a:solidFill>
              </a:rPr>
              <a:t>Chat</a:t>
            </a:r>
          </a:p>
        </p:txBody>
      </p:sp>
      <p:sp>
        <p:nvSpPr>
          <p:cNvPr id="7" name="TextBox 6"/>
          <p:cNvSpPr txBox="1"/>
          <p:nvPr/>
        </p:nvSpPr>
        <p:spPr>
          <a:xfrm>
            <a:off x="384048" y="2743200"/>
            <a:ext cx="1828800" cy="731520"/>
          </a:xfrm>
          <a:prstGeom prst="rect">
            <a:avLst/>
          </a:prstGeom>
          <a:noFill/>
        </p:spPr>
        <p:txBody>
          <a:bodyPr wrap="square" anchor="t" lIns="0" rIns="0" tIns="0" bIns="0">
            <a:spAutoFit/>
          </a:bodyPr>
          <a:lstStyle/>
          <a:p>
            <a:pPr algn="l">
              <a:spcAft>
                <a:spcPts val="400"/>
              </a:spcAft>
            </a:pPr>
            <a:r>
              <a:rPr sz="1300">
                <a:solidFill>
                  <a:srgbClr val="00378A"/>
                </a:solidFill>
              </a:rPr>
              <a:t>Code heen en weer kopiëren</a:t>
            </a:r>
          </a:p>
        </p:txBody>
      </p:sp>
      <p:sp>
        <p:nvSpPr>
          <p:cNvPr id="8" name="Punt 2"/>
          <p:cNvSpPr/>
          <p:nvPr/>
        </p:nvSpPr>
        <p:spPr>
          <a:xfrm>
            <a:off x="2715768" y="1892807"/>
            <a:ext cx="329184" cy="329184"/>
          </a:xfrm>
          <a:prstGeom prst="ellipse">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87168" y="1508760"/>
            <a:ext cx="1920240" cy="274320"/>
          </a:xfrm>
          <a:prstGeom prst="rect">
            <a:avLst/>
          </a:prstGeom>
          <a:noFill/>
        </p:spPr>
        <p:txBody>
          <a:bodyPr wrap="square" anchor="t" lIns="0" rIns="0" tIns="0" bIns="0">
            <a:spAutoFit/>
          </a:bodyPr>
          <a:lstStyle/>
          <a:p>
            <a:pPr algn="l">
              <a:spcAft>
                <a:spcPts val="400"/>
              </a:spcAft>
            </a:pPr>
            <a:r>
              <a:rPr b="1" sz="1400">
                <a:solidFill>
                  <a:srgbClr val="FF6600"/>
                </a:solidFill>
              </a:rPr>
              <a:t>2023–24</a:t>
            </a:r>
          </a:p>
        </p:txBody>
      </p:sp>
      <p:sp>
        <p:nvSpPr>
          <p:cNvPr id="10" name="TextBox 9"/>
          <p:cNvSpPr txBox="1"/>
          <p:nvPr/>
        </p:nvSpPr>
        <p:spPr>
          <a:xfrm>
            <a:off x="2487168" y="2423160"/>
            <a:ext cx="1920240" cy="320040"/>
          </a:xfrm>
          <a:prstGeom prst="rect">
            <a:avLst/>
          </a:prstGeom>
          <a:noFill/>
        </p:spPr>
        <p:txBody>
          <a:bodyPr wrap="square" anchor="t" lIns="0" rIns="0" tIns="0" bIns="0">
            <a:spAutoFit/>
          </a:bodyPr>
          <a:lstStyle/>
          <a:p>
            <a:pPr algn="l">
              <a:spcAft>
                <a:spcPts val="400"/>
              </a:spcAft>
            </a:pPr>
            <a:r>
              <a:rPr b="1" sz="1600">
                <a:solidFill>
                  <a:srgbClr val="00378A"/>
                </a:solidFill>
              </a:rPr>
              <a:t>Autocomplete</a:t>
            </a:r>
          </a:p>
        </p:txBody>
      </p:sp>
      <p:sp>
        <p:nvSpPr>
          <p:cNvPr id="11" name="TextBox 10"/>
          <p:cNvSpPr txBox="1"/>
          <p:nvPr/>
        </p:nvSpPr>
        <p:spPr>
          <a:xfrm>
            <a:off x="2487168" y="2743200"/>
            <a:ext cx="1828800" cy="731520"/>
          </a:xfrm>
          <a:prstGeom prst="rect">
            <a:avLst/>
          </a:prstGeom>
          <a:noFill/>
        </p:spPr>
        <p:txBody>
          <a:bodyPr wrap="square" anchor="t" lIns="0" rIns="0" tIns="0" bIns="0">
            <a:spAutoFit/>
          </a:bodyPr>
          <a:lstStyle/>
          <a:p>
            <a:pPr algn="l">
              <a:spcAft>
                <a:spcPts val="400"/>
              </a:spcAft>
            </a:pPr>
            <a:r>
              <a:rPr sz="1300">
                <a:solidFill>
                  <a:srgbClr val="00378A"/>
                </a:solidFill>
              </a:rPr>
              <a:t>Suggesties in je editor</a:t>
            </a:r>
          </a:p>
        </p:txBody>
      </p:sp>
      <p:sp>
        <p:nvSpPr>
          <p:cNvPr id="12" name="Punt 3"/>
          <p:cNvSpPr/>
          <p:nvPr/>
        </p:nvSpPr>
        <p:spPr>
          <a:xfrm>
            <a:off x="4818888" y="1892807"/>
            <a:ext cx="329184" cy="329184"/>
          </a:xfrm>
          <a:prstGeom prst="ellipse">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508760"/>
            <a:ext cx="1920240" cy="274320"/>
          </a:xfrm>
          <a:prstGeom prst="rect">
            <a:avLst/>
          </a:prstGeom>
          <a:noFill/>
        </p:spPr>
        <p:txBody>
          <a:bodyPr wrap="square" anchor="t" lIns="0" rIns="0" tIns="0" bIns="0">
            <a:spAutoFit/>
          </a:bodyPr>
          <a:lstStyle/>
          <a:p>
            <a:pPr algn="l">
              <a:spcAft>
                <a:spcPts val="400"/>
              </a:spcAft>
            </a:pPr>
            <a:r>
              <a:rPr b="1" sz="1400">
                <a:solidFill>
                  <a:srgbClr val="FF6600"/>
                </a:solidFill>
              </a:rPr>
              <a:t>2025</a:t>
            </a:r>
          </a:p>
        </p:txBody>
      </p:sp>
      <p:sp>
        <p:nvSpPr>
          <p:cNvPr id="14" name="TextBox 13"/>
          <p:cNvSpPr txBox="1"/>
          <p:nvPr/>
        </p:nvSpPr>
        <p:spPr>
          <a:xfrm>
            <a:off x="4590288" y="2423160"/>
            <a:ext cx="1920240" cy="320040"/>
          </a:xfrm>
          <a:prstGeom prst="rect">
            <a:avLst/>
          </a:prstGeom>
          <a:noFill/>
        </p:spPr>
        <p:txBody>
          <a:bodyPr wrap="square" anchor="t" lIns="0" rIns="0" tIns="0" bIns="0">
            <a:spAutoFit/>
          </a:bodyPr>
          <a:lstStyle/>
          <a:p>
            <a:pPr algn="l">
              <a:spcAft>
                <a:spcPts val="400"/>
              </a:spcAft>
            </a:pPr>
            <a:r>
              <a:rPr b="1" sz="1600">
                <a:solidFill>
                  <a:srgbClr val="00378A"/>
                </a:solidFill>
              </a:rPr>
              <a:t>Agents</a:t>
            </a:r>
          </a:p>
        </p:txBody>
      </p:sp>
      <p:sp>
        <p:nvSpPr>
          <p:cNvPr id="15" name="TextBox 14"/>
          <p:cNvSpPr txBox="1"/>
          <p:nvPr/>
        </p:nvSpPr>
        <p:spPr>
          <a:xfrm>
            <a:off x="4590288" y="2743200"/>
            <a:ext cx="1828800" cy="731520"/>
          </a:xfrm>
          <a:prstGeom prst="rect">
            <a:avLst/>
          </a:prstGeom>
          <a:noFill/>
        </p:spPr>
        <p:txBody>
          <a:bodyPr wrap="square" anchor="t" lIns="0" rIns="0" tIns="0" bIns="0">
            <a:spAutoFit/>
          </a:bodyPr>
          <a:lstStyle/>
          <a:p>
            <a:pPr algn="l">
              <a:spcAft>
                <a:spcPts val="400"/>
              </a:spcAft>
            </a:pPr>
            <a:r>
              <a:rPr sz="1300">
                <a:solidFill>
                  <a:srgbClr val="00378A"/>
                </a:solidFill>
              </a:rPr>
              <a:t>Lezen, schrijven, voeren uit</a:t>
            </a:r>
          </a:p>
        </p:txBody>
      </p:sp>
      <p:sp>
        <p:nvSpPr>
          <p:cNvPr id="16" name="Punt 4"/>
          <p:cNvSpPr/>
          <p:nvPr/>
        </p:nvSpPr>
        <p:spPr>
          <a:xfrm>
            <a:off x="6922007" y="1892807"/>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93407" y="1508760"/>
            <a:ext cx="1920240" cy="274320"/>
          </a:xfrm>
          <a:prstGeom prst="rect">
            <a:avLst/>
          </a:prstGeom>
          <a:noFill/>
        </p:spPr>
        <p:txBody>
          <a:bodyPr wrap="square" anchor="t" lIns="0" rIns="0" tIns="0" bIns="0">
            <a:spAutoFit/>
          </a:bodyPr>
          <a:lstStyle/>
          <a:p>
            <a:pPr algn="l">
              <a:spcAft>
                <a:spcPts val="400"/>
              </a:spcAft>
            </a:pPr>
            <a:r>
              <a:rPr b="1" sz="1400">
                <a:solidFill>
                  <a:srgbClr val="FF6600"/>
                </a:solidFill>
              </a:rPr>
              <a:t>Nu</a:t>
            </a:r>
          </a:p>
        </p:txBody>
      </p:sp>
      <p:sp>
        <p:nvSpPr>
          <p:cNvPr id="18" name="TextBox 17"/>
          <p:cNvSpPr txBox="1"/>
          <p:nvPr/>
        </p:nvSpPr>
        <p:spPr>
          <a:xfrm>
            <a:off x="6693407" y="2423160"/>
            <a:ext cx="1920240" cy="320040"/>
          </a:xfrm>
          <a:prstGeom prst="rect">
            <a:avLst/>
          </a:prstGeom>
          <a:noFill/>
        </p:spPr>
        <p:txBody>
          <a:bodyPr wrap="square" anchor="t" lIns="0" rIns="0" tIns="0" bIns="0">
            <a:spAutoFit/>
          </a:bodyPr>
          <a:lstStyle/>
          <a:p>
            <a:pPr algn="l">
              <a:spcAft>
                <a:spcPts val="400"/>
              </a:spcAft>
            </a:pPr>
            <a:r>
              <a:rPr b="1" sz="1600">
                <a:solidFill>
                  <a:srgbClr val="00378A"/>
                </a:solidFill>
              </a:rPr>
              <a:t>Zelfstandig</a:t>
            </a:r>
          </a:p>
        </p:txBody>
      </p:sp>
      <p:sp>
        <p:nvSpPr>
          <p:cNvPr id="19" name="TextBox 18"/>
          <p:cNvSpPr txBox="1"/>
          <p:nvPr/>
        </p:nvSpPr>
        <p:spPr>
          <a:xfrm>
            <a:off x="6693407" y="2743200"/>
            <a:ext cx="1828800" cy="731520"/>
          </a:xfrm>
          <a:prstGeom prst="rect">
            <a:avLst/>
          </a:prstGeom>
          <a:noFill/>
        </p:spPr>
        <p:txBody>
          <a:bodyPr wrap="square" anchor="t" lIns="0" rIns="0" tIns="0" bIns="0">
            <a:spAutoFit/>
          </a:bodyPr>
          <a:lstStyle/>
          <a:p>
            <a:pPr algn="l">
              <a:spcAft>
                <a:spcPts val="400"/>
              </a:spcAft>
            </a:pPr>
            <a:r>
              <a:rPr sz="1300">
                <a:solidFill>
                  <a:srgbClr val="00378A"/>
                </a:solidFill>
              </a:rPr>
              <a:t>Uren doorwerken</a:t>
            </a:r>
          </a:p>
        </p:txBody>
      </p:sp>
      <p:sp>
        <p:nvSpPr>
          <p:cNvPr id="20" name="TextBox 19"/>
          <p:cNvSpPr txBox="1"/>
          <p:nvPr/>
        </p:nvSpPr>
        <p:spPr>
          <a:xfrm>
            <a:off x="384048" y="3749039"/>
            <a:ext cx="8138160" cy="365760"/>
          </a:xfrm>
          <a:prstGeom prst="rect">
            <a:avLst/>
          </a:prstGeom>
          <a:noFill/>
        </p:spPr>
        <p:txBody>
          <a:bodyPr wrap="square" anchor="t" lIns="0" rIns="0" tIns="0" bIns="0">
            <a:spAutoFit/>
          </a:bodyPr>
          <a:lstStyle/>
          <a:p>
            <a:pPr algn="l">
              <a:spcAft>
                <a:spcPts val="400"/>
              </a:spcAft>
            </a:pPr>
            <a:r>
              <a:rPr sz="1600">
                <a:solidFill>
                  <a:srgbClr val="00378A"/>
                </a:solidFill>
              </a:rPr>
              <a:t>Jouw rol verschuift van </a:t>
            </a:r>
            <a:r>
              <a:rPr b="1" sz="1600">
                <a:solidFill>
                  <a:srgbClr val="00378A"/>
                </a:solidFill>
              </a:rPr>
              <a:t>typen</a:t>
            </a:r>
            <a:r>
              <a:rPr sz="1600">
                <a:solidFill>
                  <a:srgbClr val="00378A"/>
                </a:solidFill>
              </a:rPr>
              <a:t> naar </a:t>
            </a:r>
            <a:r>
              <a:rPr b="1" sz="1600">
                <a:solidFill>
                  <a:srgbClr val="00378A"/>
                </a:solidFill>
              </a:rPr>
              <a:t>regisseren, internaliseren en controleren</a:t>
            </a:r>
            <a:r>
              <a:rPr sz="1600">
                <a:solidFill>
                  <a:srgbClr val="00378A"/>
                </a:solidFill>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is een coding agent?</a:t>
            </a:r>
          </a:p>
        </p:txBody>
      </p:sp>
      <p:sp>
        <p:nvSpPr>
          <p:cNvPr id="3" name="Kaart 1"/>
          <p:cNvSpPr/>
          <p:nvPr/>
        </p:nvSpPr>
        <p:spPr>
          <a:xfrm>
            <a:off x="384048" y="1645920"/>
            <a:ext cx="252984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2164080" cy="457200"/>
          </a:xfrm>
          <a:prstGeom prst="rect">
            <a:avLst/>
          </a:prstGeom>
          <a:noFill/>
        </p:spPr>
        <p:txBody>
          <a:bodyPr wrap="square" anchor="t" lIns="0" rIns="0" tIns="0" bIns="0">
            <a:spAutoFit/>
          </a:bodyPr>
          <a:lstStyle/>
          <a:p>
            <a:pPr algn="l">
              <a:spcAft>
                <a:spcPts val="400"/>
              </a:spcAft>
            </a:pPr>
            <a:r>
              <a:rPr b="1" sz="1500">
                <a:solidFill>
                  <a:srgbClr val="FF6600"/>
                </a:solidFill>
              </a:rPr>
              <a:t>Chatbot in de browser</a:t>
            </a:r>
          </a:p>
        </p:txBody>
      </p:sp>
      <p:sp>
        <p:nvSpPr>
          <p:cNvPr id="5" name="TextBox 4"/>
          <p:cNvSpPr txBox="1"/>
          <p:nvPr/>
        </p:nvSpPr>
        <p:spPr>
          <a:xfrm>
            <a:off x="566928" y="2331720"/>
            <a:ext cx="2164080" cy="1005840"/>
          </a:xfrm>
          <a:prstGeom prst="rect">
            <a:avLst/>
          </a:prstGeom>
          <a:noFill/>
        </p:spPr>
        <p:txBody>
          <a:bodyPr wrap="square" anchor="t" lIns="0" rIns="0" tIns="0" bIns="0">
            <a:spAutoFit/>
          </a:bodyPr>
          <a:lstStyle/>
          <a:p>
            <a:pPr algn="l">
              <a:spcAft>
                <a:spcPts val="400"/>
              </a:spcAft>
            </a:pPr>
            <a:r>
              <a:rPr sz="1300">
                <a:solidFill>
                  <a:srgbClr val="00378A"/>
                </a:solidFill>
              </a:rPr>
              <a:t>Taalmodel + tools </a:t>
            </a:r>
            <a:r>
              <a:rPr b="1" sz="1300">
                <a:solidFill>
                  <a:srgbClr val="00378A"/>
                </a:solidFill>
              </a:rPr>
              <a:t>in de cloud</a:t>
            </a:r>
            <a:r>
              <a:rPr sz="1300">
                <a:solidFill>
                  <a:srgbClr val="00378A"/>
                </a:solidFill>
              </a:rPr>
              <a:t> van de aanbieder</a:t>
            </a:r>
          </a:p>
          <a:p>
            <a:pPr algn="l">
              <a:spcAft>
                <a:spcPts val="400"/>
              </a:spcAft>
            </a:pPr>
            <a:r>
              <a:rPr sz="1300">
                <a:solidFill>
                  <a:srgbClr val="00378A"/>
                </a:solidFill>
              </a:rPr>
              <a:t>Zoeken, code draaien, bestanden maken: steeds meer</a:t>
            </a:r>
          </a:p>
        </p:txBody>
      </p:sp>
      <p:sp>
        <p:nvSpPr>
          <p:cNvPr id="6" name="Kaart 2"/>
          <p:cNvSpPr/>
          <p:nvPr/>
        </p:nvSpPr>
        <p:spPr>
          <a:xfrm>
            <a:off x="3188208" y="1645920"/>
            <a:ext cx="252984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71088" y="1828800"/>
            <a:ext cx="2164080" cy="457200"/>
          </a:xfrm>
          <a:prstGeom prst="rect">
            <a:avLst/>
          </a:prstGeom>
          <a:noFill/>
        </p:spPr>
        <p:txBody>
          <a:bodyPr wrap="square" anchor="t" lIns="0" rIns="0" tIns="0" bIns="0">
            <a:spAutoFit/>
          </a:bodyPr>
          <a:lstStyle/>
          <a:p>
            <a:pPr algn="l">
              <a:spcAft>
                <a:spcPts val="400"/>
              </a:spcAft>
            </a:pPr>
            <a:r>
              <a:rPr b="1" sz="1500">
                <a:solidFill>
                  <a:srgbClr val="FF6600"/>
                </a:solidFill>
              </a:rPr>
              <a:t>Coding agent, lokaal</a:t>
            </a:r>
          </a:p>
        </p:txBody>
      </p:sp>
      <p:sp>
        <p:nvSpPr>
          <p:cNvPr id="8" name="TextBox 7"/>
          <p:cNvSpPr txBox="1"/>
          <p:nvPr/>
        </p:nvSpPr>
        <p:spPr>
          <a:xfrm>
            <a:off x="3371088" y="2331720"/>
            <a:ext cx="2164080" cy="1005840"/>
          </a:xfrm>
          <a:prstGeom prst="rect">
            <a:avLst/>
          </a:prstGeom>
          <a:noFill/>
        </p:spPr>
        <p:txBody>
          <a:bodyPr wrap="square" anchor="t" lIns="0" rIns="0" tIns="0" bIns="0">
            <a:spAutoFit/>
          </a:bodyPr>
          <a:lstStyle/>
          <a:p>
            <a:pPr algn="l">
              <a:spcAft>
                <a:spcPts val="400"/>
              </a:spcAft>
            </a:pPr>
            <a:r>
              <a:rPr sz="1300">
                <a:solidFill>
                  <a:srgbClr val="00378A"/>
                </a:solidFill>
              </a:rPr>
              <a:t>Taalmodel + </a:t>
            </a:r>
            <a:r>
              <a:rPr b="1" sz="1300">
                <a:solidFill>
                  <a:srgbClr val="00378A"/>
                </a:solidFill>
              </a:rPr>
              <a:t>command line op jouw computer</a:t>
            </a:r>
          </a:p>
          <a:p>
            <a:pPr algn="l">
              <a:spcAft>
                <a:spcPts val="400"/>
              </a:spcAft>
            </a:pPr>
            <a:r>
              <a:rPr sz="1300">
                <a:solidFill>
                  <a:srgbClr val="00378A"/>
                </a:solidFill>
              </a:rPr>
              <a:t>Met jouw bestanden en jouw rechten</a:t>
            </a:r>
          </a:p>
        </p:txBody>
      </p:sp>
      <p:sp>
        <p:nvSpPr>
          <p:cNvPr id="9" name="Kaart 3"/>
          <p:cNvSpPr/>
          <p:nvPr/>
        </p:nvSpPr>
        <p:spPr>
          <a:xfrm>
            <a:off x="5992368" y="1645920"/>
            <a:ext cx="252984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5248" y="1828800"/>
            <a:ext cx="2164080" cy="457200"/>
          </a:xfrm>
          <a:prstGeom prst="rect">
            <a:avLst/>
          </a:prstGeom>
          <a:noFill/>
        </p:spPr>
        <p:txBody>
          <a:bodyPr wrap="square" anchor="t" lIns="0" rIns="0" tIns="0" bIns="0">
            <a:spAutoFit/>
          </a:bodyPr>
          <a:lstStyle/>
          <a:p>
            <a:pPr algn="l">
              <a:spcAft>
                <a:spcPts val="400"/>
              </a:spcAft>
            </a:pPr>
            <a:r>
              <a:rPr b="1" sz="1500">
                <a:solidFill>
                  <a:srgbClr val="FF6600"/>
                </a:solidFill>
              </a:rPr>
              <a:t>Coding agent, in de cloud</a:t>
            </a:r>
          </a:p>
        </p:txBody>
      </p:sp>
      <p:sp>
        <p:nvSpPr>
          <p:cNvPr id="11" name="TextBox 10"/>
          <p:cNvSpPr txBox="1"/>
          <p:nvPr/>
        </p:nvSpPr>
        <p:spPr>
          <a:xfrm>
            <a:off x="6175248" y="2331720"/>
            <a:ext cx="2164080" cy="1005840"/>
          </a:xfrm>
          <a:prstGeom prst="rect">
            <a:avLst/>
          </a:prstGeom>
          <a:noFill/>
        </p:spPr>
        <p:txBody>
          <a:bodyPr wrap="square" anchor="t" lIns="0" rIns="0" tIns="0" bIns="0">
            <a:spAutoFit/>
          </a:bodyPr>
          <a:lstStyle/>
          <a:p>
            <a:pPr algn="l">
              <a:spcAft>
                <a:spcPts val="400"/>
              </a:spcAft>
            </a:pPr>
            <a:r>
              <a:rPr sz="1300">
                <a:solidFill>
                  <a:srgbClr val="00378A"/>
                </a:solidFill>
              </a:rPr>
              <a:t>Taalmodel + command line </a:t>
            </a:r>
            <a:r>
              <a:rPr b="1" sz="1300">
                <a:solidFill>
                  <a:srgbClr val="00378A"/>
                </a:solidFill>
              </a:rPr>
              <a:t>bij de agent-host</a:t>
            </a:r>
          </a:p>
          <a:p>
            <a:pPr algn="l">
              <a:spcAft>
                <a:spcPts val="400"/>
              </a:spcAft>
            </a:pPr>
            <a:r>
              <a:rPr sz="1300">
                <a:solidFill>
                  <a:srgbClr val="00378A"/>
                </a:solidFill>
              </a:rPr>
              <a:t>Werkt op een kopie van je repo</a:t>
            </a:r>
          </a:p>
        </p:txBody>
      </p:sp>
      <p:sp>
        <p:nvSpPr>
          <p:cNvPr id="12" name="TextBox 11"/>
          <p:cNvSpPr txBox="1"/>
          <p:nvPr/>
        </p:nvSpPr>
        <p:spPr>
          <a:xfrm>
            <a:off x="384048" y="3657600"/>
            <a:ext cx="8138160" cy="731520"/>
          </a:xfrm>
          <a:prstGeom prst="rect">
            <a:avLst/>
          </a:prstGeom>
          <a:noFill/>
        </p:spPr>
        <p:txBody>
          <a:bodyPr wrap="square" anchor="t" lIns="0" rIns="0" tIns="0" bIns="0">
            <a:spAutoFit/>
          </a:bodyPr>
          <a:lstStyle/>
          <a:p>
            <a:pPr algn="l">
              <a:spcAft>
                <a:spcPts val="400"/>
              </a:spcAft>
            </a:pPr>
            <a:r>
              <a:rPr sz="1500">
                <a:solidFill>
                  <a:srgbClr val="00378A"/>
                </a:solidFill>
              </a:rPr>
              <a:t>De kern: </a:t>
            </a:r>
            <a:r>
              <a:rPr b="1" sz="1500">
                <a:solidFill>
                  <a:srgbClr val="00378A"/>
                </a:solidFill>
              </a:rPr>
              <a:t>een taalmodel met een command line en bepaalde rechten.</a:t>
            </a:r>
          </a:p>
          <a:p>
            <a:pPr algn="l">
              <a:spcAft>
                <a:spcPts val="400"/>
              </a:spcAft>
            </a:pPr>
            <a:r>
              <a:rPr sz="1500">
                <a:solidFill>
                  <a:srgbClr val="00378A"/>
                </a:solidFill>
              </a:rPr>
              <a:t>Met command line access kan hij </a:t>
            </a:r>
            <a:r>
              <a:rPr b="1" sz="1500">
                <a:solidFill>
                  <a:srgbClr val="00378A"/>
                </a:solidFill>
              </a:rPr>
              <a:t>alles (en meer)</a:t>
            </a:r>
            <a:r>
              <a:rPr sz="1500">
                <a:solidFill>
                  <a:srgbClr val="00378A"/>
                </a:solidFill>
              </a:rPr>
              <a:t> wat jij ook op een computer kunt.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Waar draait je agent?</a:t>
            </a:r>
          </a:p>
        </p:txBody>
      </p:sp>
      <p:graphicFrame>
        <p:nvGraphicFramePr>
          <p:cNvPr id="3" name="Table 2"/>
          <p:cNvGraphicFramePr>
            <a:graphicFrameLocks noGrp="1"/>
          </p:cNvGraphicFramePr>
          <p:nvPr/>
        </p:nvGraphicFramePr>
        <p:xfrm>
          <a:off x="384048" y="1691640"/>
          <a:ext cx="8138160" cy="1920240"/>
        </p:xfrm>
        <a:graphic>
          <a:graphicData uri="http://schemas.openxmlformats.org/drawingml/2006/table">
            <a:tbl>
              <a:tblPr firstRow="1" bandRow="1">
                <a:tableStyleId>{5C22544A-7EE6-4342-B048-85BDC9FD1C3A}</a:tableStyleId>
              </a:tblPr>
              <a:tblGrid>
                <a:gridCol w="2743200"/>
                <a:gridCol w="5394960"/>
              </a:tblGrid>
              <a:tr h="384048">
                <a:tc>
                  <a:txBody>
                    <a:bodyPr/>
                    <a:lstStyle/>
                    <a:p>
                      <a:r>
                        <a:rPr b="1" sz="1400">
                          <a:solidFill>
                            <a:srgbClr val="FFFFFF"/>
                          </a:solidFill>
                        </a:rPr>
                        <a:t>Route</a:t>
                      </a:r>
                    </a:p>
                  </a:txBody>
                  <a:tcPr marL="109728" marR="109728" anchor="ctr">
                    <a:solidFill>
                      <a:srgbClr val="FF6600"/>
                    </a:solidFill>
                  </a:tcPr>
                </a:tc>
                <a:tc>
                  <a:txBody>
                    <a:bodyPr/>
                    <a:lstStyle/>
                    <a:p>
                      <a:r>
                        <a:rPr b="1" sz="1400">
                          <a:solidFill>
                            <a:srgbClr val="FFFFFF"/>
                          </a:solidFill>
                        </a:rPr>
                        <a:t>Waar kan hij bij?</a:t>
                      </a:r>
                    </a:p>
                  </a:txBody>
                  <a:tcPr marL="109728" marR="109728" anchor="ctr">
                    <a:solidFill>
                      <a:srgbClr val="FF6600"/>
                    </a:solidFill>
                  </a:tcPr>
                </a:tc>
              </a:tr>
              <a:tr h="384048">
                <a:tc>
                  <a:txBody>
                    <a:bodyPr/>
                    <a:lstStyle/>
                    <a:p>
                      <a:r>
                        <a:rPr sz="1400">
                          <a:solidFill>
                            <a:srgbClr val="00378A"/>
                          </a:solidFill>
                        </a:rPr>
                        <a:t>Chat in de browser</a:t>
                      </a:r>
                    </a:p>
                  </a:txBody>
                  <a:tcPr marL="109728" marR="109728" anchor="ctr">
                    <a:solidFill>
                      <a:srgbClr val="FFFFFF"/>
                    </a:solidFill>
                  </a:tcPr>
                </a:tc>
                <a:tc>
                  <a:txBody>
                    <a:bodyPr/>
                    <a:lstStyle/>
                    <a:p>
                      <a:r>
                        <a:rPr sz="1400">
                          <a:solidFill>
                            <a:srgbClr val="00378A"/>
                          </a:solidFill>
                        </a:rPr>
                        <a:t>Wat je plakt of uploadt, plus tools in de cloud</a:t>
                      </a:r>
                    </a:p>
                  </a:txBody>
                  <a:tcPr marL="109728" marR="109728" anchor="ctr">
                    <a:solidFill>
                      <a:srgbClr val="FFFFFF"/>
                    </a:solidFill>
                  </a:tcPr>
                </a:tc>
              </a:tr>
              <a:tr h="384048">
                <a:tc>
                  <a:txBody>
                    <a:bodyPr/>
                    <a:lstStyle/>
                    <a:p>
                      <a:r>
                        <a:rPr sz="1400">
                          <a:solidFill>
                            <a:srgbClr val="00378A"/>
                          </a:solidFill>
                        </a:rPr>
                        <a:t>IDE (VS Code) / desktop-app</a:t>
                      </a:r>
                    </a:p>
                  </a:txBody>
                  <a:tcPr marL="109728" marR="109728" anchor="ctr">
                    <a:solidFill>
                      <a:srgbClr val="F2F2F2"/>
                    </a:solidFill>
                  </a:tcPr>
                </a:tc>
                <a:tc>
                  <a:txBody>
                    <a:bodyPr/>
                    <a:lstStyle/>
                    <a:p>
                      <a:r>
                        <a:rPr sz="1400">
                          <a:solidFill>
                            <a:srgbClr val="00378A"/>
                          </a:solidFill>
                        </a:rPr>
                        <a:t>Je projectmap, je terminal: </a:t>
                      </a:r>
                      <a:r>
                        <a:rPr b="1" sz="1400">
                          <a:solidFill>
                            <a:srgbClr val="00378A"/>
                          </a:solidFill>
                        </a:rPr>
                        <a:t>aanrader om mee te beginnen</a:t>
                      </a:r>
                    </a:p>
                  </a:txBody>
                  <a:tcPr marL="109728" marR="109728" anchor="ctr">
                    <a:solidFill>
                      <a:srgbClr val="F2F2F2"/>
                    </a:solidFill>
                  </a:tcPr>
                </a:tc>
              </a:tr>
              <a:tr h="384048">
                <a:tc>
                  <a:txBody>
                    <a:bodyPr/>
                    <a:lstStyle/>
                    <a:p>
                      <a:r>
                        <a:rPr sz="1400">
                          <a:solidFill>
                            <a:srgbClr val="00378A"/>
                          </a:solidFill>
                        </a:rPr>
                        <a:t>CLI (terminal)</a:t>
                      </a:r>
                    </a:p>
                  </a:txBody>
                  <a:tcPr marL="109728" marR="109728" anchor="ctr">
                    <a:solidFill>
                      <a:srgbClr val="FFFFFF"/>
                    </a:solidFill>
                  </a:tcPr>
                </a:tc>
                <a:tc>
                  <a:txBody>
                    <a:bodyPr/>
                    <a:lstStyle/>
                    <a:p>
                      <a:r>
                        <a:rPr sz="1400">
                          <a:solidFill>
                            <a:srgbClr val="00378A"/>
                          </a:solidFill>
                        </a:rPr>
                        <a:t>Je projectmap, je terminal</a:t>
                      </a:r>
                    </a:p>
                  </a:txBody>
                  <a:tcPr marL="109728" marR="109728" anchor="ctr">
                    <a:solidFill>
                      <a:srgbClr val="FFFFFF"/>
                    </a:solidFill>
                  </a:tcPr>
                </a:tc>
              </a:tr>
              <a:tr h="384048">
                <a:tc>
                  <a:txBody>
                    <a:bodyPr/>
                    <a:lstStyle/>
                    <a:p>
                      <a:r>
                        <a:rPr sz="1400">
                          <a:solidFill>
                            <a:srgbClr val="00378A"/>
                          </a:solidFill>
                        </a:rPr>
                        <a:t>Sandbox</a:t>
                      </a:r>
                    </a:p>
                  </a:txBody>
                  <a:tcPr marL="109728" marR="109728" anchor="ctr">
                    <a:solidFill>
                      <a:srgbClr val="F2F2F2"/>
                    </a:solidFill>
                  </a:tcPr>
                </a:tc>
                <a:tc>
                  <a:txBody>
                    <a:bodyPr/>
                    <a:lstStyle/>
                    <a:p>
                      <a:r>
                        <a:rPr sz="1400">
                          <a:solidFill>
                            <a:srgbClr val="00378A"/>
                          </a:solidFill>
                        </a:rPr>
                        <a:t>Alleen wat je erin stopt (sessie 2)</a:t>
                      </a:r>
                    </a:p>
                  </a:txBody>
                  <a:tcPr marL="109728" marR="109728" anchor="ctr">
                    <a:solidFill>
                      <a:srgbClr val="F2F2F2"/>
                    </a:solidFill>
                  </a:tcPr>
                </a:tc>
              </a:tr>
            </a:tbl>
          </a:graphicData>
        </a:graphic>
      </p:graphicFrame>
      <p:sp>
        <p:nvSpPr>
          <p:cNvPr id="4" name="TextBox 3"/>
          <p:cNvSpPr txBox="1"/>
          <p:nvPr/>
        </p:nvSpPr>
        <p:spPr>
          <a:xfrm>
            <a:off x="384048" y="3886200"/>
            <a:ext cx="8138160" cy="365760"/>
          </a:xfrm>
          <a:prstGeom prst="rect">
            <a:avLst/>
          </a:prstGeom>
          <a:noFill/>
        </p:spPr>
        <p:txBody>
          <a:bodyPr wrap="square" anchor="t" lIns="0" rIns="0" tIns="0" bIns="0">
            <a:spAutoFit/>
          </a:bodyPr>
          <a:lstStyle/>
          <a:p>
            <a:pPr algn="l">
              <a:spcAft>
                <a:spcPts val="400"/>
              </a:spcAft>
            </a:pPr>
            <a:r>
              <a:rPr sz="1500">
                <a:solidFill>
                  <a:srgbClr val="FF6600"/>
                </a:solidFill>
              </a:rPr>
              <a:t>De map die je opent, is de wereld van je agent. Open je </a:t>
            </a:r>
            <a:r>
              <a:rPr b="1" sz="1500">
                <a:solidFill>
                  <a:srgbClr val="FF6600"/>
                </a:solidFill>
              </a:rPr>
              <a:t>projectmap</a:t>
            </a:r>
            <a:r>
              <a:rPr sz="1500">
                <a:solidFill>
                  <a:srgbClr val="FF6600"/>
                </a:solidFill>
              </a:rPr>
              <a:t>, niet je hele schijf.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weet de agent tijdens een gesprek?</a:t>
            </a:r>
          </a:p>
        </p:txBody>
      </p:sp>
      <p:sp>
        <p:nvSpPr>
          <p:cNvPr id="3" name="Kaart 1"/>
          <p:cNvSpPr/>
          <p:nvPr/>
        </p:nvSpPr>
        <p:spPr>
          <a:xfrm>
            <a:off x="384048" y="1737360"/>
            <a:ext cx="182880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Prompt</a:t>
            </a:r>
          </a:p>
        </p:txBody>
      </p:sp>
      <p:sp>
        <p:nvSpPr>
          <p:cNvPr id="5" name="TextBox 4"/>
          <p:cNvSpPr txBox="1"/>
          <p:nvPr/>
        </p:nvSpPr>
        <p:spPr>
          <a:xfrm>
            <a:off x="566928" y="2423160"/>
            <a:ext cx="1463040" cy="1005840"/>
          </a:xfrm>
          <a:prstGeom prst="rect">
            <a:avLst/>
          </a:prstGeom>
          <a:noFill/>
        </p:spPr>
        <p:txBody>
          <a:bodyPr wrap="square" anchor="t" lIns="0" rIns="0" tIns="0" bIns="0">
            <a:spAutoFit/>
          </a:bodyPr>
          <a:lstStyle/>
          <a:p>
            <a:pPr algn="l">
              <a:spcAft>
                <a:spcPts val="400"/>
              </a:spcAft>
            </a:pPr>
            <a:r>
              <a:rPr sz="1400">
                <a:solidFill>
                  <a:srgbClr val="00378A"/>
                </a:solidFill>
              </a:rPr>
              <a:t>Wat jij nu vraagt</a:t>
            </a:r>
          </a:p>
        </p:txBody>
      </p:sp>
      <p:sp>
        <p:nvSpPr>
          <p:cNvPr id="6" name="Kaart 2"/>
          <p:cNvSpPr/>
          <p:nvPr/>
        </p:nvSpPr>
        <p:spPr>
          <a:xfrm>
            <a:off x="2487168" y="1737360"/>
            <a:ext cx="182880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7004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Context</a:t>
            </a:r>
          </a:p>
        </p:txBody>
      </p:sp>
      <p:sp>
        <p:nvSpPr>
          <p:cNvPr id="8" name="TextBox 7"/>
          <p:cNvSpPr txBox="1"/>
          <p:nvPr/>
        </p:nvSpPr>
        <p:spPr>
          <a:xfrm>
            <a:off x="2670048" y="2423160"/>
            <a:ext cx="1463040" cy="1005840"/>
          </a:xfrm>
          <a:prstGeom prst="rect">
            <a:avLst/>
          </a:prstGeom>
          <a:noFill/>
        </p:spPr>
        <p:txBody>
          <a:bodyPr wrap="square" anchor="t" lIns="0" rIns="0" tIns="0" bIns="0">
            <a:spAutoFit/>
          </a:bodyPr>
          <a:lstStyle/>
          <a:p>
            <a:pPr algn="l">
              <a:spcAft>
                <a:spcPts val="400"/>
              </a:spcAft>
            </a:pPr>
            <a:r>
              <a:rPr sz="1400">
                <a:solidFill>
                  <a:srgbClr val="00378A"/>
                </a:solidFill>
              </a:rPr>
              <a:t>Wat staat er in de map?</a:t>
            </a:r>
          </a:p>
          <a:p>
            <a:pPr algn="l">
              <a:spcAft>
                <a:spcPts val="400"/>
              </a:spcAft>
            </a:pPr>
            <a:r>
              <a:rPr sz="1400">
                <a:solidFill>
                  <a:srgbClr val="00378A"/>
                </a:solidFill>
              </a:rPr>
              <a:t>Wat staat er in </a:t>
            </a:r>
            <a:r>
              <a:rPr sz="1400">
                <a:solidFill>
                  <a:srgbClr val="00378A"/>
                </a:solidFill>
                <a:latin typeface="Consolas"/>
              </a:rPr>
              <a:t>AGENTS.md</a:t>
            </a:r>
            <a:r>
              <a:rPr sz="1400">
                <a:solidFill>
                  <a:srgbClr val="00378A"/>
                </a:solidFill>
              </a:rPr>
              <a:t>?</a:t>
            </a:r>
          </a:p>
        </p:txBody>
      </p:sp>
      <p:sp>
        <p:nvSpPr>
          <p:cNvPr id="9" name="Kaart 3"/>
          <p:cNvSpPr/>
          <p:nvPr/>
        </p:nvSpPr>
        <p:spPr>
          <a:xfrm>
            <a:off x="4590288" y="1737360"/>
            <a:ext cx="182880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Skills</a:t>
            </a:r>
          </a:p>
        </p:txBody>
      </p:sp>
      <p:sp>
        <p:nvSpPr>
          <p:cNvPr id="11" name="TextBox 10"/>
          <p:cNvSpPr txBox="1"/>
          <p:nvPr/>
        </p:nvSpPr>
        <p:spPr>
          <a:xfrm>
            <a:off x="4773168" y="2423160"/>
            <a:ext cx="1463040" cy="1005840"/>
          </a:xfrm>
          <a:prstGeom prst="rect">
            <a:avLst/>
          </a:prstGeom>
          <a:noFill/>
        </p:spPr>
        <p:txBody>
          <a:bodyPr wrap="square" anchor="t" lIns="0" rIns="0" tIns="0" bIns="0">
            <a:spAutoFit/>
          </a:bodyPr>
          <a:lstStyle/>
          <a:p>
            <a:pPr algn="l">
              <a:spcAft>
                <a:spcPts val="400"/>
              </a:spcAft>
            </a:pPr>
            <a:r>
              <a:rPr sz="1400">
                <a:solidFill>
                  <a:srgbClr val="00378A"/>
                </a:solidFill>
              </a:rPr>
              <a:t>Herbruikbare instructies</a:t>
            </a:r>
          </a:p>
        </p:txBody>
      </p:sp>
      <p:sp>
        <p:nvSpPr>
          <p:cNvPr id="12" name="Kaart 4"/>
          <p:cNvSpPr/>
          <p:nvPr/>
        </p:nvSpPr>
        <p:spPr>
          <a:xfrm>
            <a:off x="6693407" y="1737360"/>
            <a:ext cx="182880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7628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Hand-off</a:t>
            </a:r>
          </a:p>
        </p:txBody>
      </p:sp>
      <p:sp>
        <p:nvSpPr>
          <p:cNvPr id="14" name="TextBox 13"/>
          <p:cNvSpPr txBox="1"/>
          <p:nvPr/>
        </p:nvSpPr>
        <p:spPr>
          <a:xfrm>
            <a:off x="6876288" y="2423160"/>
            <a:ext cx="1463040" cy="1005840"/>
          </a:xfrm>
          <a:prstGeom prst="rect">
            <a:avLst/>
          </a:prstGeom>
          <a:noFill/>
        </p:spPr>
        <p:txBody>
          <a:bodyPr wrap="square" anchor="t" lIns="0" rIns="0" tIns="0" bIns="0">
            <a:spAutoFit/>
          </a:bodyPr>
          <a:lstStyle/>
          <a:p>
            <a:pPr algn="l">
              <a:spcAft>
                <a:spcPts val="400"/>
              </a:spcAft>
            </a:pPr>
            <a:r>
              <a:rPr sz="1400">
                <a:solidFill>
                  <a:srgbClr val="00378A"/>
                </a:solidFill>
              </a:rPr>
              <a:t>Wat neemt de volgende sessie mee?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Iedereen aan de Git: waarom?</a:t>
            </a:r>
          </a:p>
        </p:txBody>
      </p:sp>
      <p:sp>
        <p:nvSpPr>
          <p:cNvPr id="3" name="Kaart 1"/>
          <p:cNvSpPr/>
          <p:nvPr/>
        </p:nvSpPr>
        <p:spPr>
          <a:xfrm>
            <a:off x="384048" y="1737360"/>
            <a:ext cx="1828800" cy="20116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Samenwerken</a:t>
            </a:r>
          </a:p>
        </p:txBody>
      </p:sp>
      <p:sp>
        <p:nvSpPr>
          <p:cNvPr id="5" name="TextBox 4"/>
          <p:cNvSpPr txBox="1"/>
          <p:nvPr/>
        </p:nvSpPr>
        <p:spPr>
          <a:xfrm>
            <a:off x="566928" y="2423160"/>
            <a:ext cx="1463040" cy="1188720"/>
          </a:xfrm>
          <a:prstGeom prst="rect">
            <a:avLst/>
          </a:prstGeom>
          <a:noFill/>
        </p:spPr>
        <p:txBody>
          <a:bodyPr wrap="square" anchor="t" lIns="0" rIns="0" tIns="0" bIns="0">
            <a:spAutoFit/>
          </a:bodyPr>
          <a:lstStyle/>
          <a:p>
            <a:pPr algn="l">
              <a:spcAft>
                <a:spcPts val="400"/>
              </a:spcAft>
            </a:pPr>
            <a:r>
              <a:rPr sz="1300">
                <a:solidFill>
                  <a:srgbClr val="00378A"/>
                </a:solidFill>
              </a:rPr>
              <a:t>Van computer naar computer, van persoon naar persoon</a:t>
            </a:r>
          </a:p>
        </p:txBody>
      </p:sp>
      <p:sp>
        <p:nvSpPr>
          <p:cNvPr id="6" name="Kaart 2"/>
          <p:cNvSpPr/>
          <p:nvPr/>
        </p:nvSpPr>
        <p:spPr>
          <a:xfrm>
            <a:off x="2487168" y="1737360"/>
            <a:ext cx="1828800" cy="20116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7004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Overzicht</a:t>
            </a:r>
          </a:p>
        </p:txBody>
      </p:sp>
      <p:sp>
        <p:nvSpPr>
          <p:cNvPr id="8" name="TextBox 7"/>
          <p:cNvSpPr txBox="1"/>
          <p:nvPr/>
        </p:nvSpPr>
        <p:spPr>
          <a:xfrm>
            <a:off x="2670048" y="2423160"/>
            <a:ext cx="1463040" cy="1188720"/>
          </a:xfrm>
          <a:prstGeom prst="rect">
            <a:avLst/>
          </a:prstGeom>
          <a:noFill/>
        </p:spPr>
        <p:txBody>
          <a:bodyPr wrap="square" anchor="t" lIns="0" rIns="0" tIns="0" bIns="0">
            <a:spAutoFit/>
          </a:bodyPr>
          <a:lstStyle/>
          <a:p>
            <a:pPr algn="l">
              <a:spcAft>
                <a:spcPts val="400"/>
              </a:spcAft>
            </a:pPr>
            <a:r>
              <a:rPr sz="1300">
                <a:solidFill>
                  <a:srgbClr val="00378A"/>
                </a:solidFill>
              </a:rPr>
              <a:t>Bewuste versies, makkelijk terugdraaien</a:t>
            </a:r>
          </a:p>
        </p:txBody>
      </p:sp>
      <p:sp>
        <p:nvSpPr>
          <p:cNvPr id="9" name="Kaart 3"/>
          <p:cNvSpPr/>
          <p:nvPr/>
        </p:nvSpPr>
        <p:spPr>
          <a:xfrm>
            <a:off x="4590288" y="1737360"/>
            <a:ext cx="1828800" cy="20116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Agents</a:t>
            </a:r>
          </a:p>
        </p:txBody>
      </p:sp>
      <p:sp>
        <p:nvSpPr>
          <p:cNvPr id="11" name="TextBox 10"/>
          <p:cNvSpPr txBox="1"/>
          <p:nvPr/>
        </p:nvSpPr>
        <p:spPr>
          <a:xfrm>
            <a:off x="4773168" y="2423160"/>
            <a:ext cx="1463040" cy="1188720"/>
          </a:xfrm>
          <a:prstGeom prst="rect">
            <a:avLst/>
          </a:prstGeom>
          <a:noFill/>
        </p:spPr>
        <p:txBody>
          <a:bodyPr wrap="square" anchor="t" lIns="0" rIns="0" tIns="0" bIns="0">
            <a:spAutoFit/>
          </a:bodyPr>
          <a:lstStyle/>
          <a:p>
            <a:pPr algn="l">
              <a:spcAft>
                <a:spcPts val="400"/>
              </a:spcAft>
            </a:pPr>
            <a:r>
              <a:rPr sz="1300">
                <a:solidFill>
                  <a:srgbClr val="00378A"/>
                </a:solidFill>
              </a:rPr>
              <a:t>Je agent werkt in en met je repo</a:t>
            </a:r>
          </a:p>
        </p:txBody>
      </p:sp>
      <p:sp>
        <p:nvSpPr>
          <p:cNvPr id="12" name="Kaart 4"/>
          <p:cNvSpPr/>
          <p:nvPr/>
        </p:nvSpPr>
        <p:spPr>
          <a:xfrm>
            <a:off x="6693407" y="1737360"/>
            <a:ext cx="1828800" cy="20116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7628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Duurzaam</a:t>
            </a:r>
          </a:p>
        </p:txBody>
      </p:sp>
      <p:sp>
        <p:nvSpPr>
          <p:cNvPr id="14" name="TextBox 13"/>
          <p:cNvSpPr txBox="1"/>
          <p:nvPr/>
        </p:nvSpPr>
        <p:spPr>
          <a:xfrm>
            <a:off x="6876288" y="2423160"/>
            <a:ext cx="1463040" cy="1188720"/>
          </a:xfrm>
          <a:prstGeom prst="rect">
            <a:avLst/>
          </a:prstGeom>
          <a:noFill/>
        </p:spPr>
        <p:txBody>
          <a:bodyPr wrap="square" anchor="t" lIns="0" rIns="0" tIns="0" bIns="0">
            <a:spAutoFit/>
          </a:bodyPr>
          <a:lstStyle/>
          <a:p>
            <a:pPr algn="l">
              <a:spcAft>
                <a:spcPts val="400"/>
              </a:spcAft>
            </a:pPr>
            <a:r>
              <a:rPr sz="1300">
                <a:solidFill>
                  <a:srgbClr val="00378A"/>
                </a:solidFill>
              </a:rPr>
              <a:t>Code én intenties gedocumenteerd: het werkt ook als jij onder de bus komt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Waar staat wat de agent weet?</a:t>
            </a:r>
          </a:p>
        </p:txBody>
      </p:sp>
      <p:pic>
        <p:nvPicPr>
          <p:cNvPr id="3" name="Picture 2" descr="verkenner-cursusrepo.png"/>
          <p:cNvPicPr>
            <a:picLocks noChangeAspect="1"/>
          </p:cNvPicPr>
          <p:nvPr/>
        </p:nvPicPr>
        <p:blipFill>
          <a:blip r:embed="rId2"/>
          <a:stretch>
            <a:fillRect/>
          </a:stretch>
        </p:blipFill>
        <p:spPr>
          <a:xfrm>
            <a:off x="384048" y="1508760"/>
            <a:ext cx="5091787" cy="2926080"/>
          </a:xfrm>
          <a:prstGeom prst="rect">
            <a:avLst/>
          </a:prstGeom>
        </p:spPr>
      </p:pic>
      <p:sp>
        <p:nvSpPr>
          <p:cNvPr id="4" name="TextBox 3"/>
          <p:cNvSpPr txBox="1"/>
          <p:nvPr/>
        </p:nvSpPr>
        <p:spPr>
          <a:xfrm>
            <a:off x="5760720" y="1645920"/>
            <a:ext cx="2743200" cy="2743200"/>
          </a:xfrm>
          <a:prstGeom prst="rect">
            <a:avLst/>
          </a:prstGeom>
          <a:noFill/>
        </p:spPr>
        <p:txBody>
          <a:bodyPr wrap="square" anchor="t" lIns="0" rIns="0" tIns="0" bIns="0">
            <a:spAutoFit/>
          </a:bodyPr>
          <a:lstStyle/>
          <a:p>
            <a:pPr algn="l">
              <a:spcAft>
                <a:spcPts val="400"/>
              </a:spcAft>
            </a:pPr>
            <a:r>
              <a:rPr b="1" sz="1300">
                <a:solidFill>
                  <a:srgbClr val="00378A"/>
                </a:solidFill>
              </a:rPr>
              <a:t>AGENTS.md</a:t>
            </a:r>
            <a:r>
              <a:rPr sz="1300">
                <a:solidFill>
                  <a:srgbClr val="00378A"/>
                </a:solidFill>
              </a:rPr>
              <a:t> leest de agent bij elke sessie.</a:t>
            </a:r>
          </a:p>
          <a:p>
            <a:pPr algn="l">
              <a:spcAft>
                <a:spcPts val="400"/>
              </a:spcAft>
            </a:pPr>
          </a:p>
          <a:p>
            <a:pPr algn="l">
              <a:spcAft>
                <a:spcPts val="400"/>
              </a:spcAft>
            </a:pPr>
            <a:r>
              <a:rPr sz="1300">
                <a:solidFill>
                  <a:srgbClr val="00378A"/>
                </a:solidFill>
              </a:rPr>
              <a:t>Een </a:t>
            </a:r>
            <a:r>
              <a:rPr b="1" sz="1300">
                <a:solidFill>
                  <a:srgbClr val="00378A"/>
                </a:solidFill>
              </a:rPr>
              <a:t>skill</a:t>
            </a:r>
            <a:r>
              <a:rPr sz="1300">
                <a:solidFill>
                  <a:srgbClr val="00378A"/>
                </a:solidFill>
              </a:rPr>
              <a:t> pakt hij op als de taak erom vraagt.</a:t>
            </a:r>
          </a:p>
          <a:p>
            <a:pPr algn="l">
              <a:spcAft>
                <a:spcPts val="400"/>
              </a:spcAft>
            </a:pPr>
          </a:p>
          <a:p>
            <a:pPr algn="l">
              <a:spcAft>
                <a:spcPts val="400"/>
              </a:spcAft>
            </a:pPr>
            <a:r>
              <a:rPr sz="1300">
                <a:solidFill>
                  <a:srgbClr val="00378A"/>
                </a:solidFill>
              </a:rPr>
              <a:t>Een </a:t>
            </a:r>
            <a:r>
              <a:rPr b="1" sz="1300">
                <a:solidFill>
                  <a:srgbClr val="00378A"/>
                </a:solidFill>
              </a:rPr>
              <a:t>hand-off</a:t>
            </a:r>
            <a:r>
              <a:rPr sz="1300">
                <a:solidFill>
                  <a:srgbClr val="00378A"/>
                </a:solidFill>
              </a:rPr>
              <a:t> laat je hem lezen: "Lees de laatste hand-off."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Git-begrippen (1): jouw repo</a:t>
            </a:r>
          </a:p>
        </p:txBody>
      </p:sp>
      <p:graphicFrame>
        <p:nvGraphicFramePr>
          <p:cNvPr id="3" name="Table 2"/>
          <p:cNvGraphicFramePr>
            <a:graphicFrameLocks noGrp="1"/>
          </p:cNvGraphicFramePr>
          <p:nvPr/>
        </p:nvGraphicFramePr>
        <p:xfrm>
          <a:off x="384048" y="1691640"/>
          <a:ext cx="8138160" cy="2514600"/>
        </p:xfrm>
        <a:graphic>
          <a:graphicData uri="http://schemas.openxmlformats.org/drawingml/2006/table">
            <a:tbl>
              <a:tblPr firstRow="1" bandRow="1">
                <a:tableStyleId>{5C22544A-7EE6-4342-B048-85BDC9FD1C3A}</a:tableStyleId>
              </a:tblPr>
              <a:tblGrid>
                <a:gridCol w="1645920"/>
                <a:gridCol w="6492240"/>
              </a:tblGrid>
              <a:tr h="502920">
                <a:tc>
                  <a:txBody>
                    <a:bodyPr/>
                    <a:lstStyle/>
                    <a:p>
                      <a:r>
                        <a:rPr b="1" sz="1300">
                          <a:solidFill>
                            <a:srgbClr val="FFFFFF"/>
                          </a:solidFill>
                        </a:rPr>
                        <a:t>Begrip</a:t>
                      </a:r>
                    </a:p>
                  </a:txBody>
                  <a:tcPr marL="109728" marR="109728" anchor="ctr">
                    <a:solidFill>
                      <a:srgbClr val="FF6600"/>
                    </a:solidFill>
                  </a:tcPr>
                </a:tc>
                <a:tc>
                  <a:txBody>
                    <a:bodyPr/>
                    <a:lstStyle/>
                    <a:p>
                      <a:r>
                        <a:rPr b="1" sz="1300">
                          <a:solidFill>
                            <a:srgbClr val="FFFFFF"/>
                          </a:solidFill>
                        </a:rPr>
                        <a:t>Wat het is</a:t>
                      </a:r>
                    </a:p>
                  </a:txBody>
                  <a:tcPr marL="109728" marR="109728" anchor="ctr">
                    <a:solidFill>
                      <a:srgbClr val="FF6600"/>
                    </a:solidFill>
                  </a:tcPr>
                </a:tc>
              </a:tr>
              <a:tr h="502920">
                <a:tc>
                  <a:txBody>
                    <a:bodyPr/>
                    <a:lstStyle/>
                    <a:p>
                      <a:r>
                        <a:rPr sz="1300">
                          <a:solidFill>
                            <a:srgbClr val="00378A"/>
                          </a:solidFill>
                          <a:latin typeface="Consolas"/>
                        </a:rPr>
                        <a:t>git init</a:t>
                      </a:r>
                    </a:p>
                  </a:txBody>
                  <a:tcPr marL="109728" marR="109728" anchor="ctr">
                    <a:solidFill>
                      <a:srgbClr val="FFFFFF"/>
                    </a:solidFill>
                  </a:tcPr>
                </a:tc>
                <a:tc>
                  <a:txBody>
                    <a:bodyPr/>
                    <a:lstStyle/>
                    <a:p>
                      <a:r>
                        <a:rPr sz="1300">
                          <a:solidFill>
                            <a:srgbClr val="00378A"/>
                          </a:solidFill>
                        </a:rPr>
                        <a:t>Start een nieuwe repo. Kies meteen een goede naam: </a:t>
                      </a:r>
                      <a:r>
                        <a:rPr sz="1300">
                          <a:solidFill>
                            <a:srgbClr val="00378A"/>
                          </a:solidFill>
                          <a:latin typeface="Consolas"/>
                        </a:rPr>
                        <a:t>doelgroep-doel-specifiek</a:t>
                      </a:r>
                    </a:p>
                  </a:txBody>
                  <a:tcPr marL="109728" marR="109728" anchor="ctr">
                    <a:solidFill>
                      <a:srgbClr val="FFFFFF"/>
                    </a:solidFill>
                  </a:tcPr>
                </a:tc>
              </a:tr>
              <a:tr h="502920">
                <a:tc>
                  <a:txBody>
                    <a:bodyPr/>
                    <a:lstStyle/>
                    <a:p>
                      <a:r>
                        <a:rPr sz="1300">
                          <a:solidFill>
                            <a:srgbClr val="00378A"/>
                          </a:solidFill>
                          <a:latin typeface="Consolas"/>
                        </a:rPr>
                        <a:t>git clone</a:t>
                      </a:r>
                    </a:p>
                  </a:txBody>
                  <a:tcPr marL="109728" marR="109728" anchor="ctr">
                    <a:solidFill>
                      <a:srgbClr val="F2F2F2"/>
                    </a:solidFill>
                  </a:tcPr>
                </a:tc>
                <a:tc>
                  <a:txBody>
                    <a:bodyPr/>
                    <a:lstStyle/>
                    <a:p>
                      <a:r>
                        <a:rPr sz="1300">
                          <a:solidFill>
                            <a:srgbClr val="00378A"/>
                          </a:solidFill>
                        </a:rPr>
                        <a:t>Haal een kopie van een bestaande repo naar je computer</a:t>
                      </a:r>
                    </a:p>
                  </a:txBody>
                  <a:tcPr marL="109728" marR="109728" anchor="ctr">
                    <a:solidFill>
                      <a:srgbClr val="F2F2F2"/>
                    </a:solidFill>
                  </a:tcPr>
                </a:tc>
              </a:tr>
              <a:tr h="502920">
                <a:tc>
                  <a:txBody>
                    <a:bodyPr/>
                    <a:lstStyle/>
                    <a:p>
                      <a:r>
                        <a:rPr sz="1300">
                          <a:solidFill>
                            <a:srgbClr val="00378A"/>
                          </a:solidFill>
                          <a:latin typeface="Consolas"/>
                        </a:rPr>
                        <a:t>git commit</a:t>
                      </a:r>
                    </a:p>
                  </a:txBody>
                  <a:tcPr marL="109728" marR="109728" anchor="ctr">
                    <a:solidFill>
                      <a:srgbClr val="FFFFFF"/>
                    </a:solidFill>
                  </a:tcPr>
                </a:tc>
                <a:tc>
                  <a:txBody>
                    <a:bodyPr/>
                    <a:lstStyle/>
                    <a:p>
                      <a:r>
                        <a:rPr sz="1300">
                          <a:solidFill>
                            <a:srgbClr val="00378A"/>
                          </a:solidFill>
                        </a:rPr>
                        <a:t>Een </a:t>
                      </a:r>
                      <a:r>
                        <a:rPr b="1" sz="1300">
                          <a:solidFill>
                            <a:srgbClr val="00378A"/>
                          </a:solidFill>
                        </a:rPr>
                        <a:t>bewust gebundelde optelsom van wijzigingen</a:t>
                      </a:r>
                      <a:r>
                        <a:rPr sz="1300">
                          <a:solidFill>
                            <a:srgbClr val="00378A"/>
                          </a:solidFill>
                        </a:rPr>
                        <a:t>, met een bericht dat zegt waarom</a:t>
                      </a:r>
                    </a:p>
                  </a:txBody>
                  <a:tcPr marL="109728" marR="109728" anchor="ctr">
                    <a:solidFill>
                      <a:srgbClr val="FFFFFF"/>
                    </a:solidFill>
                  </a:tcPr>
                </a:tc>
              </a:tr>
              <a:tr h="502920">
                <a:tc>
                  <a:txBody>
                    <a:bodyPr/>
                    <a:lstStyle/>
                    <a:p>
                      <a:r>
                        <a:rPr sz="1300">
                          <a:solidFill>
                            <a:srgbClr val="00378A"/>
                          </a:solidFill>
                          <a:latin typeface="Consolas"/>
                        </a:rPr>
                        <a:t>git push</a:t>
                      </a:r>
                    </a:p>
                  </a:txBody>
                  <a:tcPr marL="109728" marR="109728" anchor="ctr">
                    <a:solidFill>
                      <a:srgbClr val="F2F2F2"/>
                    </a:solidFill>
                  </a:tcPr>
                </a:tc>
                <a:tc>
                  <a:txBody>
                    <a:bodyPr/>
                    <a:lstStyle/>
                    <a:p>
                      <a:r>
                        <a:rPr sz="1300">
                          <a:solidFill>
                            <a:srgbClr val="00378A"/>
                          </a:solidFill>
                        </a:rPr>
                        <a:t>Stuur jouw commits naar GitHub</a:t>
                      </a:r>
                    </a:p>
                  </a:txBody>
                  <a:tcPr marL="109728" marR="109728" anchor="ctr">
                    <a:solidFill>
                      <a:srgbClr val="F2F2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Git-begrippen (2): samenwerken</a:t>
            </a:r>
          </a:p>
        </p:txBody>
      </p:sp>
      <p:graphicFrame>
        <p:nvGraphicFramePr>
          <p:cNvPr id="3" name="Table 2"/>
          <p:cNvGraphicFramePr>
            <a:graphicFrameLocks noGrp="1"/>
          </p:cNvGraphicFramePr>
          <p:nvPr/>
        </p:nvGraphicFramePr>
        <p:xfrm>
          <a:off x="384048" y="1691640"/>
          <a:ext cx="8138160" cy="2514600"/>
        </p:xfrm>
        <a:graphic>
          <a:graphicData uri="http://schemas.openxmlformats.org/drawingml/2006/table">
            <a:tbl>
              <a:tblPr firstRow="1" bandRow="1">
                <a:tableStyleId>{5C22544A-7EE6-4342-B048-85BDC9FD1C3A}</a:tableStyleId>
              </a:tblPr>
              <a:tblGrid>
                <a:gridCol w="1645920"/>
                <a:gridCol w="6492240"/>
              </a:tblGrid>
              <a:tr h="502920">
                <a:tc>
                  <a:txBody>
                    <a:bodyPr/>
                    <a:lstStyle/>
                    <a:p>
                      <a:r>
                        <a:rPr b="1" sz="1300">
                          <a:solidFill>
                            <a:srgbClr val="FFFFFF"/>
                          </a:solidFill>
                        </a:rPr>
                        <a:t>Begrip</a:t>
                      </a:r>
                    </a:p>
                  </a:txBody>
                  <a:tcPr marL="109728" marR="109728" anchor="ctr">
                    <a:solidFill>
                      <a:srgbClr val="FF6600"/>
                    </a:solidFill>
                  </a:tcPr>
                </a:tc>
                <a:tc>
                  <a:txBody>
                    <a:bodyPr/>
                    <a:lstStyle/>
                    <a:p>
                      <a:r>
                        <a:rPr b="1" sz="1300">
                          <a:solidFill>
                            <a:srgbClr val="FFFFFF"/>
                          </a:solidFill>
                        </a:rPr>
                        <a:t>Wat het is</a:t>
                      </a:r>
                    </a:p>
                  </a:txBody>
                  <a:tcPr marL="109728" marR="109728" anchor="ctr">
                    <a:solidFill>
                      <a:srgbClr val="FF6600"/>
                    </a:solidFill>
                  </a:tcPr>
                </a:tc>
              </a:tr>
              <a:tr h="502920">
                <a:tc>
                  <a:txBody>
                    <a:bodyPr/>
                    <a:lstStyle/>
                    <a:p>
                      <a:r>
                        <a:rPr sz="1300">
                          <a:solidFill>
                            <a:srgbClr val="00378A"/>
                          </a:solidFill>
                          <a:latin typeface="Consolas"/>
                        </a:rPr>
                        <a:t>git fetch</a:t>
                      </a:r>
                    </a:p>
                  </a:txBody>
                  <a:tcPr marL="109728" marR="109728" anchor="ctr">
                    <a:solidFill>
                      <a:srgbClr val="FFFFFF"/>
                    </a:solidFill>
                  </a:tcPr>
                </a:tc>
                <a:tc>
                  <a:txBody>
                    <a:bodyPr/>
                    <a:lstStyle/>
                    <a:p>
                      <a:r>
                        <a:rPr sz="1300">
                          <a:solidFill>
                            <a:srgbClr val="00378A"/>
                          </a:solidFill>
                        </a:rPr>
                        <a:t>Kijk wat er nieuw is op GitHub. </a:t>
                      </a:r>
                      <a:r>
                        <a:rPr b="1" sz="1300">
                          <a:solidFill>
                            <a:srgbClr val="00378A"/>
                          </a:solidFill>
                        </a:rPr>
                        <a:t>Je bestanden veranderen niet</a:t>
                      </a:r>
                    </a:p>
                  </a:txBody>
                  <a:tcPr marL="109728" marR="109728" anchor="ctr">
                    <a:solidFill>
                      <a:srgbClr val="FFFFFF"/>
                    </a:solidFill>
                  </a:tcPr>
                </a:tc>
              </a:tr>
              <a:tr h="502920">
                <a:tc>
                  <a:txBody>
                    <a:bodyPr/>
                    <a:lstStyle/>
                    <a:p>
                      <a:r>
                        <a:rPr sz="1300">
                          <a:solidFill>
                            <a:srgbClr val="00378A"/>
                          </a:solidFill>
                          <a:latin typeface="Consolas"/>
                        </a:rPr>
                        <a:t>git pull</a:t>
                      </a:r>
                    </a:p>
                  </a:txBody>
                  <a:tcPr marL="109728" marR="109728" anchor="ctr">
                    <a:solidFill>
                      <a:srgbClr val="F2F2F2"/>
                    </a:solidFill>
                  </a:tcPr>
                </a:tc>
                <a:tc>
                  <a:txBody>
                    <a:bodyPr/>
                    <a:lstStyle/>
                    <a:p>
                      <a:r>
                        <a:rPr sz="1300">
                          <a:solidFill>
                            <a:srgbClr val="00378A"/>
                          </a:solidFill>
                        </a:rPr>
                        <a:t>Fetch, en voeg het nieuwe </a:t>
                      </a:r>
                      <a:r>
                        <a:rPr b="1" sz="1300">
                          <a:solidFill>
                            <a:srgbClr val="00378A"/>
                          </a:solidFill>
                        </a:rPr>
                        <a:t>meteen samen</a:t>
                      </a:r>
                      <a:r>
                        <a:rPr sz="1300">
                          <a:solidFill>
                            <a:srgbClr val="00378A"/>
                          </a:solidFill>
                        </a:rPr>
                        <a:t> met jouw bestanden</a:t>
                      </a:r>
                    </a:p>
                  </a:txBody>
                  <a:tcPr marL="109728" marR="109728" anchor="ctr">
                    <a:solidFill>
                      <a:srgbClr val="F2F2F2"/>
                    </a:solidFill>
                  </a:tcPr>
                </a:tc>
              </a:tr>
              <a:tr h="502920">
                <a:tc>
                  <a:txBody>
                    <a:bodyPr/>
                    <a:lstStyle/>
                    <a:p>
                      <a:r>
                        <a:rPr sz="1300">
                          <a:solidFill>
                            <a:srgbClr val="00378A"/>
                          </a:solidFill>
                        </a:rPr>
                        <a:t>Merge conflict</a:t>
                      </a:r>
                    </a:p>
                  </a:txBody>
                  <a:tcPr marL="109728" marR="109728" anchor="ctr">
                    <a:solidFill>
                      <a:srgbClr val="FFFFFF"/>
                    </a:solidFill>
                  </a:tcPr>
                </a:tc>
                <a:tc>
                  <a:txBody>
                    <a:bodyPr/>
                    <a:lstStyle/>
                    <a:p>
                      <a:r>
                        <a:rPr sz="1300">
                          <a:solidFill>
                            <a:srgbClr val="00378A"/>
                          </a:solidFill>
                        </a:rPr>
                        <a:t>Git vergelijkt </a:t>
                      </a:r>
                      <a:r>
                        <a:rPr b="1" sz="1300">
                          <a:solidFill>
                            <a:srgbClr val="00378A"/>
                          </a:solidFill>
                        </a:rPr>
                        <a:t>regel voor regel</a:t>
                      </a:r>
                      <a:r>
                        <a:rPr sz="1300">
                          <a:solidFill>
                            <a:srgbClr val="00378A"/>
                          </a:solidFill>
                        </a:rPr>
                        <a:t>. Twee verschillende wijzigingen op dezelfde regel van hetzelfde bestand = conflict. Jij kiest</a:t>
                      </a:r>
                    </a:p>
                  </a:txBody>
                  <a:tcPr marL="109728" marR="109728" anchor="ctr">
                    <a:solidFill>
                      <a:srgbClr val="FFFFFF"/>
                    </a:solidFill>
                  </a:tcPr>
                </a:tc>
              </a:tr>
              <a:tr h="502920">
                <a:tc>
                  <a:txBody>
                    <a:bodyPr/>
                    <a:lstStyle/>
                    <a:p>
                      <a:r>
                        <a:rPr sz="1300">
                          <a:solidFill>
                            <a:srgbClr val="00378A"/>
                          </a:solidFill>
                        </a:rPr>
                        <a:t>Branch</a:t>
                      </a:r>
                    </a:p>
                  </a:txBody>
                  <a:tcPr marL="109728" marR="109728" anchor="ctr">
                    <a:solidFill>
                      <a:srgbClr val="F2F2F2"/>
                    </a:solidFill>
                  </a:tcPr>
                </a:tc>
                <a:tc>
                  <a:txBody>
                    <a:bodyPr/>
                    <a:lstStyle/>
                    <a:p>
                      <a:r>
                        <a:rPr sz="1300">
                          <a:solidFill>
                            <a:srgbClr val="00378A"/>
                          </a:solidFill>
                        </a:rPr>
                        <a:t>Een parallelle versie van je repo. Geavanceerd: komt in sessie 2</a:t>
                      </a:r>
                    </a:p>
                  </a:txBody>
                  <a:tcPr marL="109728" marR="109728" anchor="ctr">
                    <a:solidFill>
                      <a:srgbClr val="F2F2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ver-ask-vibe-coder-commits.png"/>
          <p:cNvPicPr>
            <a:picLocks noChangeAspect="1"/>
          </p:cNvPicPr>
          <p:nvPr/>
        </p:nvPicPr>
        <p:blipFill>
          <a:blip r:embed="rId2"/>
          <a:stretch>
            <a:fillRect/>
          </a:stretch>
        </p:blipFill>
        <p:spPr>
          <a:xfrm>
            <a:off x="2679320" y="411480"/>
            <a:ext cx="3008119" cy="40233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.gitignore: wat hoort er níét in?</a:t>
            </a:r>
          </a:p>
        </p:txBody>
      </p:sp>
      <p:sp>
        <p:nvSpPr>
          <p:cNvPr id="3" name="Code"/>
          <p:cNvSpPr/>
          <p:nvPr/>
        </p:nvSpPr>
        <p:spPr>
          <a:xfrm>
            <a:off x="384048" y="1691640"/>
            <a:ext cx="3291840" cy="2194560"/>
          </a:xfrm>
          <a:prstGeom prst="roundRect">
            <a:avLst>
              <a:gd name="adj" fmla="val 6000"/>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a:solidFill>
                  <a:srgbClr val="DCE4F0"/>
                </a:solidFill>
                <a:latin typeface="Consolas"/>
              </a:rPr>
              <a:t># secrets</a:t>
            </a:r>
          </a:p>
          <a:p>
            <a:pPr algn="l"/>
            <a:r>
              <a:rPr sz="1300">
                <a:solidFill>
                  <a:srgbClr val="DCE4F0"/>
                </a:solidFill>
                <a:latin typeface="Consolas"/>
              </a:rPr>
              <a:t>.env</a:t>
            </a:r>
          </a:p>
          <a:p>
            <a:pPr algn="l"/>
            <a:r>
              <a:rPr sz="1300">
                <a:solidFill>
                  <a:srgbClr val="DCE4F0"/>
                </a:solidFill>
                <a:latin typeface="Consolas"/>
              </a:rPr>
              <a:t> </a:t>
            </a:r>
          </a:p>
          <a:p>
            <a:pPr algn="l"/>
            <a:r>
              <a:rPr sz="1300">
                <a:solidFill>
                  <a:srgbClr val="DCE4F0"/>
                </a:solidFill>
                <a:latin typeface="Consolas"/>
              </a:rPr>
              <a:t># data</a:t>
            </a:r>
          </a:p>
          <a:p>
            <a:pPr algn="l"/>
            <a:r>
              <a:rPr sz="1300">
                <a:solidFill>
                  <a:srgbClr val="DCE4F0"/>
                </a:solidFill>
                <a:latin typeface="Consolas"/>
              </a:rPr>
              <a:t>data/private/*</a:t>
            </a:r>
          </a:p>
          <a:p>
            <a:pPr algn="l"/>
            <a:r>
              <a:rPr sz="1300">
                <a:solidFill>
                  <a:srgbClr val="DCE4F0"/>
                </a:solidFill>
                <a:latin typeface="Consolas"/>
              </a:rPr>
              <a:t> </a:t>
            </a:r>
          </a:p>
          <a:p>
            <a:pPr algn="l"/>
            <a:r>
              <a:rPr sz="1300">
                <a:solidFill>
                  <a:srgbClr val="DCE4F0"/>
                </a:solidFill>
                <a:latin typeface="Consolas"/>
              </a:rPr>
              <a:t># Python</a:t>
            </a:r>
          </a:p>
          <a:p>
            <a:pPr algn="l"/>
            <a:r>
              <a:rPr sz="1300">
                <a:solidFill>
                  <a:srgbClr val="DCE4F0"/>
                </a:solidFill>
                <a:latin typeface="Consolas"/>
              </a:rPr>
              <a:t>.venv/</a:t>
            </a:r>
          </a:p>
          <a:p>
            <a:pPr algn="l"/>
            <a:r>
              <a:rPr sz="1300">
                <a:solidFill>
                  <a:srgbClr val="DCE4F0"/>
                </a:solidFill>
                <a:latin typeface="Consolas"/>
              </a:rPr>
              <a:t>__pycache__/</a:t>
            </a:r>
          </a:p>
        </p:txBody>
      </p:sp>
      <p:sp>
        <p:nvSpPr>
          <p:cNvPr id="4" name="TextBox 3"/>
          <p:cNvSpPr txBox="1"/>
          <p:nvPr/>
        </p:nvSpPr>
        <p:spPr>
          <a:xfrm>
            <a:off x="4023360" y="1691640"/>
            <a:ext cx="4480560" cy="2377440"/>
          </a:xfrm>
          <a:prstGeom prst="rect">
            <a:avLst/>
          </a:prstGeom>
          <a:noFill/>
        </p:spPr>
        <p:txBody>
          <a:bodyPr wrap="square" anchor="t" lIns="0" rIns="0" tIns="0" bIns="0">
            <a:spAutoFit/>
          </a:bodyPr>
          <a:lstStyle/>
          <a:p>
            <a:pPr algn="l">
              <a:spcAft>
                <a:spcPts val="400"/>
              </a:spcAft>
            </a:pPr>
            <a:r>
              <a:rPr sz="1500">
                <a:solidFill>
                  <a:srgbClr val="00378A"/>
                </a:solidFill>
              </a:rPr>
              <a:t>Een lijst met bestanden die git negeert.</a:t>
            </a:r>
          </a:p>
          <a:p>
            <a:pPr algn="l">
              <a:spcAft>
                <a:spcPts val="400"/>
              </a:spcAft>
            </a:pPr>
          </a:p>
          <a:p>
            <a:pPr algn="l">
              <a:spcAft>
                <a:spcPts val="400"/>
              </a:spcAft>
            </a:pPr>
            <a:r>
              <a:rPr sz="1500">
                <a:solidFill>
                  <a:srgbClr val="00378A"/>
                </a:solidFill>
              </a:rPr>
              <a:t>Zet hem klaar </a:t>
            </a:r>
            <a:r>
              <a:rPr b="1" sz="1500">
                <a:solidFill>
                  <a:srgbClr val="00378A"/>
                </a:solidFill>
              </a:rPr>
              <a:t>vóór je eerste commit</a:t>
            </a:r>
            <a:r>
              <a:rPr sz="1500">
                <a:solidFill>
                  <a:srgbClr val="00378A"/>
                </a:solidFill>
              </a:rPr>
              <a:t>: wat eenmaal gepusht is, blijft in de geschiedenis.</a:t>
            </a:r>
          </a:p>
          <a:p>
            <a:pPr algn="l">
              <a:spcAft>
                <a:spcPts val="400"/>
              </a:spcAft>
            </a:pPr>
          </a:p>
          <a:p>
            <a:pPr algn="l">
              <a:spcAft>
                <a:spcPts val="400"/>
              </a:spcAft>
            </a:pPr>
            <a:r>
              <a:rPr sz="1500">
                <a:solidFill>
                  <a:srgbClr val="00378A"/>
                </a:solidFill>
              </a:rPr>
              <a:t>Geen beveiliging: je </a:t>
            </a:r>
            <a:r>
              <a:rPr b="1" sz="1500">
                <a:solidFill>
                  <a:srgbClr val="00378A"/>
                </a:solidFill>
              </a:rPr>
              <a:t>agent kan het bestand nog steeds lezen</a:t>
            </a:r>
            <a:r>
              <a:rPr sz="1500">
                <a:solidFill>
                  <a:srgbClr val="00378A"/>
                </a:solidFill>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Vibe Coding vs. Agentic Engineering</a:t>
            </a:r>
          </a:p>
        </p:txBody>
      </p:sp>
      <p:graphicFrame>
        <p:nvGraphicFramePr>
          <p:cNvPr id="3" name="Table 2"/>
          <p:cNvGraphicFramePr>
            <a:graphicFrameLocks noGrp="1"/>
          </p:cNvGraphicFramePr>
          <p:nvPr/>
        </p:nvGraphicFramePr>
        <p:xfrm>
          <a:off x="384048" y="1691640"/>
          <a:ext cx="8138160" cy="1554480"/>
        </p:xfrm>
        <a:graphic>
          <a:graphicData uri="http://schemas.openxmlformats.org/drawingml/2006/table">
            <a:tbl>
              <a:tblPr firstRow="1" bandRow="1">
                <a:tableStyleId>{5C22544A-7EE6-4342-B048-85BDC9FD1C3A}</a:tableStyleId>
              </a:tblPr>
              <a:tblGrid>
                <a:gridCol w="4069080"/>
                <a:gridCol w="4069080"/>
              </a:tblGrid>
              <a:tr h="310896">
                <a:tc>
                  <a:txBody>
                    <a:bodyPr/>
                    <a:lstStyle/>
                    <a:p>
                      <a:r>
                        <a:rPr b="1" sz="1300">
                          <a:solidFill>
                            <a:srgbClr val="FFFFFF"/>
                          </a:solidFill>
                        </a:rPr>
                        <a:t>Vibe Coding</a:t>
                      </a:r>
                    </a:p>
                  </a:txBody>
                  <a:tcPr marL="109728" marR="109728" anchor="ctr">
                    <a:solidFill>
                      <a:srgbClr val="FF6600"/>
                    </a:solidFill>
                  </a:tcPr>
                </a:tc>
                <a:tc>
                  <a:txBody>
                    <a:bodyPr/>
                    <a:lstStyle/>
                    <a:p>
                      <a:r>
                        <a:rPr b="1" sz="1300">
                          <a:solidFill>
                            <a:srgbClr val="FFFFFF"/>
                          </a:solidFill>
                        </a:rPr>
                        <a:t>Agentic Engineering</a:t>
                      </a:r>
                    </a:p>
                  </a:txBody>
                  <a:tcPr marL="109728" marR="109728" anchor="ctr">
                    <a:solidFill>
                      <a:srgbClr val="FF6600"/>
                    </a:solidFill>
                  </a:tcPr>
                </a:tc>
              </a:tr>
              <a:tr h="310896">
                <a:tc>
                  <a:txBody>
                    <a:bodyPr/>
                    <a:lstStyle/>
                    <a:p>
                      <a:r>
                        <a:rPr sz="1300">
                          <a:solidFill>
                            <a:srgbClr val="00378A"/>
                          </a:solidFill>
                        </a:rPr>
                        <a:t>Code genereren</a:t>
                      </a:r>
                    </a:p>
                  </a:txBody>
                  <a:tcPr marL="109728" marR="109728" anchor="ctr">
                    <a:solidFill>
                      <a:srgbClr val="FFFFFF"/>
                    </a:solidFill>
                  </a:tcPr>
                </a:tc>
                <a:tc>
                  <a:txBody>
                    <a:bodyPr/>
                    <a:lstStyle/>
                    <a:p>
                      <a:r>
                        <a:rPr sz="1300">
                          <a:solidFill>
                            <a:srgbClr val="00378A"/>
                          </a:solidFill>
                        </a:rPr>
                        <a:t>Code genereren</a:t>
                      </a:r>
                    </a:p>
                  </a:txBody>
                  <a:tcPr marL="109728" marR="109728" anchor="ctr">
                    <a:solidFill>
                      <a:srgbClr val="FFFFFF"/>
                    </a:solidFill>
                  </a:tcPr>
                </a:tc>
              </a:tr>
              <a:tr h="310896">
                <a:tc>
                  <a:txBody>
                    <a:bodyPr/>
                    <a:lstStyle/>
                    <a:p>
                      <a:r>
                        <a:rPr sz="1300">
                          <a:solidFill>
                            <a:srgbClr val="00378A"/>
                          </a:solidFill>
                        </a:rPr>
                        <a:t>"Het werkt bij mij"</a:t>
                      </a:r>
                    </a:p>
                  </a:txBody>
                  <a:tcPr marL="109728" marR="109728" anchor="ctr">
                    <a:solidFill>
                      <a:srgbClr val="F2F2F2"/>
                    </a:solidFill>
                  </a:tcPr>
                </a:tc>
                <a:tc>
                  <a:txBody>
                    <a:bodyPr/>
                    <a:lstStyle/>
                    <a:p>
                      <a:r>
                        <a:rPr sz="1300">
                          <a:solidFill>
                            <a:srgbClr val="00378A"/>
                          </a:solidFill>
                        </a:rPr>
                        <a:t>Het werkt ook bij een ander</a:t>
                      </a:r>
                    </a:p>
                  </a:txBody>
                  <a:tcPr marL="109728" marR="109728" anchor="ctr">
                    <a:solidFill>
                      <a:srgbClr val="F2F2F2"/>
                    </a:solidFill>
                  </a:tcPr>
                </a:tc>
              </a:tr>
              <a:tr h="310896">
                <a:tc>
                  <a:txBody>
                    <a:bodyPr/>
                    <a:lstStyle/>
                    <a:p>
                      <a:r>
                        <a:rPr sz="1300">
                          <a:solidFill>
                            <a:srgbClr val="00378A"/>
                          </a:solidFill>
                        </a:rPr>
                        <a:t>Eén lange chat</a:t>
                      </a:r>
                    </a:p>
                  </a:txBody>
                  <a:tcPr marL="109728" marR="109728" anchor="ctr">
                    <a:solidFill>
                      <a:srgbClr val="FFFFFF"/>
                    </a:solidFill>
                  </a:tcPr>
                </a:tc>
                <a:tc>
                  <a:txBody>
                    <a:bodyPr/>
                    <a:lstStyle/>
                    <a:p>
                      <a:r>
                        <a:rPr sz="1300">
                          <a:solidFill>
                            <a:srgbClr val="00378A"/>
                          </a:solidFill>
                        </a:rPr>
                        <a:t>Korte sessies met hand-offs</a:t>
                      </a:r>
                    </a:p>
                  </a:txBody>
                  <a:tcPr marL="109728" marR="109728" anchor="ctr">
                    <a:solidFill>
                      <a:srgbClr val="FFFFFF"/>
                    </a:solidFill>
                  </a:tcPr>
                </a:tc>
              </a:tr>
              <a:tr h="310896">
                <a:tc>
                  <a:txBody>
                    <a:bodyPr/>
                    <a:lstStyle/>
                    <a:p>
                      <a:r>
                        <a:rPr sz="1300">
                          <a:solidFill>
                            <a:srgbClr val="00378A"/>
                          </a:solidFill>
                        </a:rPr>
                        <a:t>Alles lokaal</a:t>
                      </a:r>
                    </a:p>
                  </a:txBody>
                  <a:tcPr marL="109728" marR="109728" anchor="ctr">
                    <a:solidFill>
                      <a:srgbClr val="F2F2F2"/>
                    </a:solidFill>
                  </a:tcPr>
                </a:tc>
                <a:tc>
                  <a:txBody>
                    <a:bodyPr/>
                    <a:lstStyle/>
                    <a:p>
                      <a:r>
                        <a:rPr sz="1300">
                          <a:solidFill>
                            <a:srgbClr val="00378A"/>
                          </a:solidFill>
                        </a:rPr>
                        <a:t>Alles in de repo</a:t>
                      </a:r>
                    </a:p>
                  </a:txBody>
                  <a:tcPr marL="109728" marR="109728" anchor="ctr">
                    <a:solidFill>
                      <a:srgbClr val="F2F2F2"/>
                    </a:solidFill>
                  </a:tcPr>
                </a:tc>
              </a:tr>
            </a:tbl>
          </a:graphicData>
        </a:graphic>
      </p:graphicFrame>
      <p:pic>
        <p:nvPicPr>
          <p:cNvPr id="4" name="Picture 3" descr="bison-vibe-coding.jpg"/>
          <p:cNvPicPr>
            <a:picLocks noChangeAspect="1"/>
          </p:cNvPicPr>
          <p:nvPr/>
        </p:nvPicPr>
        <p:blipFill>
          <a:blip r:embed="rId2"/>
          <a:stretch>
            <a:fillRect/>
          </a:stretch>
        </p:blipFill>
        <p:spPr>
          <a:xfrm>
            <a:off x="1365302" y="3291840"/>
            <a:ext cx="2106570" cy="1097280"/>
          </a:xfrm>
          <a:prstGeom prst="rect">
            <a:avLst/>
          </a:prstGeom>
        </p:spPr>
      </p:pic>
      <p:pic>
        <p:nvPicPr>
          <p:cNvPr id="5" name="Picture 4" descr="bison-agentic-engineering.jpg"/>
          <p:cNvPicPr>
            <a:picLocks noChangeAspect="1"/>
          </p:cNvPicPr>
          <p:nvPr/>
        </p:nvPicPr>
        <p:blipFill>
          <a:blip r:embed="rId3"/>
          <a:stretch>
            <a:fillRect/>
          </a:stretch>
        </p:blipFill>
        <p:spPr>
          <a:xfrm>
            <a:off x="5247132" y="3291840"/>
            <a:ext cx="2481072" cy="1097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6600"/>
                </a:solidFill>
                <a:highlight>
                  <a:srgbClr val="FFFF00"/>
                </a:highlight>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Vooraf gecheckt?</a:t>
            </a:r>
          </a:p>
        </p:txBody>
      </p:sp>
      <p:sp>
        <p:nvSpPr>
          <p:cNvPr id="3" name="Text Placeholder 2"/>
          <p:cNvSpPr>
            <a:spLocks noGrp="1"/>
          </p:cNvSpPr>
          <p:nvPr>
            <p:ph type="body" idx="10" sz="quarter"/>
          </p:nvPr>
        </p:nvSpPr>
        <p:spPr/>
        <p:txBody>
          <a:bodyPr/>
          <a:lstStyle/>
          <a:p>
            <a:pPr>
              <a:spcAft>
                <a:spcPts val="600"/>
              </a:spcAft>
            </a:pPr>
            <a:r>
              <a:t>☐  VS Code open, en je agent (Claude Code, Codex of Mistral) reageert</a:t>
            </a:r>
          </a:p>
          <a:p>
            <a:pPr>
              <a:spcAft>
                <a:spcPts val="600"/>
              </a:spcAft>
            </a:pPr>
            <a:r>
              <a:t>☐  </a:t>
            </a:r>
            <a:r>
              <a:rPr>
                <a:latin typeface="Consolas"/>
              </a:rPr>
              <a:t>git --version</a:t>
            </a:r>
            <a:r>
              <a:t> en </a:t>
            </a:r>
            <a:r>
              <a:rPr>
                <a:latin typeface="Consolas"/>
              </a:rPr>
              <a:t>gh auth status</a:t>
            </a:r>
            <a:r>
              <a:t> werken</a:t>
            </a:r>
          </a:p>
          <a:p>
            <a:pPr>
              <a:spcAft>
                <a:spcPts val="600"/>
              </a:spcAft>
            </a:pPr>
            <a:r>
              <a:t>☐  </a:t>
            </a:r>
            <a:r>
              <a:rPr b="1"/>
              <a:t>Tweestapsverificatie (2FA) op GitHub staat aan</a:t>
            </a:r>
          </a:p>
          <a:p>
            <a:pPr>
              <a:spcAft>
                <a:spcPts val="600"/>
              </a:spcAft>
            </a:pPr>
            <a:r>
              <a:t>☐  Je hebt de uitnodiging voor de cursusrepo geaccepteerd</a:t>
            </a:r>
          </a:p>
          <a:p>
            <a:pPr>
              <a:spcAft>
                <a:spcPts val="600"/>
              </a:spcAft>
            </a:pPr>
          </a:p>
          <a:p>
            <a:pPr>
              <a:spcAft>
                <a:spcPts val="600"/>
              </a:spcAft>
            </a:pPr>
            <a:r>
              <a:t>Codex-extensie start niet? Zie </a:t>
            </a:r>
            <a:r>
              <a:rPr>
                <a:latin typeface="Consolas"/>
              </a:rPr>
              <a:t>docs/troubleshooting/codex-extensie-oudere-versie.pdf</a:t>
            </a:r>
            <a:r>
              <a:t> in de cursusrepo.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Oefening 1: Git basics</a:t>
            </a:r>
          </a:p>
        </p:txBody>
      </p:sp>
      <p:sp>
        <p:nvSpPr>
          <p:cNvPr id="4" name="Text Placeholder 3"/>
          <p:cNvSpPr>
            <a:spLocks noGrp="1"/>
          </p:cNvSpPr>
          <p:nvPr>
            <p:ph type="body" idx="13" sz="quarter"/>
          </p:nvPr>
        </p:nvSpPr>
        <p:spPr/>
        <p:txBody>
          <a:bodyPr/>
          <a:lstStyle/>
          <a:p>
            <a:r>
              <a:t>30 minuten</a:t>
            </a:r>
          </a:p>
        </p:txBody>
      </p:sp>
      <p:sp>
        <p:nvSpPr>
          <p:cNvPr id="5" name="Stap 1"/>
          <p:cNvSpPr/>
          <p:nvPr/>
        </p:nvSpPr>
        <p:spPr>
          <a:xfrm>
            <a:off x="384048" y="16002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6" name="TextBox 5"/>
          <p:cNvSpPr txBox="1"/>
          <p:nvPr/>
        </p:nvSpPr>
        <p:spPr>
          <a:xfrm>
            <a:off x="886968" y="162763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Clone </a:t>
            </a:r>
            <a:r>
              <a:rPr sz="1600">
                <a:solidFill>
                  <a:srgbClr val="00378A"/>
                </a:solidFill>
                <a:latin typeface="Consolas"/>
              </a:rPr>
              <a:t>github.com/TeamNLSportScienceCentre/teamnl-agentic-engineering</a:t>
            </a:r>
            <a:r>
              <a:rPr sz="1600">
                <a:solidFill>
                  <a:srgbClr val="00378A"/>
                </a:solidFill>
              </a:rPr>
              <a:t> en open hem in VS Code</a:t>
            </a:r>
          </a:p>
        </p:txBody>
      </p:sp>
      <p:sp>
        <p:nvSpPr>
          <p:cNvPr id="7" name="Stap 2"/>
          <p:cNvSpPr/>
          <p:nvPr/>
        </p:nvSpPr>
        <p:spPr>
          <a:xfrm>
            <a:off x="384048" y="2130552"/>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8" name="TextBox 7"/>
          <p:cNvSpPr txBox="1"/>
          <p:nvPr/>
        </p:nvSpPr>
        <p:spPr>
          <a:xfrm>
            <a:off x="886968" y="2157984"/>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Maak in </a:t>
            </a:r>
            <a:r>
              <a:rPr sz="1600">
                <a:solidFill>
                  <a:srgbClr val="00378A"/>
                </a:solidFill>
                <a:latin typeface="Consolas"/>
              </a:rPr>
              <a:t>deelnemers/&lt;jouw-sessie&gt;/</a:t>
            </a:r>
            <a:r>
              <a:rPr sz="1600">
                <a:solidFill>
                  <a:srgbClr val="00378A"/>
                </a:solidFill>
              </a:rPr>
              <a:t> een bestand met je GitHub-gebruikersnaam als naam</a:t>
            </a:r>
          </a:p>
        </p:txBody>
      </p:sp>
      <p:sp>
        <p:nvSpPr>
          <p:cNvPr id="9" name="Stap 3"/>
          <p:cNvSpPr/>
          <p:nvPr/>
        </p:nvSpPr>
        <p:spPr>
          <a:xfrm>
            <a:off x="384048" y="2660904"/>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10" name="TextBox 9"/>
          <p:cNvSpPr txBox="1"/>
          <p:nvPr/>
        </p:nvSpPr>
        <p:spPr>
          <a:xfrm>
            <a:off x="886968" y="2688336"/>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Commit en push je wijziging</a:t>
            </a:r>
          </a:p>
        </p:txBody>
      </p:sp>
      <p:sp>
        <p:nvSpPr>
          <p:cNvPr id="11" name="Stap 4"/>
          <p:cNvSpPr/>
          <p:nvPr/>
        </p:nvSpPr>
        <p:spPr>
          <a:xfrm>
            <a:off x="384048" y="3191256"/>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4</a:t>
            </a:r>
          </a:p>
        </p:txBody>
      </p:sp>
      <p:sp>
        <p:nvSpPr>
          <p:cNvPr id="12" name="TextBox 11"/>
          <p:cNvSpPr txBox="1"/>
          <p:nvPr/>
        </p:nvSpPr>
        <p:spPr>
          <a:xfrm>
            <a:off x="886968" y="3218687"/>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Fetch en pull de wijzigingen van de anderen</a:t>
            </a:r>
          </a:p>
        </p:txBody>
      </p:sp>
      <p:sp>
        <p:nvSpPr>
          <p:cNvPr id="13" name="Stap 5"/>
          <p:cNvSpPr/>
          <p:nvPr/>
        </p:nvSpPr>
        <p:spPr>
          <a:xfrm>
            <a:off x="384048" y="3721608"/>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5</a:t>
            </a:r>
          </a:p>
        </p:txBody>
      </p:sp>
      <p:sp>
        <p:nvSpPr>
          <p:cNvPr id="14" name="TextBox 13"/>
          <p:cNvSpPr txBox="1"/>
          <p:nvPr/>
        </p:nvSpPr>
        <p:spPr>
          <a:xfrm>
            <a:off x="886968" y="3749040"/>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Schrijf een "geheim" in een bestand, bijv. </a:t>
            </a:r>
            <a:r>
              <a:rPr sz="1600">
                <a:solidFill>
                  <a:srgbClr val="00378A"/>
                </a:solidFill>
                <a:latin typeface="Consolas"/>
              </a:rPr>
              <a:t>secret.txt</a:t>
            </a:r>
            <a:r>
              <a:rPr sz="1600">
                <a:solidFill>
                  <a:srgbClr val="00378A"/>
                </a:solidFill>
              </a:rPr>
              <a:t>. Zet het in </a:t>
            </a:r>
            <a:r>
              <a:rPr sz="1600">
                <a:solidFill>
                  <a:srgbClr val="00378A"/>
                </a:solidFill>
                <a:latin typeface="Consolas"/>
              </a:rPr>
              <a:t>.gitignore</a:t>
            </a:r>
            <a:r>
              <a:rPr sz="1600">
                <a:solidFill>
                  <a:srgbClr val="00378A"/>
                </a:solidFill>
              </a:rPr>
              <a:t>, push, en check op GitHub dat het er níét staat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Oefening 1: wat viel op?</a:t>
            </a:r>
          </a:p>
        </p:txBody>
      </p:sp>
      <p:sp>
        <p:nvSpPr>
          <p:cNvPr id="3" name="Text Placeholder 2"/>
          <p:cNvSpPr>
            <a:spLocks noGrp="1"/>
          </p:cNvSpPr>
          <p:nvPr>
            <p:ph type="body" idx="10" sz="quarter"/>
          </p:nvPr>
        </p:nvSpPr>
        <p:spPr/>
        <p:txBody>
          <a:bodyPr/>
          <a:lstStyle/>
          <a:p>
            <a:pPr lvl="1">
              <a:spcAft>
                <a:spcPts val="600"/>
              </a:spcAft>
            </a:pPr>
            <a:r>
              <a:t>Wat ging er mis of verraste je?</a:t>
            </a:r>
          </a:p>
          <a:p>
            <a:pPr lvl="1">
              <a:spcAft>
                <a:spcPts val="600"/>
              </a:spcAft>
            </a:pPr>
            <a:r>
              <a:t>Wat gebeurde er toen jij en een ander (bijna) tegelijk pushten?</a:t>
            </a:r>
          </a:p>
          <a:p>
            <a:pPr lvl="1">
              <a:spcAft>
                <a:spcPts val="600"/>
              </a:spcAft>
            </a:pPr>
            <a:r>
              <a:t>Staat </a:t>
            </a:r>
            <a:r>
              <a:rPr>
                <a:latin typeface="Consolas"/>
              </a:rPr>
              <a:t>secret.txt</a:t>
            </a:r>
            <a:r>
              <a:t> echt niet op GitHub? Hoe weet je dat zeker?</a:t>
            </a:r>
          </a:p>
        </p:txBody>
      </p:sp>
      <p:sp>
        <p:nvSpPr>
          <p:cNvPr id="4" name="Text Placeholder 3"/>
          <p:cNvSpPr>
            <a:spLocks noGrp="1"/>
          </p:cNvSpPr>
          <p:nvPr>
            <p:ph type="body" idx="13" sz="quarter"/>
          </p:nvPr>
        </p:nvSpPr>
        <p:spPr/>
        <p:txBody>
          <a:bodyPr/>
          <a:lstStyle/>
          <a:p>
            <a:r>
              <a:t>Even met elkaar bespreken</a:t>
            </a:r>
          </a:p>
        </p:txBody>
      </p:sp>
      <p:sp>
        <p:nvSpPr>
          <p:cNvPr id="5" name="Les"/>
          <p:cNvSpPr/>
          <p:nvPr/>
        </p:nvSpPr>
        <p:spPr>
          <a:xfrm>
            <a:off x="384048" y="3886200"/>
            <a:ext cx="7680960" cy="502920"/>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886200"/>
            <a:ext cx="7315200" cy="502920"/>
          </a:xfrm>
          <a:prstGeom prst="rect">
            <a:avLst/>
          </a:prstGeom>
          <a:noFill/>
        </p:spPr>
        <p:txBody>
          <a:bodyPr wrap="square" anchor="ctr" lIns="0" rIns="0" tIns="0" bIns="0">
            <a:spAutoFit/>
          </a:bodyPr>
          <a:lstStyle/>
          <a:p>
            <a:pPr algn="l">
              <a:spcAft>
                <a:spcPts val="400"/>
              </a:spcAft>
            </a:pPr>
            <a:r>
              <a:rPr b="1" sz="1500">
                <a:solidFill>
                  <a:srgbClr val="FFFFFF"/>
                </a:solidFill>
              </a:rPr>
              <a:t>Les:</a:t>
            </a:r>
            <a:r>
              <a:rPr sz="1500">
                <a:solidFill>
                  <a:srgbClr val="FFFFFF"/>
                </a:solidFill>
              </a:rPr>
              <a:t> je kunt naast elkaar in dezelfde repo werken, en jij bepaalt wat er níét in komt.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6600"/>
                </a:solidFill>
                <a:highlight>
                  <a:srgbClr val="FFFF00"/>
                </a:highlight>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6600"/>
                </a:solidFill>
                <a:highlight>
                  <a:srgbClr val="FFFF00"/>
                </a:highlight>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Waar ben jij allemaal op ingelogd?</a:t>
            </a:r>
          </a:p>
        </p:txBody>
      </p:sp>
      <p:sp>
        <p:nvSpPr>
          <p:cNvPr id="3" name="TextBox 2"/>
          <p:cNvSpPr txBox="1"/>
          <p:nvPr/>
        </p:nvSpPr>
        <p:spPr>
          <a:xfrm>
            <a:off x="384048" y="1828800"/>
            <a:ext cx="8138160" cy="2286000"/>
          </a:xfrm>
          <a:prstGeom prst="rect">
            <a:avLst/>
          </a:prstGeom>
          <a:noFill/>
        </p:spPr>
        <p:txBody>
          <a:bodyPr wrap="square" anchor="t" lIns="0" rIns="0" tIns="0" bIns="0">
            <a:spAutoFit/>
          </a:bodyPr>
          <a:lstStyle/>
          <a:p>
            <a:pPr algn="l">
              <a:spcAft>
                <a:spcPts val="400"/>
              </a:spcAft>
            </a:pPr>
            <a:r>
              <a:rPr b="1" sz="3600">
                <a:solidFill>
                  <a:srgbClr val="00378A"/>
                </a:solidFill>
              </a:rPr>
              <a:t>Je agent ook.</a:t>
            </a:r>
          </a:p>
        </p:txBody>
      </p:sp>
      <p:sp>
        <p:nvSpPr>
          <p:cNvPr id="4" name="TextBox 3"/>
          <p:cNvSpPr txBox="1"/>
          <p:nvPr/>
        </p:nvSpPr>
        <p:spPr>
          <a:xfrm>
            <a:off x="384048" y="2743200"/>
            <a:ext cx="4206240" cy="731520"/>
          </a:xfrm>
          <a:prstGeom prst="rect">
            <a:avLst/>
          </a:prstGeom>
          <a:noFill/>
        </p:spPr>
        <p:txBody>
          <a:bodyPr wrap="square" anchor="t" lIns="0" rIns="0" tIns="0" bIns="0">
            <a:spAutoFit/>
          </a:bodyPr>
          <a:lstStyle/>
          <a:p>
            <a:pPr algn="l">
              <a:spcAft>
                <a:spcPts val="400"/>
              </a:spcAft>
            </a:pPr>
            <a:r>
              <a:rPr sz="1600">
                <a:solidFill>
                  <a:srgbClr val="FF6600"/>
                </a:solidFill>
              </a:rPr>
              <a:t>Mail · OneDrive · GitHub · browser: je agent heeft jouw rechten.</a:t>
            </a:r>
          </a:p>
        </p:txBody>
      </p:sp>
      <p:pic>
        <p:nvPicPr>
          <p:cNvPr id="5" name="Picture 4" descr="jip-van-den-toorn.jpg"/>
          <p:cNvPicPr>
            <a:picLocks noChangeAspect="1"/>
          </p:cNvPicPr>
          <p:nvPr/>
        </p:nvPicPr>
        <p:blipFill>
          <a:blip r:embed="rId2"/>
          <a:stretch>
            <a:fillRect/>
          </a:stretch>
        </p:blipFill>
        <p:spPr>
          <a:xfrm>
            <a:off x="4846320" y="1417320"/>
            <a:ext cx="3627489" cy="29260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access: lezen of verwerken?</a:t>
            </a:r>
          </a:p>
        </p:txBody>
      </p:sp>
      <p:sp>
        <p:nvSpPr>
          <p:cNvPr id="3" name="TextBox 2"/>
          <p:cNvSpPr txBox="1"/>
          <p:nvPr/>
        </p:nvSpPr>
        <p:spPr>
          <a:xfrm>
            <a:off x="384048" y="1764792"/>
            <a:ext cx="1188720" cy="365760"/>
          </a:xfrm>
          <a:prstGeom prst="rect">
            <a:avLst/>
          </a:prstGeom>
          <a:noFill/>
        </p:spPr>
        <p:txBody>
          <a:bodyPr wrap="square" anchor="t" lIns="0" rIns="0" tIns="0" bIns="0">
            <a:spAutoFit/>
          </a:bodyPr>
          <a:lstStyle/>
          <a:p>
            <a:pPr algn="l">
              <a:spcAft>
                <a:spcPts val="400"/>
              </a:spcAft>
            </a:pPr>
            <a:r>
              <a:rPr b="1" sz="1300">
                <a:solidFill>
                  <a:srgbClr val="00378A"/>
                </a:solidFill>
              </a:rPr>
              <a:t>LEZEN</a:t>
            </a:r>
          </a:p>
        </p:txBody>
      </p:sp>
      <p:sp>
        <p:nvSpPr>
          <p:cNvPr id="4" name="LEZEN 0"/>
          <p:cNvSpPr/>
          <p:nvPr/>
        </p:nvSpPr>
        <p:spPr>
          <a:xfrm>
            <a:off x="1691639" y="1600200"/>
            <a:ext cx="1143000" cy="658368"/>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data.csv</a:t>
            </a:r>
          </a:p>
        </p:txBody>
      </p:sp>
      <p:sp>
        <p:nvSpPr>
          <p:cNvPr id="5" name="LEZEN 1"/>
          <p:cNvSpPr/>
          <p:nvPr/>
        </p:nvSpPr>
        <p:spPr>
          <a:xfrm>
            <a:off x="7360919" y="1600200"/>
            <a:ext cx="1143000" cy="658368"/>
          </a:xfrm>
          <a:prstGeom prst="roundRect">
            <a:avLst>
              <a:gd name="adj" fmla="val 12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model</a:t>
            </a:r>
          </a:p>
        </p:txBody>
      </p:sp>
      <p:cxnSp>
        <p:nvCxnSpPr>
          <p:cNvPr id="6" name="Connector 5"/>
          <p:cNvCxnSpPr/>
          <p:nvPr/>
        </p:nvCxnSpPr>
        <p:spPr>
          <a:xfrm>
            <a:off x="2852928" y="1929384"/>
            <a:ext cx="4489703"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84048" y="2862072"/>
            <a:ext cx="1188720" cy="365760"/>
          </a:xfrm>
          <a:prstGeom prst="rect">
            <a:avLst/>
          </a:prstGeom>
          <a:noFill/>
        </p:spPr>
        <p:txBody>
          <a:bodyPr wrap="square" anchor="t" lIns="0" rIns="0" tIns="0" bIns="0">
            <a:spAutoFit/>
          </a:bodyPr>
          <a:lstStyle/>
          <a:p>
            <a:pPr algn="l">
              <a:spcAft>
                <a:spcPts val="400"/>
              </a:spcAft>
            </a:pPr>
            <a:r>
              <a:rPr b="1" sz="1300">
                <a:solidFill>
                  <a:srgbClr val="00378A"/>
                </a:solidFill>
              </a:rPr>
              <a:t>VERWERKEN</a:t>
            </a:r>
          </a:p>
        </p:txBody>
      </p:sp>
      <p:sp>
        <p:nvSpPr>
          <p:cNvPr id="8" name="VERWERKEN 0"/>
          <p:cNvSpPr/>
          <p:nvPr/>
        </p:nvSpPr>
        <p:spPr>
          <a:xfrm>
            <a:off x="1691639" y="2697480"/>
            <a:ext cx="1143000" cy="658368"/>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data.csv</a:t>
            </a:r>
          </a:p>
        </p:txBody>
      </p:sp>
      <p:sp>
        <p:nvSpPr>
          <p:cNvPr id="9" name="VERWERKEN 1"/>
          <p:cNvSpPr/>
          <p:nvPr/>
        </p:nvSpPr>
        <p:spPr>
          <a:xfrm>
            <a:off x="3581400" y="2697480"/>
            <a:ext cx="1143000" cy="658368"/>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Python (jouw computer)</a:t>
            </a:r>
          </a:p>
        </p:txBody>
      </p:sp>
      <p:cxnSp>
        <p:nvCxnSpPr>
          <p:cNvPr id="10" name="Connector 9"/>
          <p:cNvCxnSpPr/>
          <p:nvPr/>
        </p:nvCxnSpPr>
        <p:spPr>
          <a:xfrm>
            <a:off x="2852928" y="3026664"/>
            <a:ext cx="710184"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11" name="VERWERKEN 2"/>
          <p:cNvSpPr/>
          <p:nvPr/>
        </p:nvSpPr>
        <p:spPr>
          <a:xfrm>
            <a:off x="5471160" y="2697480"/>
            <a:ext cx="1143000" cy="65836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00378A"/>
                </a:solidFill>
              </a:rPr>
              <a:t>uitkomst</a:t>
            </a:r>
          </a:p>
        </p:txBody>
      </p:sp>
      <p:cxnSp>
        <p:nvCxnSpPr>
          <p:cNvPr id="12" name="Connector 11"/>
          <p:cNvCxnSpPr/>
          <p:nvPr/>
        </p:nvCxnSpPr>
        <p:spPr>
          <a:xfrm>
            <a:off x="4742688" y="3026664"/>
            <a:ext cx="710184"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13" name="VERWERKEN 3"/>
          <p:cNvSpPr/>
          <p:nvPr/>
        </p:nvSpPr>
        <p:spPr>
          <a:xfrm>
            <a:off x="7360920" y="2697480"/>
            <a:ext cx="1143000" cy="658368"/>
          </a:xfrm>
          <a:prstGeom prst="roundRect">
            <a:avLst>
              <a:gd name="adj" fmla="val 12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model</a:t>
            </a:r>
          </a:p>
        </p:txBody>
      </p:sp>
      <p:cxnSp>
        <p:nvCxnSpPr>
          <p:cNvPr id="14" name="Connector 13"/>
          <p:cNvCxnSpPr/>
          <p:nvPr/>
        </p:nvCxnSpPr>
        <p:spPr>
          <a:xfrm>
            <a:off x="6632448" y="3026664"/>
            <a:ext cx="710184"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737360" y="2286000"/>
            <a:ext cx="5486400" cy="274320"/>
          </a:xfrm>
          <a:prstGeom prst="rect">
            <a:avLst/>
          </a:prstGeom>
          <a:noFill/>
        </p:spPr>
        <p:txBody>
          <a:bodyPr wrap="square" anchor="t" lIns="0" rIns="0" tIns="0" bIns="0">
            <a:spAutoFit/>
          </a:bodyPr>
          <a:lstStyle/>
          <a:p>
            <a:pPr algn="l">
              <a:spcAft>
                <a:spcPts val="400"/>
              </a:spcAft>
            </a:pPr>
            <a:r>
              <a:rPr sz="1200">
                <a:solidFill>
                  <a:srgbClr val="FF6600"/>
                </a:solidFill>
              </a:rPr>
              <a:t>de data zelf gaat naar de aanbieder</a:t>
            </a:r>
          </a:p>
        </p:txBody>
      </p:sp>
      <p:sp>
        <p:nvSpPr>
          <p:cNvPr id="16" name="TextBox 15"/>
          <p:cNvSpPr txBox="1"/>
          <p:nvPr/>
        </p:nvSpPr>
        <p:spPr>
          <a:xfrm>
            <a:off x="1737360" y="3383280"/>
            <a:ext cx="6400800" cy="274320"/>
          </a:xfrm>
          <a:prstGeom prst="rect">
            <a:avLst/>
          </a:prstGeom>
          <a:noFill/>
        </p:spPr>
        <p:txBody>
          <a:bodyPr wrap="square" anchor="t" lIns="0" rIns="0" tIns="0" bIns="0">
            <a:spAutoFit/>
          </a:bodyPr>
          <a:lstStyle/>
          <a:p>
            <a:pPr algn="l">
              <a:spcAft>
                <a:spcPts val="400"/>
              </a:spcAft>
            </a:pPr>
            <a:r>
              <a:rPr sz="1200">
                <a:solidFill>
                  <a:srgbClr val="FF6600"/>
                </a:solidFill>
              </a:rPr>
              <a:t>alleen de uitkomst gaat naar de aanbieder: "312 rijen, gemiddeld 7,4 m/s"</a:t>
            </a:r>
          </a:p>
        </p:txBody>
      </p:sp>
      <p:sp>
        <p:nvSpPr>
          <p:cNvPr id="17" name="TextBox 16"/>
          <p:cNvSpPr txBox="1"/>
          <p:nvPr/>
        </p:nvSpPr>
        <p:spPr>
          <a:xfrm>
            <a:off x="384048" y="3840480"/>
            <a:ext cx="8138160" cy="457200"/>
          </a:xfrm>
          <a:prstGeom prst="rect">
            <a:avLst/>
          </a:prstGeom>
          <a:noFill/>
        </p:spPr>
        <p:txBody>
          <a:bodyPr wrap="square" anchor="t" lIns="0" rIns="0" tIns="0" bIns="0">
            <a:spAutoFit/>
          </a:bodyPr>
          <a:lstStyle/>
          <a:p>
            <a:pPr algn="l">
              <a:spcAft>
                <a:spcPts val="400"/>
              </a:spcAft>
            </a:pPr>
            <a:r>
              <a:rPr sz="1400">
                <a:solidFill>
                  <a:srgbClr val="00378A"/>
                </a:solidFill>
              </a:rPr>
              <a:t>Let op wat er </a:t>
            </a:r>
            <a:r>
              <a:rPr b="1" sz="1400">
                <a:solidFill>
                  <a:srgbClr val="00378A"/>
                </a:solidFill>
              </a:rPr>
              <a:t>terugkomt</a:t>
            </a:r>
            <a:r>
              <a:rPr sz="1400">
                <a:solidFill>
                  <a:srgbClr val="00378A"/>
                </a:solidFill>
              </a:rPr>
              <a:t>: prints, foutmeldingen en bestanden die de agent opent. Houd dat klein.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Vijf manieren om met je data te werken</a:t>
            </a:r>
          </a:p>
        </p:txBody>
      </p:sp>
      <p:graphicFrame>
        <p:nvGraphicFramePr>
          <p:cNvPr id="3" name="Table 2"/>
          <p:cNvGraphicFramePr>
            <a:graphicFrameLocks noGrp="1"/>
          </p:cNvGraphicFramePr>
          <p:nvPr/>
        </p:nvGraphicFramePr>
        <p:xfrm>
          <a:off x="384048" y="1691640"/>
          <a:ext cx="8138160" cy="1975104"/>
        </p:xfrm>
        <a:graphic>
          <a:graphicData uri="http://schemas.openxmlformats.org/drawingml/2006/table">
            <a:tbl>
              <a:tblPr firstRow="1" bandRow="1">
                <a:tableStyleId>{5C22544A-7EE6-4342-B048-85BDC9FD1C3A}</a:tableStyleId>
              </a:tblPr>
              <a:tblGrid>
                <a:gridCol w="2834640"/>
                <a:gridCol w="2651760"/>
                <a:gridCol w="2651760"/>
              </a:tblGrid>
              <a:tr h="329184">
                <a:tc>
                  <a:txBody>
                    <a:bodyPr/>
                    <a:lstStyle/>
                    <a:p>
                      <a:r>
                        <a:rPr b="1" sz="1200">
                          <a:solidFill>
                            <a:srgbClr val="FFFFFF"/>
                          </a:solidFill>
                        </a:rPr>
                        <a:t>Opzet</a:t>
                      </a:r>
                    </a:p>
                  </a:txBody>
                  <a:tcPr marL="109728" marR="109728" anchor="ctr">
                    <a:solidFill>
                      <a:srgbClr val="FF6600"/>
                    </a:solidFill>
                  </a:tcPr>
                </a:tc>
                <a:tc>
                  <a:txBody>
                    <a:bodyPr/>
                    <a:lstStyle/>
                    <a:p>
                      <a:r>
                        <a:rPr b="1" sz="1200">
                          <a:solidFill>
                            <a:srgbClr val="FFFFFF"/>
                          </a:solidFill>
                        </a:rPr>
                        <a:t>Wat gaat naar het model?</a:t>
                      </a:r>
                    </a:p>
                  </a:txBody>
                  <a:tcPr marL="109728" marR="109728" anchor="ctr">
                    <a:solidFill>
                      <a:srgbClr val="FF6600"/>
                    </a:solidFill>
                  </a:tcPr>
                </a:tc>
                <a:tc>
                  <a:txBody>
                    <a:bodyPr/>
                    <a:lstStyle/>
                    <a:p>
                      <a:r>
                        <a:rPr b="1" sz="1200">
                          <a:solidFill>
                            <a:srgbClr val="FFFFFF"/>
                          </a:solidFill>
                        </a:rPr>
                        <a:t>Geschikt voor</a:t>
                      </a:r>
                    </a:p>
                  </a:txBody>
                  <a:tcPr marL="109728" marR="109728" anchor="ctr">
                    <a:solidFill>
                      <a:srgbClr val="FF6600"/>
                    </a:solidFill>
                  </a:tcPr>
                </a:tc>
              </a:tr>
              <a:tr h="329184">
                <a:tc>
                  <a:txBody>
                    <a:bodyPr/>
                    <a:lstStyle/>
                    <a:p>
                      <a:r>
                        <a:rPr sz="1200">
                          <a:solidFill>
                            <a:srgbClr val="00378A"/>
                          </a:solidFill>
                        </a:rPr>
                        <a:t>Blind bouwen: alleen het schema</a:t>
                      </a:r>
                    </a:p>
                  </a:txBody>
                  <a:tcPr marL="109728" marR="109728" anchor="ctr">
                    <a:solidFill>
                      <a:srgbClr val="FFFFFF"/>
                    </a:solidFill>
                  </a:tcPr>
                </a:tc>
                <a:tc>
                  <a:txBody>
                    <a:bodyPr/>
                    <a:lstStyle/>
                    <a:p>
                      <a:r>
                        <a:rPr sz="1200">
                          <a:solidFill>
                            <a:srgbClr val="00378A"/>
                          </a:solidFill>
                        </a:rPr>
                        <a:t>Kolomnamen + wat jij doorgeeft</a:t>
                      </a:r>
                    </a:p>
                  </a:txBody>
                  <a:tcPr marL="109728" marR="109728" anchor="ctr">
                    <a:solidFill>
                      <a:srgbClr val="FFFFFF"/>
                    </a:solidFill>
                  </a:tcPr>
                </a:tc>
                <a:tc>
                  <a:txBody>
                    <a:bodyPr/>
                    <a:lstStyle/>
                    <a:p>
                      <a:r>
                        <a:rPr sz="1200">
                          <a:solidFill>
                            <a:srgbClr val="00378A"/>
                          </a:solidFill>
                        </a:rPr>
                        <a:t>Zeer gevoelige data</a:t>
                      </a:r>
                    </a:p>
                  </a:txBody>
                  <a:tcPr marL="109728" marR="109728" anchor="ctr">
                    <a:solidFill>
                      <a:srgbClr val="FFFFFF"/>
                    </a:solidFill>
                  </a:tcPr>
                </a:tc>
              </a:tr>
              <a:tr h="329184">
                <a:tc>
                  <a:txBody>
                    <a:bodyPr/>
                    <a:lstStyle/>
                    <a:p>
                      <a:r>
                        <a:rPr b="1" sz="1200">
                          <a:solidFill>
                            <a:srgbClr val="00378A"/>
                          </a:solidFill>
                        </a:rPr>
                        <a:t>Bouwen op nepdata</a:t>
                      </a:r>
                    </a:p>
                  </a:txBody>
                  <a:tcPr marL="109728" marR="109728" anchor="ctr">
                    <a:solidFill>
                      <a:srgbClr val="F2F2F2"/>
                    </a:solidFill>
                  </a:tcPr>
                </a:tc>
                <a:tc>
                  <a:txBody>
                    <a:bodyPr/>
                    <a:lstStyle/>
                    <a:p>
                      <a:r>
                        <a:rPr sz="1200">
                          <a:solidFill>
                            <a:srgbClr val="00378A"/>
                          </a:solidFill>
                        </a:rPr>
                        <a:t>Nepdata + output daarop</a:t>
                      </a:r>
                    </a:p>
                  </a:txBody>
                  <a:tcPr marL="109728" marR="109728" anchor="ctr">
                    <a:solidFill>
                      <a:srgbClr val="F2F2F2"/>
                    </a:solidFill>
                  </a:tcPr>
                </a:tc>
                <a:tc>
                  <a:txBody>
                    <a:bodyPr/>
                    <a:lstStyle/>
                    <a:p>
                      <a:r>
                        <a:rPr b="1" sz="1200">
                          <a:solidFill>
                            <a:srgbClr val="00378A"/>
                          </a:solidFill>
                        </a:rPr>
                        <a:t>Aanbevolen startpunt</a:t>
                      </a:r>
                    </a:p>
                  </a:txBody>
                  <a:tcPr marL="109728" marR="109728" anchor="ctr">
                    <a:solidFill>
                      <a:srgbClr val="F2F2F2"/>
                    </a:solidFill>
                  </a:tcPr>
                </a:tc>
              </a:tr>
              <a:tr h="329184">
                <a:tc>
                  <a:txBody>
                    <a:bodyPr/>
                    <a:lstStyle/>
                    <a:p>
                      <a:r>
                        <a:rPr sz="1200">
                          <a:solidFill>
                            <a:srgbClr val="00378A"/>
                          </a:solidFill>
                        </a:rPr>
                        <a:t>Een sample van 10–1000 rijen</a:t>
                      </a:r>
                    </a:p>
                  </a:txBody>
                  <a:tcPr marL="109728" marR="109728" anchor="ctr">
                    <a:solidFill>
                      <a:srgbClr val="FFFFFF"/>
                    </a:solidFill>
                  </a:tcPr>
                </a:tc>
                <a:tc>
                  <a:txBody>
                    <a:bodyPr/>
                    <a:lstStyle/>
                    <a:p>
                      <a:r>
                        <a:rPr sz="1200">
                          <a:solidFill>
                            <a:srgbClr val="00378A"/>
                          </a:solidFill>
                        </a:rPr>
                        <a:t>Een paar echte rijen</a:t>
                      </a:r>
                    </a:p>
                  </a:txBody>
                  <a:tcPr marL="109728" marR="109728" anchor="ctr">
                    <a:solidFill>
                      <a:srgbClr val="FFFFFF"/>
                    </a:solidFill>
                  </a:tcPr>
                </a:tc>
                <a:tc>
                  <a:txBody>
                    <a:bodyPr/>
                    <a:lstStyle/>
                    <a:p>
                      <a:r>
                        <a:rPr sz="1200">
                          <a:solidFill>
                            <a:srgbClr val="00378A"/>
                          </a:solidFill>
                        </a:rPr>
                        <a:t>Rommelige data, met toestemming</a:t>
                      </a:r>
                    </a:p>
                  </a:txBody>
                  <a:tcPr marL="109728" marR="109728" anchor="ctr">
                    <a:solidFill>
                      <a:srgbClr val="FFFFFF"/>
                    </a:solidFill>
                  </a:tcPr>
                </a:tc>
              </a:tr>
              <a:tr h="329184">
                <a:tc>
                  <a:txBody>
                    <a:bodyPr/>
                    <a:lstStyle/>
                    <a:p>
                      <a:r>
                        <a:rPr sz="1200">
                          <a:solidFill>
                            <a:srgbClr val="00378A"/>
                          </a:solidFill>
                        </a:rPr>
                        <a:t>Lokaal verwerken met Python</a:t>
                      </a:r>
                    </a:p>
                  </a:txBody>
                  <a:tcPr marL="109728" marR="109728" anchor="ctr">
                    <a:solidFill>
                      <a:srgbClr val="F2F2F2"/>
                    </a:solidFill>
                  </a:tcPr>
                </a:tc>
                <a:tc>
                  <a:txBody>
                    <a:bodyPr/>
                    <a:lstStyle/>
                    <a:p>
                      <a:r>
                        <a:rPr sz="1200">
                          <a:solidFill>
                            <a:srgbClr val="00378A"/>
                          </a:solidFill>
                        </a:rPr>
                        <a:t>Alleen de uitkomst</a:t>
                      </a:r>
                    </a:p>
                  </a:txBody>
                  <a:tcPr marL="109728" marR="109728" anchor="ctr">
                    <a:solidFill>
                      <a:srgbClr val="F2F2F2"/>
                    </a:solidFill>
                  </a:tcPr>
                </a:tc>
                <a:tc>
                  <a:txBody>
                    <a:bodyPr/>
                    <a:lstStyle/>
                    <a:p>
                      <a:r>
                        <a:rPr sz="1200">
                          <a:solidFill>
                            <a:srgbClr val="00378A"/>
                          </a:solidFill>
                        </a:rPr>
                        <a:t>Gevoelige data, mits de output klein blijft</a:t>
                      </a:r>
                    </a:p>
                  </a:txBody>
                  <a:tcPr marL="109728" marR="109728" anchor="ctr">
                    <a:solidFill>
                      <a:srgbClr val="F2F2F2"/>
                    </a:solidFill>
                  </a:tcPr>
                </a:tc>
              </a:tr>
              <a:tr h="329184">
                <a:tc>
                  <a:txBody>
                    <a:bodyPr/>
                    <a:lstStyle/>
                    <a:p>
                      <a:r>
                        <a:rPr sz="1200">
                          <a:solidFill>
                            <a:srgbClr val="00378A"/>
                          </a:solidFill>
                        </a:rPr>
                        <a:t>Hele tabel uploaden</a:t>
                      </a:r>
                    </a:p>
                  </a:txBody>
                  <a:tcPr marL="109728" marR="109728" anchor="ctr">
                    <a:solidFill>
                      <a:srgbClr val="FFFFFF"/>
                    </a:solidFill>
                  </a:tcPr>
                </a:tc>
                <a:tc>
                  <a:txBody>
                    <a:bodyPr/>
                    <a:lstStyle/>
                    <a:p>
                      <a:r>
                        <a:rPr sz="1200">
                          <a:solidFill>
                            <a:srgbClr val="00378A"/>
                          </a:solidFill>
                        </a:rPr>
                        <a:t>Alles</a:t>
                      </a:r>
                    </a:p>
                  </a:txBody>
                  <a:tcPr marL="109728" marR="109728" anchor="ctr">
                    <a:solidFill>
                      <a:srgbClr val="FFFFFF"/>
                    </a:solidFill>
                  </a:tcPr>
                </a:tc>
                <a:tc>
                  <a:txBody>
                    <a:bodyPr/>
                    <a:lstStyle/>
                    <a:p>
                      <a:r>
                        <a:rPr sz="1200">
                          <a:solidFill>
                            <a:srgbClr val="00378A"/>
                          </a:solidFill>
                        </a:rPr>
                        <a:t>Openbare data</a:t>
                      </a:r>
                    </a:p>
                  </a:txBody>
                  <a:tcPr marL="109728" marR="109728" anchor="ctr">
                    <a:solidFill>
                      <a:srgbClr val="FFFFFF"/>
                    </a:solidFill>
                  </a:tcPr>
                </a:tc>
              </a:tr>
            </a:tbl>
          </a:graphicData>
        </a:graphic>
      </p:graphicFrame>
      <p:sp>
        <p:nvSpPr>
          <p:cNvPr id="4" name="Sidenote"/>
          <p:cNvSpPr/>
          <p:nvPr/>
        </p:nvSpPr>
        <p:spPr>
          <a:xfrm>
            <a:off x="4206240" y="3730752"/>
            <a:ext cx="3794760" cy="713232"/>
          </a:xfrm>
          <a:prstGeom prst="roundRect">
            <a:avLst>
              <a:gd name="adj" fmla="val 12000"/>
            </a:avLst>
          </a:prstGeom>
          <a:solidFill>
            <a:srgbClr val="B85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200" i="1">
                <a:solidFill>
                  <a:srgbClr val="FFD700"/>
                </a:solidFill>
              </a:rPr>
              <a:t>Tip:</a:t>
            </a:r>
          </a:p>
          <a:p>
            <a:r>
              <a:rPr sz="1200">
                <a:solidFill>
                  <a:srgbClr val="FFFFFF"/>
                </a:solidFill>
              </a:rPr>
              <a:t>Instrueer je coding agent om uitgebreide debugging-prints te schrijven, ZONDER gevoelige informatie.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bepaalt wat mag?</a:t>
            </a:r>
          </a:p>
        </p:txBody>
      </p:sp>
      <p:sp>
        <p:nvSpPr>
          <p:cNvPr id="3" name="Kaart 1"/>
          <p:cNvSpPr/>
          <p:nvPr/>
        </p:nvSpPr>
        <p:spPr>
          <a:xfrm>
            <a:off x="384048" y="1737360"/>
            <a:ext cx="2529840" cy="21031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2164080" cy="457200"/>
          </a:xfrm>
          <a:prstGeom prst="rect">
            <a:avLst/>
          </a:prstGeom>
          <a:noFill/>
        </p:spPr>
        <p:txBody>
          <a:bodyPr wrap="square" anchor="t" lIns="0" rIns="0" tIns="0" bIns="0">
            <a:spAutoFit/>
          </a:bodyPr>
          <a:lstStyle/>
          <a:p>
            <a:pPr algn="l">
              <a:spcAft>
                <a:spcPts val="400"/>
              </a:spcAft>
            </a:pPr>
            <a:r>
              <a:rPr b="1" sz="1800">
                <a:solidFill>
                  <a:srgbClr val="FF6600"/>
                </a:solidFill>
              </a:rPr>
              <a:t>De data-eigenaar</a:t>
            </a:r>
          </a:p>
        </p:txBody>
      </p:sp>
      <p:sp>
        <p:nvSpPr>
          <p:cNvPr id="5" name="TextBox 4"/>
          <p:cNvSpPr txBox="1"/>
          <p:nvPr/>
        </p:nvSpPr>
        <p:spPr>
          <a:xfrm>
            <a:off x="566928" y="2423160"/>
            <a:ext cx="2164080" cy="1280160"/>
          </a:xfrm>
          <a:prstGeom prst="rect">
            <a:avLst/>
          </a:prstGeom>
          <a:noFill/>
        </p:spPr>
        <p:txBody>
          <a:bodyPr wrap="square" anchor="t" lIns="0" rIns="0" tIns="0" bIns="0">
            <a:spAutoFit/>
          </a:bodyPr>
          <a:lstStyle/>
          <a:p>
            <a:pPr algn="l">
              <a:spcAft>
                <a:spcPts val="400"/>
              </a:spcAft>
            </a:pPr>
            <a:r>
              <a:rPr sz="1400">
                <a:solidFill>
                  <a:srgbClr val="00378A"/>
                </a:solidFill>
              </a:rPr>
              <a:t>Of wie namens hem zegt wat je met de data mag: sporter, bond, data-aanbieder, privacy officer</a:t>
            </a:r>
          </a:p>
        </p:txBody>
      </p:sp>
      <p:sp>
        <p:nvSpPr>
          <p:cNvPr id="6" name="Kaart 2"/>
          <p:cNvSpPr/>
          <p:nvPr/>
        </p:nvSpPr>
        <p:spPr>
          <a:xfrm>
            <a:off x="3188208" y="1737360"/>
            <a:ext cx="2529840" cy="21031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71088" y="1920240"/>
            <a:ext cx="2164080" cy="457200"/>
          </a:xfrm>
          <a:prstGeom prst="rect">
            <a:avLst/>
          </a:prstGeom>
          <a:noFill/>
        </p:spPr>
        <p:txBody>
          <a:bodyPr wrap="square" anchor="t" lIns="0" rIns="0" tIns="0" bIns="0">
            <a:spAutoFit/>
          </a:bodyPr>
          <a:lstStyle/>
          <a:p>
            <a:pPr algn="l">
              <a:spcAft>
                <a:spcPts val="400"/>
              </a:spcAft>
            </a:pPr>
            <a:r>
              <a:rPr b="1" sz="1800">
                <a:solidFill>
                  <a:srgbClr val="FF6600"/>
                </a:solidFill>
              </a:rPr>
              <a:t>Je account</a:t>
            </a:r>
          </a:p>
        </p:txBody>
      </p:sp>
      <p:sp>
        <p:nvSpPr>
          <p:cNvPr id="8" name="TextBox 7"/>
          <p:cNvSpPr txBox="1"/>
          <p:nvPr/>
        </p:nvSpPr>
        <p:spPr>
          <a:xfrm>
            <a:off x="3371088" y="2423160"/>
            <a:ext cx="2164080" cy="1280160"/>
          </a:xfrm>
          <a:prstGeom prst="rect">
            <a:avLst/>
          </a:prstGeom>
          <a:noFill/>
        </p:spPr>
        <p:txBody>
          <a:bodyPr wrap="square" anchor="t" lIns="0" rIns="0" tIns="0" bIns="0">
            <a:spAutoFit/>
          </a:bodyPr>
          <a:lstStyle/>
          <a:p>
            <a:pPr algn="l">
              <a:spcAft>
                <a:spcPts val="400"/>
              </a:spcAft>
            </a:pPr>
            <a:r>
              <a:rPr sz="1400">
                <a:solidFill>
                  <a:srgbClr val="00378A"/>
                </a:solidFill>
              </a:rPr>
              <a:t>Business/enterprise: doorgaans geen training op je data</a:t>
            </a:r>
          </a:p>
          <a:p>
            <a:pPr algn="l">
              <a:spcAft>
                <a:spcPts val="400"/>
              </a:spcAft>
            </a:pPr>
            <a:r>
              <a:rPr sz="1400">
                <a:solidFill>
                  <a:srgbClr val="00378A"/>
                </a:solidFill>
              </a:rPr>
              <a:t>Gratis/privé: vaak wel</a:t>
            </a:r>
          </a:p>
        </p:txBody>
      </p:sp>
      <p:sp>
        <p:nvSpPr>
          <p:cNvPr id="9" name="Kaart 3"/>
          <p:cNvSpPr/>
          <p:nvPr/>
        </p:nvSpPr>
        <p:spPr>
          <a:xfrm>
            <a:off x="5992368" y="1737360"/>
            <a:ext cx="2529840" cy="21031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5248" y="1920240"/>
            <a:ext cx="2164080" cy="457200"/>
          </a:xfrm>
          <a:prstGeom prst="rect">
            <a:avLst/>
          </a:prstGeom>
          <a:noFill/>
        </p:spPr>
        <p:txBody>
          <a:bodyPr wrap="square" anchor="t" lIns="0" rIns="0" tIns="0" bIns="0">
            <a:spAutoFit/>
          </a:bodyPr>
          <a:lstStyle/>
          <a:p>
            <a:pPr algn="l">
              <a:spcAft>
                <a:spcPts val="400"/>
              </a:spcAft>
            </a:pPr>
            <a:r>
              <a:rPr b="1" sz="1800">
                <a:solidFill>
                  <a:srgbClr val="FF6600"/>
                </a:solidFill>
              </a:rPr>
              <a:t>AVG</a:t>
            </a:r>
          </a:p>
        </p:txBody>
      </p:sp>
      <p:sp>
        <p:nvSpPr>
          <p:cNvPr id="11" name="TextBox 10"/>
          <p:cNvSpPr txBox="1"/>
          <p:nvPr/>
        </p:nvSpPr>
        <p:spPr>
          <a:xfrm>
            <a:off x="6175248" y="2423160"/>
            <a:ext cx="2164080" cy="1280160"/>
          </a:xfrm>
          <a:prstGeom prst="rect">
            <a:avLst/>
          </a:prstGeom>
          <a:noFill/>
        </p:spPr>
        <p:txBody>
          <a:bodyPr wrap="square" anchor="t" lIns="0" rIns="0" tIns="0" bIns="0">
            <a:spAutoFit/>
          </a:bodyPr>
          <a:lstStyle/>
          <a:p>
            <a:pPr algn="l">
              <a:spcAft>
                <a:spcPts val="400"/>
              </a:spcAft>
            </a:pPr>
            <a:r>
              <a:rPr sz="1400">
                <a:solidFill>
                  <a:srgbClr val="00378A"/>
                </a:solidFill>
              </a:rPr>
              <a:t>Gezondheidsdata van sporters zijn bijzondere persoonsgegevens</a:t>
            </a:r>
          </a:p>
        </p:txBody>
      </p:sp>
      <p:sp>
        <p:nvSpPr>
          <p:cNvPr id="12" name="TextBox 11"/>
          <p:cNvSpPr txBox="1"/>
          <p:nvPr/>
        </p:nvSpPr>
        <p:spPr>
          <a:xfrm>
            <a:off x="384048" y="3977639"/>
            <a:ext cx="8138160" cy="365760"/>
          </a:xfrm>
          <a:prstGeom prst="rect">
            <a:avLst/>
          </a:prstGeom>
          <a:noFill/>
        </p:spPr>
        <p:txBody>
          <a:bodyPr wrap="square" anchor="t" lIns="0" rIns="0" tIns="0" bIns="0">
            <a:spAutoFit/>
          </a:bodyPr>
          <a:lstStyle/>
          <a:p>
            <a:pPr algn="l">
              <a:spcAft>
                <a:spcPts val="400"/>
              </a:spcAft>
            </a:pPr>
            <a:r>
              <a:rPr sz="1400">
                <a:solidFill>
                  <a:srgbClr val="FF6600"/>
                </a:solidFill>
              </a:rPr>
              <a:t>"Het staat op mijn laptop" betekent niet dat je het met een AI-aanbieder mag delen.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kan een agent allemaal?</a:t>
            </a:r>
          </a:p>
        </p:txBody>
      </p:sp>
      <p:sp>
        <p:nvSpPr>
          <p:cNvPr id="4" name="Text Placeholder 3"/>
          <p:cNvSpPr>
            <a:spLocks noGrp="1"/>
          </p:cNvSpPr>
          <p:nvPr>
            <p:ph type="body" idx="13" sz="quarter"/>
          </p:nvPr>
        </p:nvSpPr>
        <p:spPr/>
        <p:txBody>
          <a:bodyPr/>
          <a:lstStyle/>
          <a:p>
            <a:r>
              <a:t>Alles wat jij in een terminal kunt, kan je agent ook.</a:t>
            </a:r>
          </a:p>
        </p:txBody>
      </p:sp>
      <p:sp>
        <p:nvSpPr>
          <p:cNvPr id="5" name="Label"/>
          <p:cNvSpPr/>
          <p:nvPr/>
        </p:nvSpPr>
        <p:spPr>
          <a:xfrm>
            <a:off x="384048" y="4507992"/>
            <a:ext cx="891539" cy="246888"/>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00378A"/>
                </a:solidFill>
              </a:rPr>
              <a:t>OPTIONEEL</a:t>
            </a:r>
          </a:p>
        </p:txBody>
      </p:sp>
      <p:sp>
        <p:nvSpPr>
          <p:cNvPr id="6" name="Use case 1"/>
          <p:cNvSpPr/>
          <p:nvPr/>
        </p:nvSpPr>
        <p:spPr>
          <a:xfrm>
            <a:off x="384048" y="16916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17647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Browser besturen</a:t>
            </a:r>
          </a:p>
        </p:txBody>
      </p:sp>
      <p:sp>
        <p:nvSpPr>
          <p:cNvPr id="8" name="TextBox 7"/>
          <p:cNvSpPr txBox="1"/>
          <p:nvPr/>
        </p:nvSpPr>
        <p:spPr>
          <a:xfrm>
            <a:off x="521207" y="21031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Playwright</a:t>
            </a:r>
            <a:r>
              <a:rPr sz="1100">
                <a:solidFill>
                  <a:srgbClr val="00378A"/>
                </a:solidFill>
              </a:rPr>
              <a:t>: opent je app, klikt, vult formulieren in, maakt screenshots</a:t>
            </a:r>
          </a:p>
        </p:txBody>
      </p:sp>
      <p:sp>
        <p:nvSpPr>
          <p:cNvPr id="9" name="Use case 2"/>
          <p:cNvSpPr/>
          <p:nvPr/>
        </p:nvSpPr>
        <p:spPr>
          <a:xfrm>
            <a:off x="2452878" y="16916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90038" y="17647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Actuele documentatie</a:t>
            </a:r>
          </a:p>
        </p:txBody>
      </p:sp>
      <p:sp>
        <p:nvSpPr>
          <p:cNvPr id="11" name="TextBox 10"/>
          <p:cNvSpPr txBox="1"/>
          <p:nvPr/>
        </p:nvSpPr>
        <p:spPr>
          <a:xfrm>
            <a:off x="2590038" y="21031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Context7</a:t>
            </a:r>
            <a:r>
              <a:rPr sz="1100">
                <a:solidFill>
                  <a:srgbClr val="00378A"/>
                </a:solidFill>
              </a:rPr>
              <a:t>: haalt de nieuwste docs van libraries op</a:t>
            </a:r>
          </a:p>
        </p:txBody>
      </p:sp>
      <p:sp>
        <p:nvSpPr>
          <p:cNvPr id="12" name="Use case 3"/>
          <p:cNvSpPr/>
          <p:nvPr/>
        </p:nvSpPr>
        <p:spPr>
          <a:xfrm>
            <a:off x="4521708" y="16916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8868" y="17647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GitHub</a:t>
            </a:r>
          </a:p>
        </p:txBody>
      </p:sp>
      <p:sp>
        <p:nvSpPr>
          <p:cNvPr id="14" name="TextBox 13"/>
          <p:cNvSpPr txBox="1"/>
          <p:nvPr/>
        </p:nvSpPr>
        <p:spPr>
          <a:xfrm>
            <a:off x="4658868" y="21031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gh</a:t>
            </a:r>
            <a:r>
              <a:rPr sz="1100">
                <a:solidFill>
                  <a:srgbClr val="00378A"/>
                </a:solidFill>
              </a:rPr>
              <a:t>: repos, issues, pull requests en reviews, namens jou</a:t>
            </a:r>
          </a:p>
        </p:txBody>
      </p:sp>
      <p:sp>
        <p:nvSpPr>
          <p:cNvPr id="15" name="Use case 4"/>
          <p:cNvSpPr/>
          <p:nvPr/>
        </p:nvSpPr>
        <p:spPr>
          <a:xfrm>
            <a:off x="6590538" y="16916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7698" y="17647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Azure</a:t>
            </a:r>
          </a:p>
        </p:txBody>
      </p:sp>
      <p:sp>
        <p:nvSpPr>
          <p:cNvPr id="17" name="TextBox 16"/>
          <p:cNvSpPr txBox="1"/>
          <p:nvPr/>
        </p:nvSpPr>
        <p:spPr>
          <a:xfrm>
            <a:off x="6727698" y="21031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az</a:t>
            </a:r>
            <a:r>
              <a:rPr sz="1100">
                <a:solidFill>
                  <a:srgbClr val="00378A"/>
                </a:solidFill>
              </a:rPr>
              <a:t>: alles in Azure waar jij bij kunt. </a:t>
            </a:r>
            <a:r>
              <a:rPr b="1" sz="1100">
                <a:solidFill>
                  <a:srgbClr val="00378A"/>
                </a:solidFill>
              </a:rPr>
              <a:t>Alles!</a:t>
            </a:r>
          </a:p>
        </p:txBody>
      </p:sp>
      <p:sp>
        <p:nvSpPr>
          <p:cNvPr id="18" name="Use case 5"/>
          <p:cNvSpPr/>
          <p:nvPr/>
        </p:nvSpPr>
        <p:spPr>
          <a:xfrm>
            <a:off x="384048" y="30632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7" y="31363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Audio en video</a:t>
            </a:r>
          </a:p>
        </p:txBody>
      </p:sp>
      <p:sp>
        <p:nvSpPr>
          <p:cNvPr id="20" name="TextBox 19"/>
          <p:cNvSpPr txBox="1"/>
          <p:nvPr/>
        </p:nvSpPr>
        <p:spPr>
          <a:xfrm>
            <a:off x="521207" y="34747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ffmpeg</a:t>
            </a:r>
            <a:r>
              <a:rPr sz="1100">
                <a:solidFill>
                  <a:srgbClr val="00378A"/>
                </a:solidFill>
              </a:rPr>
              <a:t> en </a:t>
            </a:r>
            <a:r>
              <a:rPr b="1" sz="1100">
                <a:solidFill>
                  <a:srgbClr val="00378A"/>
                </a:solidFill>
              </a:rPr>
              <a:t>Whisper</a:t>
            </a:r>
            <a:r>
              <a:rPr sz="1100">
                <a:solidFill>
                  <a:srgbClr val="00378A"/>
                </a:solidFill>
              </a:rPr>
              <a:t>: knippen, omzetten en lokaal transcriberen</a:t>
            </a:r>
          </a:p>
        </p:txBody>
      </p:sp>
      <p:sp>
        <p:nvSpPr>
          <p:cNvPr id="21" name="Use case 6"/>
          <p:cNvSpPr/>
          <p:nvPr/>
        </p:nvSpPr>
        <p:spPr>
          <a:xfrm>
            <a:off x="2452878" y="30632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90038" y="31363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Sandboxes</a:t>
            </a:r>
          </a:p>
        </p:txBody>
      </p:sp>
      <p:sp>
        <p:nvSpPr>
          <p:cNvPr id="23" name="TextBox 22"/>
          <p:cNvSpPr txBox="1"/>
          <p:nvPr/>
        </p:nvSpPr>
        <p:spPr>
          <a:xfrm>
            <a:off x="2590038" y="34747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Docker</a:t>
            </a:r>
            <a:r>
              <a:rPr sz="1100">
                <a:solidFill>
                  <a:srgbClr val="00378A"/>
                </a:solidFill>
              </a:rPr>
              <a:t>: eigen containers starten en daarin werken</a:t>
            </a:r>
          </a:p>
        </p:txBody>
      </p:sp>
      <p:sp>
        <p:nvSpPr>
          <p:cNvPr id="24" name="Use case 7"/>
          <p:cNvSpPr/>
          <p:nvPr/>
        </p:nvSpPr>
        <p:spPr>
          <a:xfrm>
            <a:off x="4521708" y="30632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58868" y="31363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Specs en taken</a:t>
            </a:r>
          </a:p>
        </p:txBody>
      </p:sp>
      <p:sp>
        <p:nvSpPr>
          <p:cNvPr id="26" name="TextBox 25"/>
          <p:cNvSpPr txBox="1"/>
          <p:nvPr/>
        </p:nvSpPr>
        <p:spPr>
          <a:xfrm>
            <a:off x="4658868" y="3474720"/>
            <a:ext cx="1657350" cy="777240"/>
          </a:xfrm>
          <a:prstGeom prst="rect">
            <a:avLst/>
          </a:prstGeom>
          <a:noFill/>
        </p:spPr>
        <p:txBody>
          <a:bodyPr wrap="square" anchor="t" lIns="0" rIns="0" tIns="0" bIns="0">
            <a:spAutoFit/>
          </a:bodyPr>
          <a:lstStyle/>
          <a:p>
            <a:pPr algn="l">
              <a:spcAft>
                <a:spcPts val="400"/>
              </a:spcAft>
            </a:pPr>
            <a:r>
              <a:rPr b="1" sz="1100">
                <a:solidFill>
                  <a:srgbClr val="00378A"/>
                </a:solidFill>
              </a:rPr>
              <a:t>Spec Kit</a:t>
            </a:r>
            <a:r>
              <a:rPr sz="1100">
                <a:solidFill>
                  <a:srgbClr val="00378A"/>
                </a:solidFill>
              </a:rPr>
              <a:t>: van idee naar spec, plan en taken</a:t>
            </a:r>
          </a:p>
        </p:txBody>
      </p:sp>
      <p:sp>
        <p:nvSpPr>
          <p:cNvPr id="27" name="Use case 8"/>
          <p:cNvSpPr/>
          <p:nvPr/>
        </p:nvSpPr>
        <p:spPr>
          <a:xfrm>
            <a:off x="6590538" y="3063240"/>
            <a:ext cx="1931670" cy="1234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7698" y="3136392"/>
            <a:ext cx="1657350" cy="274320"/>
          </a:xfrm>
          <a:prstGeom prst="rect">
            <a:avLst/>
          </a:prstGeom>
          <a:noFill/>
        </p:spPr>
        <p:txBody>
          <a:bodyPr wrap="square" anchor="t" lIns="0" rIns="0" tIns="0" bIns="0">
            <a:spAutoFit/>
          </a:bodyPr>
          <a:lstStyle/>
          <a:p>
            <a:pPr algn="l">
              <a:spcAft>
                <a:spcPts val="400"/>
              </a:spcAft>
            </a:pPr>
            <a:r>
              <a:rPr b="1" sz="1300">
                <a:solidFill>
                  <a:srgbClr val="FF6600"/>
                </a:solidFill>
              </a:rPr>
              <a:t>Andere agents</a:t>
            </a:r>
          </a:p>
        </p:txBody>
      </p:sp>
      <p:sp>
        <p:nvSpPr>
          <p:cNvPr id="29" name="TextBox 28"/>
          <p:cNvSpPr txBox="1"/>
          <p:nvPr/>
        </p:nvSpPr>
        <p:spPr>
          <a:xfrm>
            <a:off x="6727698" y="3474720"/>
            <a:ext cx="1657350" cy="777240"/>
          </a:xfrm>
          <a:prstGeom prst="rect">
            <a:avLst/>
          </a:prstGeom>
          <a:noFill/>
        </p:spPr>
        <p:txBody>
          <a:bodyPr wrap="square" anchor="t" lIns="0" rIns="0" tIns="0" bIns="0">
            <a:spAutoFit/>
          </a:bodyPr>
          <a:lstStyle/>
          <a:p>
            <a:pPr algn="l">
              <a:spcAft>
                <a:spcPts val="400"/>
              </a:spcAft>
            </a:pPr>
            <a:r>
              <a:rPr sz="1100">
                <a:solidFill>
                  <a:srgbClr val="00378A"/>
                </a:solidFill>
              </a:rPr>
              <a:t>Een tweede agent aansturen: </a:t>
            </a:r>
            <a:r>
              <a:rPr b="1" sz="1100">
                <a:solidFill>
                  <a:srgbClr val="00378A"/>
                </a:solidFill>
              </a:rPr>
              <a:t>builder en reviewer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 op voor de fuik</a:t>
            </a:r>
          </a:p>
        </p:txBody>
      </p:sp>
      <p:sp>
        <p:nvSpPr>
          <p:cNvPr id="3" name="Text Placeholder 2"/>
          <p:cNvSpPr>
            <a:spLocks noGrp="1"/>
          </p:cNvSpPr>
          <p:nvPr>
            <p:ph type="body" idx="10" sz="quarter"/>
          </p:nvPr>
        </p:nvSpPr>
        <p:spPr/>
        <p:txBody>
          <a:bodyPr/>
          <a:lstStyle/>
          <a:p>
            <a:pPr lvl="1">
              <a:spcAft>
                <a:spcPts val="600"/>
              </a:spcAft>
            </a:pPr>
            <a:r>
              <a:t>Probeer verschillende agents (Claude, Codex, Mistral, …)</a:t>
            </a:r>
          </a:p>
          <a:p>
            <a:pPr lvl="1">
              <a:spcAft>
                <a:spcPts val="600"/>
              </a:spcAft>
            </a:pPr>
            <a:r>
              <a:t>Houd je setup flexibel: alles in </a:t>
            </a:r>
            <a:r>
              <a:rPr>
                <a:latin typeface="Consolas"/>
              </a:rPr>
              <a:t>AGENTS.md</a:t>
            </a:r>
            <a:r>
              <a:t>, en </a:t>
            </a:r>
            <a:r>
              <a:rPr>
                <a:latin typeface="Consolas"/>
              </a:rPr>
              <a:t>CLAUDE.md</a:t>
            </a:r>
            <a:r>
              <a:t> verwijst ernaar</a:t>
            </a:r>
          </a:p>
          <a:p>
            <a:pPr lvl="1">
              <a:spcAft>
                <a:spcPts val="600"/>
              </a:spcAft>
            </a:pPr>
            <a:r>
              <a:t>Gooi je chatgeschiedenis af en toe weg</a:t>
            </a:r>
          </a:p>
          <a:p>
            <a:pPr>
              <a:spcAft>
                <a:spcPts val="600"/>
              </a:spcAft>
            </a:pPr>
          </a:p>
          <a:p>
            <a:pPr>
              <a:spcAft>
                <a:spcPts val="600"/>
              </a:spcAft>
            </a:pPr>
            <a:r>
              <a:t>Je kennis hoort in je </a:t>
            </a:r>
            <a:r>
              <a:rPr b="1"/>
              <a:t>repo</a:t>
            </a:r>
            <a:r>
              <a:t> te staan, niet in je chat.</a:t>
            </a:r>
          </a:p>
          <a:p>
            <a:pPr>
              <a:spcAft>
                <a:spcPts val="600"/>
              </a:spcAft>
            </a:pPr>
          </a:p>
          <a:p>
            <a:pPr>
              <a:spcAft>
                <a:spcPts val="600"/>
              </a:spcAft>
            </a:pPr>
            <a:r>
              <a:t>Weet je nog: AltaVista, Yahoo, Lycos… En nu "googlen" we allemaal.</a:t>
            </a:r>
          </a:p>
        </p:txBody>
      </p:sp>
      <p:sp>
        <p:nvSpPr>
          <p:cNvPr id="4" name="Text Placeholder 3"/>
          <p:cNvSpPr>
            <a:spLocks noGrp="1"/>
          </p:cNvSpPr>
          <p:nvPr>
            <p:ph type="body" idx="13" sz="quarter"/>
          </p:nvPr>
        </p:nvSpPr>
        <p:spPr/>
        <p:txBody>
          <a:bodyPr/>
          <a:lstStyle/>
          <a:p>
            <a:r>
              <a:t>Vendor lock-in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Configuratie: user level vs. project level</a:t>
            </a:r>
          </a:p>
        </p:txBody>
      </p:sp>
      <p:sp>
        <p:nvSpPr>
          <p:cNvPr id="3" name="Label"/>
          <p:cNvSpPr/>
          <p:nvPr/>
        </p:nvSpPr>
        <p:spPr>
          <a:xfrm>
            <a:off x="384048" y="4507992"/>
            <a:ext cx="4114800" cy="246888"/>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00378A"/>
                </a:solidFill>
              </a:rPr>
              <a:t>OPTIONEEL  ·  lees na: naslagwerk/agent/config-levels.md</a:t>
            </a:r>
          </a:p>
        </p:txBody>
      </p:sp>
      <p:graphicFrame>
        <p:nvGraphicFramePr>
          <p:cNvPr id="4" name="Table 3"/>
          <p:cNvGraphicFramePr>
            <a:graphicFrameLocks noGrp="1"/>
          </p:cNvGraphicFramePr>
          <p:nvPr/>
        </p:nvGraphicFramePr>
        <p:xfrm>
          <a:off x="384048" y="1691640"/>
          <a:ext cx="8138160" cy="1828800"/>
        </p:xfrm>
        <a:graphic>
          <a:graphicData uri="http://schemas.openxmlformats.org/drawingml/2006/table">
            <a:tbl>
              <a:tblPr firstRow="1" bandRow="1">
                <a:tableStyleId>{5C22544A-7EE6-4342-B048-85BDC9FD1C3A}</a:tableStyleId>
              </a:tblPr>
              <a:tblGrid>
                <a:gridCol w="1828800"/>
                <a:gridCol w="2468880"/>
                <a:gridCol w="1920240"/>
                <a:gridCol w="1920240"/>
              </a:tblGrid>
              <a:tr h="457200">
                <a:tc>
                  <a:txBody>
                    <a:bodyPr/>
                    <a:lstStyle/>
                    <a:p/>
                  </a:txBody>
                  <a:tcPr marL="109728" marR="109728" anchor="ctr">
                    <a:solidFill>
                      <a:srgbClr val="FF6600"/>
                    </a:solidFill>
                  </a:tcPr>
                </a:tc>
                <a:tc>
                  <a:txBody>
                    <a:bodyPr/>
                    <a:lstStyle/>
                    <a:p>
                      <a:r>
                        <a:rPr b="1" sz="1100">
                          <a:solidFill>
                            <a:srgbClr val="FFFFFF"/>
                          </a:solidFill>
                        </a:rPr>
                        <a:t>Claude Code</a:t>
                      </a:r>
                    </a:p>
                  </a:txBody>
                  <a:tcPr marL="109728" marR="109728" anchor="ctr">
                    <a:solidFill>
                      <a:srgbClr val="FF6600"/>
                    </a:solidFill>
                  </a:tcPr>
                </a:tc>
                <a:tc>
                  <a:txBody>
                    <a:bodyPr/>
                    <a:lstStyle/>
                    <a:p>
                      <a:r>
                        <a:rPr b="1" sz="1100">
                          <a:solidFill>
                            <a:srgbClr val="FFFFFF"/>
                          </a:solidFill>
                        </a:rPr>
                        <a:t>Codex</a:t>
                      </a:r>
                    </a:p>
                  </a:txBody>
                  <a:tcPr marL="109728" marR="109728" anchor="ctr">
                    <a:solidFill>
                      <a:srgbClr val="FF6600"/>
                    </a:solidFill>
                  </a:tcPr>
                </a:tc>
                <a:tc>
                  <a:txBody>
                    <a:bodyPr/>
                    <a:lstStyle/>
                    <a:p>
                      <a:r>
                        <a:rPr b="1" sz="1100">
                          <a:solidFill>
                            <a:srgbClr val="FFFFFF"/>
                          </a:solidFill>
                        </a:rPr>
                        <a:t>Mistral Vibe</a:t>
                      </a:r>
                    </a:p>
                  </a:txBody>
                  <a:tcPr marL="109728" marR="109728" anchor="ctr">
                    <a:solidFill>
                      <a:srgbClr val="FF6600"/>
                    </a:solidFill>
                  </a:tcPr>
                </a:tc>
              </a:tr>
              <a:tr h="457200">
                <a:tc>
                  <a:txBody>
                    <a:bodyPr/>
                    <a:lstStyle/>
                    <a:p>
                      <a:r>
                        <a:rPr b="1" sz="1100">
                          <a:solidFill>
                            <a:srgbClr val="00378A"/>
                          </a:solidFill>
                        </a:rPr>
                        <a:t>User level</a:t>
                      </a:r>
                      <a:r>
                        <a:rPr sz="1100">
                          <a:solidFill>
                            <a:srgbClr val="00378A"/>
                          </a:solidFill>
                        </a:rPr>
                        <a:t> (al je projecten)</a:t>
                      </a:r>
                    </a:p>
                  </a:txBody>
                  <a:tcPr marL="109728" marR="109728" anchor="ctr">
                    <a:solidFill>
                      <a:srgbClr val="FFFFFF"/>
                    </a:solidFill>
                  </a:tcPr>
                </a:tc>
                <a:tc>
                  <a:txBody>
                    <a:bodyPr/>
                    <a:lstStyle/>
                    <a:p>
                      <a:r>
                        <a:rPr sz="1100">
                          <a:solidFill>
                            <a:srgbClr val="00378A"/>
                          </a:solidFill>
                          <a:latin typeface="Consolas"/>
                        </a:rPr>
                        <a:t>C:\Users\&lt;jij&gt;\.claude\</a:t>
                      </a:r>
                    </a:p>
                  </a:txBody>
                  <a:tcPr marL="109728" marR="109728" anchor="ctr">
                    <a:solidFill>
                      <a:srgbClr val="FFFFFF"/>
                    </a:solidFill>
                  </a:tcPr>
                </a:tc>
                <a:tc>
                  <a:txBody>
                    <a:bodyPr/>
                    <a:lstStyle/>
                    <a:p>
                      <a:r>
                        <a:rPr sz="1100">
                          <a:solidFill>
                            <a:srgbClr val="00378A"/>
                          </a:solidFill>
                          <a:latin typeface="Consolas"/>
                        </a:rPr>
                        <a:t>C:\Users\&lt;jij&gt;\.codex\</a:t>
                      </a:r>
                    </a:p>
                  </a:txBody>
                  <a:tcPr marL="109728" marR="109728" anchor="ctr">
                    <a:solidFill>
                      <a:srgbClr val="FFFFFF"/>
                    </a:solidFill>
                  </a:tcPr>
                </a:tc>
                <a:tc>
                  <a:txBody>
                    <a:bodyPr/>
                    <a:lstStyle/>
                    <a:p>
                      <a:r>
                        <a:rPr sz="1100">
                          <a:solidFill>
                            <a:srgbClr val="00378A"/>
                          </a:solidFill>
                          <a:latin typeface="Consolas"/>
                        </a:rPr>
                        <a:t>C:\Users\&lt;jij&gt;\.vibe\</a:t>
                      </a:r>
                    </a:p>
                  </a:txBody>
                  <a:tcPr marL="109728" marR="109728" anchor="ctr">
                    <a:solidFill>
                      <a:srgbClr val="FFFFFF"/>
                    </a:solidFill>
                  </a:tcPr>
                </a:tc>
              </a:tr>
              <a:tr h="457200">
                <a:tc>
                  <a:txBody>
                    <a:bodyPr/>
                    <a:lstStyle/>
                    <a:p>
                      <a:r>
                        <a:rPr b="1" sz="1100">
                          <a:solidFill>
                            <a:srgbClr val="00378A"/>
                          </a:solidFill>
                        </a:rPr>
                        <a:t>Project</a:t>
                      </a:r>
                      <a:r>
                        <a:rPr sz="1100">
                          <a:solidFill>
                            <a:srgbClr val="00378A"/>
                          </a:solidFill>
                        </a:rPr>
                        <a:t> (in git, gedeeld)</a:t>
                      </a:r>
                    </a:p>
                  </a:txBody>
                  <a:tcPr marL="109728" marR="109728" anchor="ctr">
                    <a:solidFill>
                      <a:srgbClr val="F2F2F2"/>
                    </a:solidFill>
                  </a:tcPr>
                </a:tc>
                <a:tc>
                  <a:txBody>
                    <a:bodyPr/>
                    <a:lstStyle/>
                    <a:p>
                      <a:r>
                        <a:rPr sz="1100">
                          <a:solidFill>
                            <a:srgbClr val="00378A"/>
                          </a:solidFill>
                          <a:latin typeface="Consolas"/>
                        </a:rPr>
                        <a:t>.claude/settings.json</a:t>
                      </a:r>
                      <a:r>
                        <a:rPr sz="1100">
                          <a:solidFill>
                            <a:srgbClr val="00378A"/>
                          </a:solidFill>
                        </a:rPr>
                        <a:t>, </a:t>
                      </a:r>
                      <a:r>
                        <a:rPr sz="1100">
                          <a:solidFill>
                            <a:srgbClr val="00378A"/>
                          </a:solidFill>
                          <a:latin typeface="Consolas"/>
                        </a:rPr>
                        <a:t>CLAUDE.md</a:t>
                      </a:r>
                    </a:p>
                  </a:txBody>
                  <a:tcPr marL="109728" marR="109728" anchor="ctr">
                    <a:solidFill>
                      <a:srgbClr val="F2F2F2"/>
                    </a:solidFill>
                  </a:tcPr>
                </a:tc>
                <a:tc>
                  <a:txBody>
                    <a:bodyPr/>
                    <a:lstStyle/>
                    <a:p>
                      <a:r>
                        <a:rPr sz="1100">
                          <a:solidFill>
                            <a:srgbClr val="00378A"/>
                          </a:solidFill>
                          <a:latin typeface="Consolas"/>
                        </a:rPr>
                        <a:t>AGENTS.md</a:t>
                      </a:r>
                    </a:p>
                  </a:txBody>
                  <a:tcPr marL="109728" marR="109728" anchor="ctr">
                    <a:solidFill>
                      <a:srgbClr val="F2F2F2"/>
                    </a:solidFill>
                  </a:tcPr>
                </a:tc>
                <a:tc>
                  <a:txBody>
                    <a:bodyPr/>
                    <a:lstStyle/>
                    <a:p>
                      <a:r>
                        <a:rPr sz="1100">
                          <a:solidFill>
                            <a:srgbClr val="00378A"/>
                          </a:solidFill>
                          <a:latin typeface="Consolas"/>
                        </a:rPr>
                        <a:t>.vibe/</a:t>
                      </a:r>
                      <a:r>
                        <a:rPr sz="1100">
                          <a:solidFill>
                            <a:srgbClr val="00378A"/>
                          </a:solidFill>
                        </a:rPr>
                        <a:t>, </a:t>
                      </a:r>
                      <a:r>
                        <a:rPr sz="1100">
                          <a:solidFill>
                            <a:srgbClr val="00378A"/>
                          </a:solidFill>
                          <a:latin typeface="Consolas"/>
                        </a:rPr>
                        <a:t>AGENTS.md</a:t>
                      </a:r>
                    </a:p>
                  </a:txBody>
                  <a:tcPr marL="109728" marR="109728" anchor="ctr">
                    <a:solidFill>
                      <a:srgbClr val="F2F2F2"/>
                    </a:solidFill>
                  </a:tcPr>
                </a:tc>
              </a:tr>
              <a:tr h="457200">
                <a:tc>
                  <a:txBody>
                    <a:bodyPr/>
                    <a:lstStyle/>
                    <a:p>
                      <a:r>
                        <a:rPr b="1" sz="1100">
                          <a:solidFill>
                            <a:srgbClr val="00378A"/>
                          </a:solidFill>
                        </a:rPr>
                        <a:t>Project</a:t>
                      </a:r>
                      <a:r>
                        <a:rPr sz="1100">
                          <a:solidFill>
                            <a:srgbClr val="00378A"/>
                          </a:solidFill>
                        </a:rPr>
                        <a:t> (persoonlijk)</a:t>
                      </a:r>
                    </a:p>
                  </a:txBody>
                  <a:tcPr marL="109728" marR="109728" anchor="ctr">
                    <a:solidFill>
                      <a:srgbClr val="FFFFFF"/>
                    </a:solidFill>
                  </a:tcPr>
                </a:tc>
                <a:tc>
                  <a:txBody>
                    <a:bodyPr/>
                    <a:lstStyle/>
                    <a:p>
                      <a:r>
                        <a:rPr sz="1100">
                          <a:solidFill>
                            <a:srgbClr val="00378A"/>
                          </a:solidFill>
                          <a:latin typeface="Consolas"/>
                        </a:rPr>
                        <a:t>.claude/settings.local.json</a:t>
                      </a:r>
                    </a:p>
                  </a:txBody>
                  <a:tcPr marL="109728" marR="109728" anchor="ctr">
                    <a:solidFill>
                      <a:srgbClr val="FFFFFF"/>
                    </a:solidFill>
                  </a:tcPr>
                </a:tc>
                <a:tc>
                  <a:txBody>
                    <a:bodyPr/>
                    <a:lstStyle/>
                    <a:p>
                      <a:r>
                        <a:rPr sz="1100">
                          <a:solidFill>
                            <a:srgbClr val="00378A"/>
                          </a:solidFill>
                        </a:rPr>
                        <a:t>—</a:t>
                      </a:r>
                    </a:p>
                  </a:txBody>
                  <a:tcPr marL="109728" marR="109728" anchor="ctr">
                    <a:solidFill>
                      <a:srgbClr val="FFFFFF"/>
                    </a:solidFill>
                  </a:tcPr>
                </a:tc>
                <a:tc>
                  <a:txBody>
                    <a:bodyPr/>
                    <a:lstStyle/>
                    <a:p>
                      <a:r>
                        <a:rPr sz="1100">
                          <a:solidFill>
                            <a:srgbClr val="00378A"/>
                          </a:solidFill>
                        </a:rPr>
                        <a:t>—</a:t>
                      </a:r>
                    </a:p>
                  </a:txBody>
                  <a:tcPr marL="109728" marR="109728" anchor="ctr">
                    <a:solidFill>
                      <a:srgbClr val="FFFFFF"/>
                    </a:solidFill>
                  </a:tcPr>
                </a:tc>
              </a:tr>
            </a:tbl>
          </a:graphicData>
        </a:graphic>
      </p:graphicFrame>
      <p:sp>
        <p:nvSpPr>
          <p:cNvPr id="5" name="TextBox 4"/>
          <p:cNvSpPr txBox="1"/>
          <p:nvPr/>
        </p:nvSpPr>
        <p:spPr>
          <a:xfrm>
            <a:off x="384048" y="3703320"/>
            <a:ext cx="8138160" cy="640080"/>
          </a:xfrm>
          <a:prstGeom prst="rect">
            <a:avLst/>
          </a:prstGeom>
          <a:noFill/>
        </p:spPr>
        <p:txBody>
          <a:bodyPr wrap="square" anchor="t" lIns="0" rIns="0" tIns="0" bIns="0">
            <a:spAutoFit/>
          </a:bodyPr>
          <a:lstStyle/>
          <a:p>
            <a:pPr algn="l">
              <a:spcAft>
                <a:spcPts val="400"/>
              </a:spcAft>
            </a:pPr>
            <a:r>
              <a:rPr b="1" sz="1400">
                <a:solidFill>
                  <a:srgbClr val="00378A"/>
                </a:solidFill>
              </a:rPr>
              <a:t>User level:</a:t>
            </a:r>
            <a:r>
              <a:rPr sz="1400">
                <a:solidFill>
                  <a:srgbClr val="00378A"/>
                </a:solidFill>
              </a:rPr>
              <a:t> taal, "nooit </a:t>
            </a:r>
            <a:r>
              <a:rPr sz="1400">
                <a:solidFill>
                  <a:srgbClr val="00378A"/>
                </a:solidFill>
                <a:latin typeface="Consolas"/>
              </a:rPr>
              <a:t>.env</a:t>
            </a:r>
            <a:r>
              <a:rPr sz="1400">
                <a:solidFill>
                  <a:srgbClr val="00378A"/>
                </a:solidFill>
              </a:rPr>
              <a:t> lezen", je persoonlijke skills.</a:t>
            </a:r>
          </a:p>
          <a:p>
            <a:pPr algn="l">
              <a:spcAft>
                <a:spcPts val="400"/>
              </a:spcAft>
            </a:pPr>
            <a:r>
              <a:rPr b="1" sz="1400">
                <a:solidFill>
                  <a:srgbClr val="00378A"/>
                </a:solidFill>
              </a:rPr>
              <a:t>Project level:</a:t>
            </a:r>
            <a:r>
              <a:rPr sz="1400">
                <a:solidFill>
                  <a:srgbClr val="00378A"/>
                </a:solidFill>
              </a:rPr>
              <a:t> wat het project is, waar de data staat, hoe je test.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Guardrails: wat mag je agent?</a:t>
            </a:r>
          </a:p>
        </p:txBody>
      </p:sp>
      <p:sp>
        <p:nvSpPr>
          <p:cNvPr id="3" name="Label"/>
          <p:cNvSpPr/>
          <p:nvPr/>
        </p:nvSpPr>
        <p:spPr>
          <a:xfrm>
            <a:off x="384048" y="4507992"/>
            <a:ext cx="4869179" cy="246888"/>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00378A"/>
                </a:solidFill>
              </a:rPr>
              <a:t>OPTIONEEL  ·  lees na: naslagwerk/agent/permissies-en-guardrails.md</a:t>
            </a:r>
          </a:p>
        </p:txBody>
      </p:sp>
      <p:graphicFrame>
        <p:nvGraphicFramePr>
          <p:cNvPr id="4" name="Table 3"/>
          <p:cNvGraphicFramePr>
            <a:graphicFrameLocks noGrp="1"/>
          </p:cNvGraphicFramePr>
          <p:nvPr/>
        </p:nvGraphicFramePr>
        <p:xfrm>
          <a:off x="384048" y="1691640"/>
          <a:ext cx="4206240" cy="2057400"/>
        </p:xfrm>
        <a:graphic>
          <a:graphicData uri="http://schemas.openxmlformats.org/drawingml/2006/table">
            <a:tbl>
              <a:tblPr firstRow="1" bandRow="1">
                <a:tableStyleId>{5C22544A-7EE6-4342-B048-85BDC9FD1C3A}</a:tableStyleId>
              </a:tblPr>
              <a:tblGrid>
                <a:gridCol w="1737360"/>
                <a:gridCol w="2468880"/>
              </a:tblGrid>
              <a:tr h="411480">
                <a:tc>
                  <a:txBody>
                    <a:bodyPr/>
                    <a:lstStyle/>
                    <a:p>
                      <a:r>
                        <a:rPr b="1" sz="1200">
                          <a:solidFill>
                            <a:srgbClr val="FFFFFF"/>
                          </a:solidFill>
                        </a:rPr>
                        <a:t>Modus</a:t>
                      </a:r>
                    </a:p>
                  </a:txBody>
                  <a:tcPr marL="109728" marR="109728" anchor="ctr">
                    <a:solidFill>
                      <a:srgbClr val="FF6600"/>
                    </a:solidFill>
                  </a:tcPr>
                </a:tc>
                <a:tc>
                  <a:txBody>
                    <a:bodyPr/>
                    <a:lstStyle/>
                    <a:p>
                      <a:r>
                        <a:rPr b="1" sz="1200">
                          <a:solidFill>
                            <a:srgbClr val="FFFFFF"/>
                          </a:solidFill>
                        </a:rPr>
                        <a:t>Wanneer</a:t>
                      </a:r>
                    </a:p>
                  </a:txBody>
                  <a:tcPr marL="109728" marR="109728" anchor="ctr">
                    <a:solidFill>
                      <a:srgbClr val="FF6600"/>
                    </a:solidFill>
                  </a:tcPr>
                </a:tc>
              </a:tr>
              <a:tr h="411480">
                <a:tc>
                  <a:txBody>
                    <a:bodyPr/>
                    <a:lstStyle/>
                    <a:p>
                      <a:r>
                        <a:rPr sz="1200">
                          <a:solidFill>
                            <a:srgbClr val="00378A"/>
                          </a:solidFill>
                        </a:rPr>
                        <a:t>Vragen (standaard)</a:t>
                      </a:r>
                    </a:p>
                  </a:txBody>
                  <a:tcPr marL="109728" marR="109728" anchor="ctr">
                    <a:solidFill>
                      <a:srgbClr val="FFFFFF"/>
                    </a:solidFill>
                  </a:tcPr>
                </a:tc>
                <a:tc>
                  <a:txBody>
                    <a:bodyPr/>
                    <a:lstStyle/>
                    <a:p>
                      <a:r>
                        <a:rPr sz="1200">
                          <a:solidFill>
                            <a:srgbClr val="00378A"/>
                          </a:solidFill>
                        </a:rPr>
                        <a:t>Begin, onbekend terrein</a:t>
                      </a:r>
                    </a:p>
                  </a:txBody>
                  <a:tcPr marL="109728" marR="109728" anchor="ctr">
                    <a:solidFill>
                      <a:srgbClr val="FFFFFF"/>
                    </a:solidFill>
                  </a:tcPr>
                </a:tc>
              </a:tr>
              <a:tr h="411480">
                <a:tc>
                  <a:txBody>
                    <a:bodyPr/>
                    <a:lstStyle/>
                    <a:p>
                      <a:r>
                        <a:rPr sz="1200">
                          <a:solidFill>
                            <a:srgbClr val="00378A"/>
                          </a:solidFill>
                        </a:rPr>
                        <a:t>Plan</a:t>
                      </a:r>
                    </a:p>
                  </a:txBody>
                  <a:tcPr marL="109728" marR="109728" anchor="ctr">
                    <a:solidFill>
                      <a:srgbClr val="F2F2F2"/>
                    </a:solidFill>
                  </a:tcPr>
                </a:tc>
                <a:tc>
                  <a:txBody>
                    <a:bodyPr/>
                    <a:lstStyle/>
                    <a:p>
                      <a:r>
                        <a:rPr sz="1200">
                          <a:solidFill>
                            <a:srgbClr val="00378A"/>
                          </a:solidFill>
                        </a:rPr>
                        <a:t>Voor elke grotere taak: eerst alleen lezen en plannen</a:t>
                      </a:r>
                    </a:p>
                  </a:txBody>
                  <a:tcPr marL="109728" marR="109728" anchor="ctr">
                    <a:solidFill>
                      <a:srgbClr val="F2F2F2"/>
                    </a:solidFill>
                  </a:tcPr>
                </a:tc>
              </a:tr>
              <a:tr h="411480">
                <a:tc>
                  <a:txBody>
                    <a:bodyPr/>
                    <a:lstStyle/>
                    <a:p>
                      <a:r>
                        <a:rPr sz="1200">
                          <a:solidFill>
                            <a:srgbClr val="00378A"/>
                          </a:solidFill>
                        </a:rPr>
                        <a:t>Bewerkingen automatisch</a:t>
                      </a:r>
                    </a:p>
                  </a:txBody>
                  <a:tcPr marL="109728" marR="109728" anchor="ctr">
                    <a:solidFill>
                      <a:srgbClr val="FFFFFF"/>
                    </a:solidFill>
                  </a:tcPr>
                </a:tc>
                <a:tc>
                  <a:txBody>
                    <a:bodyPr/>
                    <a:lstStyle/>
                    <a:p>
                      <a:r>
                        <a:rPr sz="1200">
                          <a:solidFill>
                            <a:srgbClr val="00378A"/>
                          </a:solidFill>
                        </a:rPr>
                        <a:t>Als je het plan hebt goedgekeurd</a:t>
                      </a:r>
                    </a:p>
                  </a:txBody>
                  <a:tcPr marL="109728" marR="109728" anchor="ctr">
                    <a:solidFill>
                      <a:srgbClr val="FFFFFF"/>
                    </a:solidFill>
                  </a:tcPr>
                </a:tc>
              </a:tr>
              <a:tr h="411480">
                <a:tc>
                  <a:txBody>
                    <a:bodyPr/>
                    <a:lstStyle/>
                    <a:p>
                      <a:r>
                        <a:rPr sz="1200">
                          <a:solidFill>
                            <a:srgbClr val="00378A"/>
                          </a:solidFill>
                        </a:rPr>
                        <a:t>Alles mag</a:t>
                      </a:r>
                    </a:p>
                  </a:txBody>
                  <a:tcPr marL="109728" marR="109728" anchor="ctr">
                    <a:solidFill>
                      <a:srgbClr val="F2F2F2"/>
                    </a:solidFill>
                  </a:tcPr>
                </a:tc>
                <a:tc>
                  <a:txBody>
                    <a:bodyPr/>
                    <a:lstStyle/>
                    <a:p>
                      <a:r>
                        <a:rPr sz="1200">
                          <a:solidFill>
                            <a:srgbClr val="00378A"/>
                          </a:solidFill>
                        </a:rPr>
                        <a:t>Alleen in een sandbox</a:t>
                      </a:r>
                    </a:p>
                  </a:txBody>
                  <a:tcPr marL="109728" marR="109728" anchor="ctr">
                    <a:solidFill>
                      <a:srgbClr val="F2F2F2"/>
                    </a:solidFill>
                  </a:tcPr>
                </a:tc>
              </a:tr>
            </a:tbl>
          </a:graphicData>
        </a:graphic>
      </p:graphicFrame>
      <p:sp>
        <p:nvSpPr>
          <p:cNvPr id="5" name="Code"/>
          <p:cNvSpPr/>
          <p:nvPr/>
        </p:nvSpPr>
        <p:spPr>
          <a:xfrm>
            <a:off x="4846320" y="1691640"/>
            <a:ext cx="3657600" cy="2103120"/>
          </a:xfrm>
          <a:prstGeom prst="roundRect">
            <a:avLst>
              <a:gd name="adj" fmla="val 6000"/>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a:solidFill>
                  <a:srgbClr val="DCE4F0"/>
                </a:solidFill>
                <a:latin typeface="Consolas"/>
              </a:rPr>
              <a:t>"deny": [</a:t>
            </a:r>
          </a:p>
          <a:p>
            <a:pPr algn="l"/>
            <a:r>
              <a:rPr sz="1200">
                <a:solidFill>
                  <a:srgbClr val="DCE4F0"/>
                </a:solidFill>
                <a:latin typeface="Consolas"/>
              </a:rPr>
              <a:t>  "Read(./.env)",</a:t>
            </a:r>
          </a:p>
          <a:p>
            <a:pPr algn="l"/>
            <a:r>
              <a:rPr sz="1200">
                <a:solidFill>
                  <a:srgbClr val="DCE4F0"/>
                </a:solidFill>
                <a:latin typeface="Consolas"/>
              </a:rPr>
              <a:t>  "Read(./data/private/**)",</a:t>
            </a:r>
          </a:p>
          <a:p>
            <a:pPr algn="l"/>
            <a:r>
              <a:rPr sz="1200">
                <a:solidFill>
                  <a:srgbClr val="DCE4F0"/>
                </a:solidFill>
                <a:latin typeface="Consolas"/>
              </a:rPr>
              <a:t>  "Bash(git push --force:*)"</a:t>
            </a:r>
          </a:p>
          <a:p>
            <a:pPr algn="l"/>
            <a:r>
              <a:rPr sz="1200">
                <a:solidFill>
                  <a:srgbClr val="DCE4F0"/>
                </a:solidFill>
                <a:latin typeface="Consolas"/>
              </a:rPr>
              <a:t>]</a:t>
            </a:r>
          </a:p>
        </p:txBody>
      </p:sp>
      <p:sp>
        <p:nvSpPr>
          <p:cNvPr id="6" name="TextBox 5"/>
          <p:cNvSpPr txBox="1"/>
          <p:nvPr/>
        </p:nvSpPr>
        <p:spPr>
          <a:xfrm>
            <a:off x="4846320" y="3840480"/>
            <a:ext cx="3657600" cy="457200"/>
          </a:xfrm>
          <a:prstGeom prst="rect">
            <a:avLst/>
          </a:prstGeom>
          <a:noFill/>
        </p:spPr>
        <p:txBody>
          <a:bodyPr wrap="square" anchor="t" lIns="0" rIns="0" tIns="0" bIns="0">
            <a:spAutoFit/>
          </a:bodyPr>
          <a:lstStyle/>
          <a:p>
            <a:pPr algn="l">
              <a:spcAft>
                <a:spcPts val="400"/>
              </a:spcAft>
            </a:pPr>
            <a:r>
              <a:rPr sz="1100">
                <a:solidFill>
                  <a:srgbClr val="00378A"/>
                </a:solidFill>
              </a:rPr>
              <a:t>Voorbeeld voor Claude Code (</a:t>
            </a:r>
            <a:r>
              <a:rPr sz="1100">
                <a:solidFill>
                  <a:srgbClr val="00378A"/>
                </a:solidFill>
                <a:latin typeface="Consolas"/>
              </a:rPr>
              <a:t>.claude/settings.json</a:t>
            </a:r>
            <a:r>
              <a:rPr sz="1100">
                <a:solidFill>
                  <a:srgbClr val="00378A"/>
                </a:solidFill>
              </a:rPr>
              <a:t>). Codex en Mistral hebben vergelijkbare instellingen.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6600"/>
                </a:solidFill>
                <a:highlight>
                  <a:srgbClr val="FFFF00"/>
                </a:highlight>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nakin-padme-architectural-decisions.png"/>
          <p:cNvPicPr>
            <a:picLocks noChangeAspect="1"/>
          </p:cNvPicPr>
          <p:nvPr/>
        </p:nvPicPr>
        <p:blipFill>
          <a:blip r:embed="rId2"/>
          <a:stretch>
            <a:fillRect/>
          </a:stretch>
        </p:blipFill>
        <p:spPr>
          <a:xfrm>
            <a:off x="2171700" y="411480"/>
            <a:ext cx="4023360" cy="402336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Hoe gebruik je dit lesmateriaal?</a:t>
            </a:r>
          </a:p>
        </p:txBody>
      </p:sp>
      <p:sp>
        <p:nvSpPr>
          <p:cNvPr id="3" name="Text Placeholder 2"/>
          <p:cNvSpPr>
            <a:spLocks noGrp="1"/>
          </p:cNvSpPr>
          <p:nvPr>
            <p:ph type="body" idx="10" sz="quarter"/>
          </p:nvPr>
        </p:nvSpPr>
        <p:spPr/>
        <p:txBody>
          <a:bodyPr/>
          <a:lstStyle/>
          <a:p>
            <a:pPr>
              <a:spcAft>
                <a:spcPts val="600"/>
              </a:spcAft>
            </a:pPr>
            <a:r>
              <a:t>Deze presentatie staat in de cursusrepo: </a:t>
            </a:r>
            <a:r>
              <a:rPr>
                <a:latin typeface="Consolas"/>
              </a:rPr>
              <a:t>docs/agentic-engineering-sessie-1.pptx</a:t>
            </a:r>
            <a:r>
              <a:t>.</a:t>
            </a:r>
          </a:p>
          <a:p>
            <a:pPr>
              <a:spcAft>
                <a:spcPts val="600"/>
              </a:spcAft>
            </a:pPr>
          </a:p>
          <a:p>
            <a:pPr>
              <a:spcAft>
                <a:spcPts val="600"/>
              </a:spcAft>
            </a:pPr>
            <a:r>
              <a:t>In de notities van elke slide staat een </a:t>
            </a:r>
            <a:r>
              <a:rPr b="1"/>
              <a:t>agent-note</a:t>
            </a:r>
            <a:r>
              <a:t>: uitleg over wat er met de slide bedoeld wordt.</a:t>
            </a:r>
          </a:p>
          <a:p>
            <a:pPr>
              <a:spcAft>
                <a:spcPts val="600"/>
              </a:spcAft>
            </a:pPr>
          </a:p>
          <a:p>
            <a:pPr>
              <a:spcAft>
                <a:spcPts val="600"/>
              </a:spcAft>
            </a:pPr>
            <a:r>
              <a:t>Lees hem zelf, of kopieer hem naar je agent:</a:t>
            </a:r>
          </a:p>
          <a:p>
            <a:pPr>
              <a:spcAft>
                <a:spcPts val="600"/>
              </a:spcAft>
            </a:pPr>
            <a:r>
              <a:rPr i="1"/>
              <a:t>"Leg uit wat deze slide bedoelt en hoe ik dit in mijn project toepas: &lt;agent-note&gt;"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Naslagwerk: voor jou én je agent</a:t>
            </a:r>
          </a:p>
        </p:txBody>
      </p:sp>
      <p:pic>
        <p:nvPicPr>
          <p:cNvPr id="3" name="Picture 2" descr="naslagwerk-screenshot-human-facing-readme.png"/>
          <p:cNvPicPr>
            <a:picLocks noChangeAspect="1"/>
          </p:cNvPicPr>
          <p:nvPr/>
        </p:nvPicPr>
        <p:blipFill>
          <a:blip r:embed="rId2"/>
          <a:stretch>
            <a:fillRect/>
          </a:stretch>
        </p:blipFill>
        <p:spPr>
          <a:xfrm>
            <a:off x="384048" y="1554480"/>
            <a:ext cx="3050909" cy="2788920"/>
          </a:xfrm>
          <a:prstGeom prst="rect">
            <a:avLst/>
          </a:prstGeom>
        </p:spPr>
      </p:pic>
      <p:sp>
        <p:nvSpPr>
          <p:cNvPr id="4" name="Kaart 1"/>
          <p:cNvSpPr/>
          <p:nvPr/>
        </p:nvSpPr>
        <p:spPr>
          <a:xfrm>
            <a:off x="3703320" y="1554480"/>
            <a:ext cx="2286000" cy="20574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86200" y="1737360"/>
            <a:ext cx="1920240" cy="457200"/>
          </a:xfrm>
          <a:prstGeom prst="rect">
            <a:avLst/>
          </a:prstGeom>
          <a:noFill/>
        </p:spPr>
        <p:txBody>
          <a:bodyPr wrap="square" anchor="t" lIns="0" rIns="0" tIns="0" bIns="0">
            <a:spAutoFit/>
          </a:bodyPr>
          <a:lstStyle/>
          <a:p>
            <a:pPr algn="l">
              <a:spcAft>
                <a:spcPts val="400"/>
              </a:spcAft>
            </a:pPr>
            <a:r>
              <a:rPr sz="1400">
                <a:solidFill>
                  <a:srgbClr val="FF6600"/>
                </a:solidFill>
                <a:latin typeface="Consolas"/>
              </a:rPr>
              <a:t>README.md</a:t>
            </a:r>
            <a:r>
              <a:rPr b="1" sz="1400">
                <a:solidFill>
                  <a:srgbClr val="FF6600"/>
                </a:solidFill>
              </a:rPr>
              <a:t>: voor jou</a:t>
            </a:r>
          </a:p>
        </p:txBody>
      </p:sp>
      <p:sp>
        <p:nvSpPr>
          <p:cNvPr id="6" name="TextBox 5"/>
          <p:cNvSpPr txBox="1"/>
          <p:nvPr/>
        </p:nvSpPr>
        <p:spPr>
          <a:xfrm>
            <a:off x="3886200" y="2240280"/>
            <a:ext cx="1920240" cy="1234440"/>
          </a:xfrm>
          <a:prstGeom prst="rect">
            <a:avLst/>
          </a:prstGeom>
          <a:noFill/>
        </p:spPr>
        <p:txBody>
          <a:bodyPr wrap="square" anchor="t" lIns="0" rIns="0" tIns="0" bIns="0">
            <a:spAutoFit/>
          </a:bodyPr>
          <a:lstStyle/>
          <a:p>
            <a:pPr algn="l">
              <a:spcAft>
                <a:spcPts val="400"/>
              </a:spcAft>
            </a:pPr>
            <a:r>
              <a:rPr sz="1300">
                <a:solidFill>
                  <a:srgbClr val="00378A"/>
                </a:solidFill>
              </a:rPr>
              <a:t>Welke tools er zijn, </a:t>
            </a:r>
            <a:r>
              <a:rPr b="1" sz="1300">
                <a:solidFill>
                  <a:srgbClr val="00378A"/>
                </a:solidFill>
              </a:rPr>
              <a:t>waarom</a:t>
            </a:r>
            <a:r>
              <a:rPr sz="1300">
                <a:solidFill>
                  <a:srgbClr val="00378A"/>
                </a:solidFill>
              </a:rPr>
              <a:t> en </a:t>
            </a:r>
            <a:r>
              <a:rPr b="1" sz="1300">
                <a:solidFill>
                  <a:srgbClr val="00378A"/>
                </a:solidFill>
              </a:rPr>
              <a:t>wanneer</a:t>
            </a:r>
            <a:r>
              <a:rPr sz="1300">
                <a:solidFill>
                  <a:srgbClr val="00378A"/>
                </a:solidFill>
              </a:rPr>
              <a:t>, per onderwerp met moeilijkheid 1–4</a:t>
            </a:r>
          </a:p>
        </p:txBody>
      </p:sp>
      <p:sp>
        <p:nvSpPr>
          <p:cNvPr id="7" name="Kaart 2"/>
          <p:cNvSpPr/>
          <p:nvPr/>
        </p:nvSpPr>
        <p:spPr>
          <a:xfrm>
            <a:off x="6217920" y="1554480"/>
            <a:ext cx="2286000" cy="20574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1920240" cy="457200"/>
          </a:xfrm>
          <a:prstGeom prst="rect">
            <a:avLst/>
          </a:prstGeom>
          <a:noFill/>
        </p:spPr>
        <p:txBody>
          <a:bodyPr wrap="square" anchor="t" lIns="0" rIns="0" tIns="0" bIns="0">
            <a:spAutoFit/>
          </a:bodyPr>
          <a:lstStyle/>
          <a:p>
            <a:pPr algn="l">
              <a:spcAft>
                <a:spcPts val="400"/>
              </a:spcAft>
            </a:pPr>
            <a:r>
              <a:rPr sz="1400">
                <a:solidFill>
                  <a:srgbClr val="FF6600"/>
                </a:solidFill>
                <a:latin typeface="Consolas"/>
              </a:rPr>
              <a:t>AGENTS.md</a:t>
            </a:r>
            <a:r>
              <a:rPr b="1" sz="1400">
                <a:solidFill>
                  <a:srgbClr val="FF6600"/>
                </a:solidFill>
              </a:rPr>
              <a:t>: voor je agent</a:t>
            </a:r>
          </a:p>
        </p:txBody>
      </p:sp>
      <p:sp>
        <p:nvSpPr>
          <p:cNvPr id="9" name="TextBox 8"/>
          <p:cNvSpPr txBox="1"/>
          <p:nvPr/>
        </p:nvSpPr>
        <p:spPr>
          <a:xfrm>
            <a:off x="6400800" y="2240280"/>
            <a:ext cx="1920240" cy="1234440"/>
          </a:xfrm>
          <a:prstGeom prst="rect">
            <a:avLst/>
          </a:prstGeom>
          <a:noFill/>
        </p:spPr>
        <p:txBody>
          <a:bodyPr wrap="square" anchor="t" lIns="0" rIns="0" tIns="0" bIns="0">
            <a:spAutoFit/>
          </a:bodyPr>
          <a:lstStyle/>
          <a:p>
            <a:pPr algn="l">
              <a:spcAft>
                <a:spcPts val="400"/>
              </a:spcAft>
            </a:pPr>
            <a:r>
              <a:rPr sz="1300">
                <a:solidFill>
                  <a:srgbClr val="00378A"/>
                </a:solidFill>
              </a:rPr>
              <a:t>"Lees </a:t>
            </a:r>
            <a:r>
              <a:rPr sz="1300">
                <a:solidFill>
                  <a:srgbClr val="00378A"/>
                </a:solidFill>
                <a:latin typeface="Consolas"/>
              </a:rPr>
              <a:t>naslagwerk/AGENTS.md</a:t>
            </a:r>
            <a:r>
              <a:rPr sz="1300">
                <a:solidFill>
                  <a:srgbClr val="00378A"/>
                </a:solidFill>
              </a:rPr>
              <a:t> en help me kiezen of ik X nodig heb."</a:t>
            </a:r>
          </a:p>
        </p:txBody>
      </p:sp>
      <p:sp>
        <p:nvSpPr>
          <p:cNvPr id="10" name="TextBox 9"/>
          <p:cNvSpPr txBox="1"/>
          <p:nvPr/>
        </p:nvSpPr>
        <p:spPr>
          <a:xfrm>
            <a:off x="3703320" y="3840480"/>
            <a:ext cx="4800600" cy="365760"/>
          </a:xfrm>
          <a:prstGeom prst="rect">
            <a:avLst/>
          </a:prstGeom>
          <a:noFill/>
        </p:spPr>
        <p:txBody>
          <a:bodyPr wrap="square" anchor="t" lIns="0" rIns="0" tIns="0" bIns="0">
            <a:spAutoFit/>
          </a:bodyPr>
          <a:lstStyle/>
          <a:p>
            <a:pPr algn="l">
              <a:spcAft>
                <a:spcPts val="400"/>
              </a:spcAft>
            </a:pPr>
            <a:r>
              <a:rPr b="1" sz="1600">
                <a:solidFill>
                  <a:srgbClr val="FF6600"/>
                </a:solidFill>
              </a:rPr>
              <a:t>Het naslagwerk adviseert. </a:t>
            </a:r>
            <a:r>
              <a:rPr b="1" sz="1600">
                <a:solidFill>
                  <a:srgbClr val="FF6600"/>
                </a:solidFill>
              </a:rPr>
              <a:t>Jij kiest.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Naslagwerk: waar staat het?</a:t>
            </a:r>
          </a:p>
        </p:txBody>
      </p:sp>
      <p:sp>
        <p:nvSpPr>
          <p:cNvPr id="3" name="TextBox 2"/>
          <p:cNvSpPr txBox="1"/>
          <p:nvPr/>
        </p:nvSpPr>
        <p:spPr>
          <a:xfrm>
            <a:off x="384048" y="1645920"/>
            <a:ext cx="3749039" cy="2651760"/>
          </a:xfrm>
          <a:prstGeom prst="rect">
            <a:avLst/>
          </a:prstGeom>
          <a:noFill/>
        </p:spPr>
        <p:txBody>
          <a:bodyPr wrap="square" anchor="t" lIns="0" rIns="0" tIns="0" bIns="0">
            <a:spAutoFit/>
          </a:bodyPr>
          <a:lstStyle/>
          <a:p>
            <a:pPr algn="l">
              <a:spcAft>
                <a:spcPts val="400"/>
              </a:spcAft>
            </a:pPr>
            <a:r>
              <a:rPr sz="1400">
                <a:solidFill>
                  <a:srgbClr val="00378A"/>
                </a:solidFill>
              </a:rPr>
              <a:t>Op de branch </a:t>
            </a:r>
            <a:r>
              <a:rPr b="1" sz="1400">
                <a:solidFill>
                  <a:srgbClr val="00378A"/>
                </a:solidFill>
              </a:rPr>
              <a:t>naslagwerk</a:t>
            </a:r>
            <a:r>
              <a:rPr sz="1400">
                <a:solidFill>
                  <a:srgbClr val="00378A"/>
                </a:solidFill>
              </a:rPr>
              <a:t> van de cursusrepo.</a:t>
            </a:r>
          </a:p>
          <a:p>
            <a:pPr algn="l">
              <a:spcAft>
                <a:spcPts val="400"/>
              </a:spcAft>
            </a:pPr>
          </a:p>
          <a:p>
            <a:pPr algn="l">
              <a:spcAft>
                <a:spcPts val="400"/>
              </a:spcAft>
            </a:pPr>
            <a:r>
              <a:rPr sz="1400">
                <a:solidFill>
                  <a:srgbClr val="00378A"/>
                </a:solidFill>
              </a:rPr>
              <a:t>Zet de map waar je agent bij kan: in je repo, of als extra map in je werkruimte.</a:t>
            </a:r>
          </a:p>
          <a:p>
            <a:pPr algn="l">
              <a:spcAft>
                <a:spcPts val="400"/>
              </a:spcAft>
            </a:pPr>
          </a:p>
          <a:p>
            <a:pPr algn="l">
              <a:spcAft>
                <a:spcPts val="400"/>
              </a:spcAft>
            </a:pPr>
            <a:r>
              <a:rPr sz="1400">
                <a:solidFill>
                  <a:srgbClr val="00378A"/>
                </a:solidFill>
              </a:rPr>
              <a:t>Er staan geen secrets in, dus committen in je eigen repo mag.</a:t>
            </a:r>
          </a:p>
        </p:txBody>
      </p:sp>
      <p:pic>
        <p:nvPicPr>
          <p:cNvPr id="4" name="Picture 3" descr="naslagwerk-pointer.png"/>
          <p:cNvPicPr>
            <a:picLocks noChangeAspect="1"/>
          </p:cNvPicPr>
          <p:nvPr/>
        </p:nvPicPr>
        <p:blipFill>
          <a:blip r:embed="rId2"/>
          <a:stretch>
            <a:fillRect/>
          </a:stretch>
        </p:blipFill>
        <p:spPr>
          <a:xfrm>
            <a:off x="4389120" y="1737360"/>
            <a:ext cx="4114800" cy="2031747"/>
          </a:xfrm>
          <a:prstGeom prst="rect">
            <a:avLst/>
          </a:prstGeom>
        </p:spPr>
      </p:pic>
      <p:sp>
        <p:nvSpPr>
          <p:cNvPr id="5" name="TextBox 4"/>
          <p:cNvSpPr txBox="1"/>
          <p:nvPr/>
        </p:nvSpPr>
        <p:spPr>
          <a:xfrm>
            <a:off x="4389120" y="3840480"/>
            <a:ext cx="4114800" cy="365760"/>
          </a:xfrm>
          <a:prstGeom prst="rect">
            <a:avLst/>
          </a:prstGeom>
          <a:noFill/>
        </p:spPr>
        <p:txBody>
          <a:bodyPr wrap="square" anchor="t" lIns="0" rIns="0" tIns="0" bIns="0">
            <a:spAutoFit/>
          </a:bodyPr>
          <a:lstStyle/>
          <a:p>
            <a:pPr algn="l">
              <a:spcAft>
                <a:spcPts val="400"/>
              </a:spcAft>
            </a:pPr>
            <a:r>
              <a:rPr sz="1100">
                <a:solidFill>
                  <a:srgbClr val="808080"/>
                </a:solidFill>
              </a:rPr>
              <a:t>Op GitHub: kies de branch </a:t>
            </a:r>
            <a:r>
              <a:rPr sz="1100">
                <a:solidFill>
                  <a:srgbClr val="808080"/>
                </a:solidFill>
                <a:latin typeface="Consolas"/>
              </a:rPr>
              <a:t>naslagwerk</a:t>
            </a:r>
            <a:r>
              <a:rPr sz="1100">
                <a:solidFill>
                  <a:srgbClr val="808080"/>
                </a:solidFill>
              </a:rPr>
              <a:t> via het branch-menu.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Naamgeving: over 3 jaar heb je 50 repo's</a:t>
            </a:r>
          </a:p>
        </p:txBody>
      </p:sp>
      <p:sp>
        <p:nvSpPr>
          <p:cNvPr id="3" name="TextBox 2"/>
          <p:cNvSpPr txBox="1"/>
          <p:nvPr/>
        </p:nvSpPr>
        <p:spPr>
          <a:xfrm>
            <a:off x="384048" y="1645920"/>
            <a:ext cx="3840480" cy="320040"/>
          </a:xfrm>
          <a:prstGeom prst="rect">
            <a:avLst/>
          </a:prstGeom>
          <a:noFill/>
        </p:spPr>
        <p:txBody>
          <a:bodyPr wrap="square" anchor="t" lIns="0" rIns="0" tIns="0" bIns="0">
            <a:spAutoFit/>
          </a:bodyPr>
          <a:lstStyle/>
          <a:p>
            <a:pPr algn="l">
              <a:spcAft>
                <a:spcPts val="400"/>
              </a:spcAft>
            </a:pPr>
            <a:r>
              <a:rPr b="1" sz="1500">
                <a:solidFill>
                  <a:srgbClr val="FF6600"/>
                </a:solidFill>
              </a:rPr>
              <a:t>Zonder afspraak</a:t>
            </a:r>
          </a:p>
        </p:txBody>
      </p:sp>
      <p:sp>
        <p:nvSpPr>
          <p:cNvPr id="4" name="Code"/>
          <p:cNvSpPr/>
          <p:nvPr/>
        </p:nvSpPr>
        <p:spPr>
          <a:xfrm>
            <a:off x="384048" y="2011680"/>
            <a:ext cx="3840480" cy="2103120"/>
          </a:xfrm>
          <a:prstGeom prst="roundRect">
            <a:avLst>
              <a:gd name="adj" fmla="val 6000"/>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a:solidFill>
                  <a:srgbClr val="DCE4F0"/>
                </a:solidFill>
                <a:latin typeface="Consolas"/>
              </a:rPr>
              <a:t>Dashboard_NEW</a:t>
            </a:r>
          </a:p>
          <a:p>
            <a:pPr algn="l"/>
            <a:r>
              <a:rPr sz="1300">
                <a:solidFill>
                  <a:srgbClr val="DCE4F0"/>
                </a:solidFill>
                <a:latin typeface="Consolas"/>
              </a:rPr>
              <a:t>test2</a:t>
            </a:r>
          </a:p>
          <a:p>
            <a:pPr algn="l"/>
            <a:r>
              <a:rPr sz="1300">
                <a:solidFill>
                  <a:srgbClr val="DCE4F0"/>
                </a:solidFill>
                <a:latin typeface="Consolas"/>
              </a:rPr>
              <a:t>analyse final (1)</a:t>
            </a:r>
          </a:p>
          <a:p>
            <a:pPr algn="l"/>
            <a:r>
              <a:rPr sz="1300">
                <a:solidFill>
                  <a:srgbClr val="DCE4F0"/>
                </a:solidFill>
                <a:latin typeface="Consolas"/>
              </a:rPr>
              <a:t>Copy of app</a:t>
            </a:r>
          </a:p>
          <a:p>
            <a:pPr algn="l"/>
            <a:r>
              <a:rPr sz="1300">
                <a:solidFill>
                  <a:srgbClr val="DCE4F0"/>
                </a:solidFill>
                <a:latin typeface="Consolas"/>
              </a:rPr>
              <a:t>pomp-dingetje</a:t>
            </a:r>
          </a:p>
          <a:p>
            <a:pPr algn="l"/>
            <a:r>
              <a:rPr sz="1300">
                <a:solidFill>
                  <a:srgbClr val="DCE4F0"/>
                </a:solidFill>
                <a:latin typeface="Consolas"/>
              </a:rPr>
              <a:t>KNZB data</a:t>
            </a:r>
          </a:p>
        </p:txBody>
      </p:sp>
      <p:sp>
        <p:nvSpPr>
          <p:cNvPr id="5" name="TextBox 4"/>
          <p:cNvSpPr txBox="1"/>
          <p:nvPr/>
        </p:nvSpPr>
        <p:spPr>
          <a:xfrm>
            <a:off x="4663440" y="1645920"/>
            <a:ext cx="3840480" cy="320040"/>
          </a:xfrm>
          <a:prstGeom prst="rect">
            <a:avLst/>
          </a:prstGeom>
          <a:noFill/>
        </p:spPr>
        <p:txBody>
          <a:bodyPr wrap="square" anchor="t" lIns="0" rIns="0" tIns="0" bIns="0">
            <a:spAutoFit/>
          </a:bodyPr>
          <a:lstStyle/>
          <a:p>
            <a:pPr algn="l">
              <a:spcAft>
                <a:spcPts val="400"/>
              </a:spcAft>
            </a:pPr>
            <a:r>
              <a:rPr b="1" sz="1500">
                <a:solidFill>
                  <a:srgbClr val="FF6600"/>
                </a:solidFill>
              </a:rPr>
              <a:t>doelgroep-doel-specifiek</a:t>
            </a:r>
          </a:p>
        </p:txBody>
      </p:sp>
      <p:sp>
        <p:nvSpPr>
          <p:cNvPr id="6" name="Code"/>
          <p:cNvSpPr/>
          <p:nvPr/>
        </p:nvSpPr>
        <p:spPr>
          <a:xfrm>
            <a:off x="4663440" y="2011680"/>
            <a:ext cx="3840480" cy="2103120"/>
          </a:xfrm>
          <a:prstGeom prst="roundRect">
            <a:avLst>
              <a:gd name="adj" fmla="val 6000"/>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a:solidFill>
                  <a:srgbClr val="DCE4F0"/>
                </a:solidFill>
                <a:latin typeface="Consolas"/>
              </a:rPr>
              <a:t>knltb-patroonherkenning-video</a:t>
            </a:r>
          </a:p>
          <a:p>
            <a:pPr algn="l"/>
            <a:r>
              <a:rPr sz="1300">
                <a:solidFill>
                  <a:srgbClr val="DCE4F0"/>
                </a:solidFill>
                <a:latin typeface="Consolas"/>
              </a:rPr>
              <a:t>knzb-belasting-monitor</a:t>
            </a:r>
          </a:p>
          <a:p>
            <a:pPr algn="l"/>
            <a:r>
              <a:rPr sz="1300">
                <a:solidFill>
                  <a:srgbClr val="DCE4F0"/>
                </a:solidFill>
                <a:latin typeface="Consolas"/>
              </a:rPr>
              <a:t>teamnl-agentic-engineering</a:t>
            </a:r>
          </a:p>
          <a:p>
            <a:pPr algn="l"/>
            <a:r>
              <a:rPr sz="1300">
                <a:solidFill>
                  <a:srgbClr val="DCE4F0"/>
                </a:solidFill>
                <a:latin typeface="Consolas"/>
              </a:rPr>
              <a:t>wsv-data-mining-koffiepauze</a:t>
            </a:r>
          </a:p>
          <a:p>
            <a:pPr algn="l"/>
            <a:r>
              <a:rPr sz="1300">
                <a:solidFill>
                  <a:srgbClr val="DCE4F0"/>
                </a:solidFill>
                <a:latin typeface="Consolas"/>
              </a:rPr>
              <a:t>wsv-pompfrequentie-analyse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 het geeft gewoon voldoening</a:t>
            </a:r>
          </a:p>
        </p:txBody>
      </p:sp>
      <p:pic>
        <p:nvPicPr>
          <p:cNvPr id="3" name="Picture 2" descr="satisfaction-meme.jpg"/>
          <p:cNvPicPr>
            <a:picLocks noChangeAspect="1"/>
          </p:cNvPicPr>
          <p:nvPr/>
        </p:nvPicPr>
        <p:blipFill>
          <a:blip r:embed="rId2"/>
          <a:stretch>
            <a:fillRect/>
          </a:stretch>
        </p:blipFill>
        <p:spPr>
          <a:xfrm>
            <a:off x="548640" y="1417320"/>
            <a:ext cx="3067369" cy="2834640"/>
          </a:xfrm>
          <a:prstGeom prst="rect">
            <a:avLst/>
          </a:prstGeom>
        </p:spPr>
      </p:pic>
      <p:sp>
        <p:nvSpPr>
          <p:cNvPr id="4" name="TextBox 3"/>
          <p:cNvSpPr txBox="1"/>
          <p:nvPr/>
        </p:nvSpPr>
        <p:spPr>
          <a:xfrm>
            <a:off x="4754880" y="1645920"/>
            <a:ext cx="3749039" cy="2560320"/>
          </a:xfrm>
          <a:prstGeom prst="rect">
            <a:avLst/>
          </a:prstGeom>
          <a:noFill/>
        </p:spPr>
        <p:txBody>
          <a:bodyPr wrap="square" anchor="t" lIns="0" rIns="0" tIns="0" bIns="0">
            <a:spAutoFit/>
          </a:bodyPr>
          <a:lstStyle/>
          <a:p>
            <a:pPr algn="l">
              <a:spcAft>
                <a:spcPts val="400"/>
              </a:spcAft>
            </a:pPr>
            <a:r>
              <a:rPr sz="1500">
                <a:solidFill>
                  <a:srgbClr val="00378A"/>
                </a:solidFill>
              </a:rPr>
              <a:t>Persoonlijke voorkeur: </a:t>
            </a:r>
            <a:r>
              <a:rPr b="1" sz="1500">
                <a:solidFill>
                  <a:srgbClr val="00378A"/>
                </a:solidFill>
              </a:rPr>
              <a:t>kleine letters</a:t>
            </a:r>
            <a:r>
              <a:rPr sz="1500">
                <a:solidFill>
                  <a:srgbClr val="00378A"/>
                </a:solidFill>
              </a:rPr>
              <a:t>, woorden met </a:t>
            </a:r>
            <a:r>
              <a:rPr b="1" sz="1500">
                <a:solidFill>
                  <a:srgbClr val="00378A"/>
                </a:solidFill>
              </a:rPr>
              <a:t>streepjes</a:t>
            </a:r>
            <a:r>
              <a:rPr sz="1500">
                <a:solidFill>
                  <a:srgbClr val="00378A"/>
                </a:solidFill>
              </a:rPr>
              <a:t>.</a:t>
            </a:r>
          </a:p>
          <a:p>
            <a:pPr algn="l">
              <a:spcAft>
                <a:spcPts val="400"/>
              </a:spcAft>
            </a:pPr>
          </a:p>
          <a:p>
            <a:pPr algn="l">
              <a:spcAft>
                <a:spcPts val="400"/>
              </a:spcAft>
            </a:pPr>
            <a:r>
              <a:rPr sz="1500">
                <a:solidFill>
                  <a:srgbClr val="00378A"/>
                </a:solidFill>
              </a:rPr>
              <a:t>Geen spaties, geen </a:t>
            </a:r>
            <a:r>
              <a:rPr sz="1500">
                <a:solidFill>
                  <a:srgbClr val="00378A"/>
                </a:solidFill>
                <a:latin typeface="Consolas"/>
              </a:rPr>
              <a:t>final</a:t>
            </a:r>
            <a:r>
              <a:rPr sz="1500">
                <a:solidFill>
                  <a:srgbClr val="00378A"/>
                </a:solidFill>
              </a:rPr>
              <a:t>, </a:t>
            </a:r>
            <a:r>
              <a:rPr sz="1500">
                <a:solidFill>
                  <a:srgbClr val="00378A"/>
                </a:solidFill>
                <a:latin typeface="Consolas"/>
              </a:rPr>
              <a:t>nieuw</a:t>
            </a:r>
            <a:r>
              <a:rPr sz="1500">
                <a:solidFill>
                  <a:srgbClr val="00378A"/>
                </a:solidFill>
              </a:rPr>
              <a:t> of </a:t>
            </a:r>
            <a:r>
              <a:rPr sz="1500">
                <a:solidFill>
                  <a:srgbClr val="00378A"/>
                </a:solidFill>
                <a:latin typeface="Consolas"/>
              </a:rPr>
              <a:t>v2</a:t>
            </a:r>
            <a:r>
              <a:rPr sz="1500">
                <a:solidFill>
                  <a:srgbClr val="00378A"/>
                </a:solidFill>
              </a:rPr>
              <a:t>: daarvoor heb je git.</a:t>
            </a:r>
          </a:p>
          <a:p>
            <a:pPr algn="l">
              <a:spcAft>
                <a:spcPts val="400"/>
              </a:spcAft>
            </a:pPr>
          </a:p>
          <a:p>
            <a:pPr algn="l">
              <a:spcAft>
                <a:spcPts val="400"/>
              </a:spcAft>
            </a:pPr>
            <a:r>
              <a:rPr sz="1500">
                <a:solidFill>
                  <a:srgbClr val="00378A"/>
                </a:solidFill>
              </a:rPr>
              <a:t>Python-bestanden: underscores (</a:t>
            </a:r>
            <a:r>
              <a:rPr sz="1500">
                <a:solidFill>
                  <a:srgbClr val="00378A"/>
                </a:solidFill>
                <a:latin typeface="Consolas"/>
              </a:rPr>
              <a:t>sprint_analyse.py</a:t>
            </a:r>
            <a:r>
              <a:rPr sz="1500">
                <a:solidFill>
                  <a:srgbClr val="00378A"/>
                </a:solidFill>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Skills</a:t>
            </a:r>
          </a:p>
        </p:txBody>
      </p:sp>
      <p:sp>
        <p:nvSpPr>
          <p:cNvPr id="3" name="TextBox 2"/>
          <p:cNvSpPr txBox="1"/>
          <p:nvPr/>
        </p:nvSpPr>
        <p:spPr>
          <a:xfrm>
            <a:off x="384048" y="1645920"/>
            <a:ext cx="3200400" cy="2651760"/>
          </a:xfrm>
          <a:prstGeom prst="rect">
            <a:avLst/>
          </a:prstGeom>
          <a:noFill/>
        </p:spPr>
        <p:txBody>
          <a:bodyPr wrap="square" anchor="t" lIns="0" rIns="0" tIns="0" bIns="0">
            <a:spAutoFit/>
          </a:bodyPr>
          <a:lstStyle/>
          <a:p>
            <a:pPr algn="l">
              <a:spcAft>
                <a:spcPts val="400"/>
              </a:spcAft>
            </a:pPr>
            <a:r>
              <a:rPr sz="1500">
                <a:solidFill>
                  <a:srgbClr val="00378A"/>
                </a:solidFill>
              </a:rPr>
              <a:t>Herbruikbare instructies voor je agent.</a:t>
            </a:r>
          </a:p>
          <a:p>
            <a:pPr algn="l">
              <a:spcAft>
                <a:spcPts val="400"/>
              </a:spcAft>
            </a:pPr>
          </a:p>
          <a:p>
            <a:pPr algn="l">
              <a:spcAft>
                <a:spcPts val="400"/>
              </a:spcAft>
            </a:pPr>
            <a:r>
              <a:rPr sz="1500">
                <a:solidFill>
                  <a:srgbClr val="00378A"/>
                </a:solidFill>
              </a:rPr>
              <a:t>"Installeren" = een </a:t>
            </a:r>
            <a:r>
              <a:rPr sz="1500">
                <a:solidFill>
                  <a:srgbClr val="00378A"/>
                </a:solidFill>
                <a:latin typeface="Consolas"/>
              </a:rPr>
              <a:t>SKILL.md</a:t>
            </a:r>
            <a:r>
              <a:rPr sz="1500">
                <a:solidFill>
                  <a:srgbClr val="00378A"/>
                </a:solidFill>
              </a:rPr>
              <a:t> op de juiste plek zetten.</a:t>
            </a:r>
          </a:p>
          <a:p>
            <a:pPr algn="l">
              <a:spcAft>
                <a:spcPts val="400"/>
              </a:spcAft>
            </a:pPr>
          </a:p>
          <a:p>
            <a:pPr algn="l">
              <a:spcAft>
                <a:spcPts val="400"/>
              </a:spcAft>
            </a:pPr>
            <a:r>
              <a:rPr sz="1500">
                <a:solidFill>
                  <a:srgbClr val="00378A"/>
                </a:solidFill>
              </a:rPr>
              <a:t>Wij hebben er één voor jullie gemaakt: de </a:t>
            </a:r>
            <a:r>
              <a:rPr b="1" sz="1500">
                <a:solidFill>
                  <a:srgbClr val="00378A"/>
                </a:solidFill>
              </a:rPr>
              <a:t>intake-skill</a:t>
            </a:r>
            <a:r>
              <a:rPr sz="1500">
                <a:solidFill>
                  <a:srgbClr val="00378A"/>
                </a:solidFill>
              </a:rPr>
              <a:t> interviewt je over je project en maakt een plan voor een agent-ready repo.</a:t>
            </a:r>
          </a:p>
        </p:txBody>
      </p:sp>
      <p:pic>
        <p:nvPicPr>
          <p:cNvPr id="4" name="Picture 3" descr="agent-skills.png"/>
          <p:cNvPicPr>
            <a:picLocks noChangeAspect="1"/>
          </p:cNvPicPr>
          <p:nvPr/>
        </p:nvPicPr>
        <p:blipFill>
          <a:blip r:embed="rId2"/>
          <a:stretch>
            <a:fillRect/>
          </a:stretch>
        </p:blipFill>
        <p:spPr>
          <a:xfrm>
            <a:off x="3749039" y="1600200"/>
            <a:ext cx="5120640" cy="2389632"/>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Straks: kies de korte intake</a:t>
            </a:r>
          </a:p>
        </p:txBody>
      </p:sp>
      <p:sp>
        <p:nvSpPr>
          <p:cNvPr id="3" name="TextBox 2"/>
          <p:cNvSpPr txBox="1"/>
          <p:nvPr/>
        </p:nvSpPr>
        <p:spPr>
          <a:xfrm>
            <a:off x="384048" y="1463040"/>
            <a:ext cx="2606040" cy="365760"/>
          </a:xfrm>
          <a:prstGeom prst="rect">
            <a:avLst/>
          </a:prstGeom>
          <a:noFill/>
        </p:spPr>
        <p:txBody>
          <a:bodyPr wrap="square" anchor="t" lIns="0" rIns="0" tIns="0" bIns="0">
            <a:spAutoFit/>
          </a:bodyPr>
          <a:lstStyle/>
          <a:p>
            <a:pPr algn="l">
              <a:spcAft>
                <a:spcPts val="400"/>
              </a:spcAft>
            </a:pPr>
            <a:r>
              <a:rPr b="1" sz="1400">
                <a:solidFill>
                  <a:srgbClr val="00378A"/>
                </a:solidFill>
              </a:rPr>
              <a:t>1.</a:t>
            </a:r>
            <a:r>
              <a:rPr sz="1400">
                <a:solidFill>
                  <a:srgbClr val="00378A"/>
                </a:solidFill>
              </a:rPr>
              <a:t> Kort of uitgebreid? Kies </a:t>
            </a:r>
            <a:r>
              <a:rPr b="1" sz="1400">
                <a:solidFill>
                  <a:srgbClr val="00378A"/>
                </a:solidFill>
              </a:rPr>
              <a:t>Kort</a:t>
            </a:r>
          </a:p>
        </p:txBody>
      </p:sp>
      <p:pic>
        <p:nvPicPr>
          <p:cNvPr id="4" name="Picture 3" descr="intake-kort.png"/>
          <p:cNvPicPr>
            <a:picLocks noChangeAspect="1"/>
          </p:cNvPicPr>
          <p:nvPr/>
        </p:nvPicPr>
        <p:blipFill>
          <a:blip r:embed="rId2"/>
          <a:stretch>
            <a:fillRect/>
          </a:stretch>
        </p:blipFill>
        <p:spPr>
          <a:xfrm>
            <a:off x="384048" y="1874519"/>
            <a:ext cx="2584603" cy="2377440"/>
          </a:xfrm>
          <a:prstGeom prst="rect">
            <a:avLst/>
          </a:prstGeom>
        </p:spPr>
      </p:pic>
      <p:sp>
        <p:nvSpPr>
          <p:cNvPr id="5" name="Markering Kort"/>
          <p:cNvSpPr/>
          <p:nvPr/>
        </p:nvSpPr>
        <p:spPr>
          <a:xfrm>
            <a:off x="512064" y="3017520"/>
            <a:ext cx="2432304" cy="274320"/>
          </a:xfrm>
          <a:prstGeom prst="roundRect">
            <a:avLst>
              <a:gd name="adj" fmla="val 20000"/>
            </a:avLst>
          </a:prstGeom>
          <a:noFill/>
          <a:ln w="317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1463040"/>
            <a:ext cx="4206240" cy="365760"/>
          </a:xfrm>
          <a:prstGeom prst="rect">
            <a:avLst/>
          </a:prstGeom>
          <a:noFill/>
        </p:spPr>
        <p:txBody>
          <a:bodyPr wrap="square" anchor="t" lIns="0" rIns="0" tIns="0" bIns="0">
            <a:spAutoFit/>
          </a:bodyPr>
          <a:lstStyle/>
          <a:p>
            <a:pPr algn="l">
              <a:spcAft>
                <a:spcPts val="400"/>
              </a:spcAft>
            </a:pPr>
            <a:r>
              <a:rPr b="1" sz="1400">
                <a:solidFill>
                  <a:srgbClr val="00378A"/>
                </a:solidFill>
              </a:rPr>
              <a:t>2.</a:t>
            </a:r>
            <a:r>
              <a:rPr sz="1400">
                <a:solidFill>
                  <a:srgbClr val="00378A"/>
                </a:solidFill>
              </a:rPr>
              <a:t> Tien vervolgvragen? Kies </a:t>
            </a:r>
            <a:r>
              <a:rPr b="1" sz="1400">
                <a:solidFill>
                  <a:srgbClr val="00378A"/>
                </a:solidFill>
              </a:rPr>
              <a:t>Nee, klaar</a:t>
            </a:r>
          </a:p>
        </p:txBody>
      </p:sp>
      <p:pic>
        <p:nvPicPr>
          <p:cNvPr id="7" name="Picture 6" descr="intake-kort-houden.png"/>
          <p:cNvPicPr>
            <a:picLocks noChangeAspect="1"/>
          </p:cNvPicPr>
          <p:nvPr/>
        </p:nvPicPr>
        <p:blipFill>
          <a:blip r:embed="rId3"/>
          <a:stretch>
            <a:fillRect/>
          </a:stretch>
        </p:blipFill>
        <p:spPr>
          <a:xfrm>
            <a:off x="3291840" y="1874519"/>
            <a:ext cx="4206240" cy="2307969"/>
          </a:xfrm>
          <a:prstGeom prst="rect">
            <a:avLst/>
          </a:prstGeom>
        </p:spPr>
      </p:pic>
      <p:sp>
        <p:nvSpPr>
          <p:cNvPr id="8" name="Markering Nee, klaar"/>
          <p:cNvSpPr/>
          <p:nvPr/>
        </p:nvSpPr>
        <p:spPr>
          <a:xfrm>
            <a:off x="3346704" y="3017520"/>
            <a:ext cx="4041648" cy="329184"/>
          </a:xfrm>
          <a:prstGeom prst="roundRect">
            <a:avLst>
              <a:gd name="adj" fmla="val 20000"/>
            </a:avLst>
          </a:prstGeom>
          <a:noFill/>
          <a:ln w="317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Oefening 2: Intake-skill en je plan delen</a:t>
            </a:r>
          </a:p>
        </p:txBody>
      </p:sp>
      <p:sp>
        <p:nvSpPr>
          <p:cNvPr id="4" name="Text Placeholder 3"/>
          <p:cNvSpPr>
            <a:spLocks noGrp="1"/>
          </p:cNvSpPr>
          <p:nvPr>
            <p:ph type="body" idx="13" sz="quarter"/>
          </p:nvPr>
        </p:nvSpPr>
        <p:spPr/>
        <p:txBody>
          <a:bodyPr/>
          <a:lstStyle/>
          <a:p>
            <a:r>
              <a:t>40 minuten</a:t>
            </a:r>
          </a:p>
        </p:txBody>
      </p:sp>
      <p:sp>
        <p:nvSpPr>
          <p:cNvPr id="5" name="Stap 1"/>
          <p:cNvSpPr/>
          <p:nvPr/>
        </p:nvSpPr>
        <p:spPr>
          <a:xfrm>
            <a:off x="384048" y="16002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6" name="TextBox 5"/>
          <p:cNvSpPr txBox="1"/>
          <p:nvPr/>
        </p:nvSpPr>
        <p:spPr>
          <a:xfrm>
            <a:off x="886968" y="1627632"/>
            <a:ext cx="4343400" cy="365760"/>
          </a:xfrm>
          <a:prstGeom prst="rect">
            <a:avLst/>
          </a:prstGeom>
          <a:noFill/>
        </p:spPr>
        <p:txBody>
          <a:bodyPr wrap="square" anchor="ctr" lIns="0" rIns="0" tIns="0" bIns="0">
            <a:spAutoFit/>
          </a:bodyPr>
          <a:lstStyle/>
          <a:p>
            <a:pPr algn="l">
              <a:spcAft>
                <a:spcPts val="400"/>
              </a:spcAft>
            </a:pPr>
            <a:r>
              <a:rPr sz="1300">
                <a:solidFill>
                  <a:srgbClr val="00378A"/>
                </a:solidFill>
              </a:rPr>
              <a:t>Maak je eigen repo op GitHub (let op de naam!) en clone hem</a:t>
            </a:r>
          </a:p>
        </p:txBody>
      </p:sp>
      <p:sp>
        <p:nvSpPr>
          <p:cNvPr id="7" name="Stap 2"/>
          <p:cNvSpPr/>
          <p:nvPr/>
        </p:nvSpPr>
        <p:spPr>
          <a:xfrm>
            <a:off x="384048" y="20574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8" name="TextBox 7"/>
          <p:cNvSpPr txBox="1"/>
          <p:nvPr/>
        </p:nvSpPr>
        <p:spPr>
          <a:xfrm>
            <a:off x="886968" y="2084831"/>
            <a:ext cx="4343400" cy="365760"/>
          </a:xfrm>
          <a:prstGeom prst="rect">
            <a:avLst/>
          </a:prstGeom>
          <a:noFill/>
        </p:spPr>
        <p:txBody>
          <a:bodyPr wrap="square" anchor="ctr" lIns="0" rIns="0" tIns="0" bIns="0">
            <a:spAutoFit/>
          </a:bodyPr>
          <a:lstStyle/>
          <a:p>
            <a:pPr algn="l">
              <a:spcAft>
                <a:spcPts val="400"/>
              </a:spcAft>
            </a:pPr>
            <a:r>
              <a:rPr sz="1300">
                <a:solidFill>
                  <a:srgbClr val="00378A"/>
                </a:solidFill>
              </a:rPr>
              <a:t>Start de </a:t>
            </a:r>
            <a:r>
              <a:rPr b="1" sz="1300">
                <a:solidFill>
                  <a:srgbClr val="00378A"/>
                </a:solidFill>
              </a:rPr>
              <a:t>intake-skill</a:t>
            </a:r>
            <a:r>
              <a:rPr sz="1300">
                <a:solidFill>
                  <a:srgbClr val="00378A"/>
                </a:solidFill>
              </a:rPr>
              <a:t> en kies de </a:t>
            </a:r>
            <a:r>
              <a:rPr b="1" sz="1300">
                <a:solidFill>
                  <a:srgbClr val="00378A"/>
                </a:solidFill>
              </a:rPr>
              <a:t>korte</a:t>
            </a:r>
            <a:r>
              <a:rPr sz="1300">
                <a:solidFill>
                  <a:srgbClr val="00378A"/>
                </a:solidFill>
              </a:rPr>
              <a:t> intake</a:t>
            </a:r>
          </a:p>
        </p:txBody>
      </p:sp>
      <p:sp>
        <p:nvSpPr>
          <p:cNvPr id="9" name="Stap 3"/>
          <p:cNvSpPr/>
          <p:nvPr/>
        </p:nvSpPr>
        <p:spPr>
          <a:xfrm>
            <a:off x="384048" y="25146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10" name="TextBox 9"/>
          <p:cNvSpPr txBox="1"/>
          <p:nvPr/>
        </p:nvSpPr>
        <p:spPr>
          <a:xfrm>
            <a:off x="886968" y="2542032"/>
            <a:ext cx="4343400" cy="365760"/>
          </a:xfrm>
          <a:prstGeom prst="rect">
            <a:avLst/>
          </a:prstGeom>
          <a:noFill/>
        </p:spPr>
        <p:txBody>
          <a:bodyPr wrap="square" anchor="ctr" lIns="0" rIns="0" tIns="0" bIns="0">
            <a:spAutoFit/>
          </a:bodyPr>
          <a:lstStyle/>
          <a:p>
            <a:pPr algn="l">
              <a:spcAft>
                <a:spcPts val="400"/>
              </a:spcAft>
            </a:pPr>
            <a:r>
              <a:rPr b="1" sz="1300">
                <a:solidFill>
                  <a:srgbClr val="00378A"/>
                </a:solidFill>
              </a:rPr>
              <a:t>Lees</a:t>
            </a:r>
            <a:r>
              <a:rPr sz="1300">
                <a:solidFill>
                  <a:srgbClr val="00378A"/>
                </a:solidFill>
              </a:rPr>
              <a:t> </a:t>
            </a:r>
            <a:r>
              <a:rPr sz="1300">
                <a:solidFill>
                  <a:srgbClr val="00378A"/>
                </a:solidFill>
                <a:latin typeface="Consolas"/>
              </a:rPr>
              <a:t>plan-van-aanpak.md</a:t>
            </a:r>
            <a:r>
              <a:rPr sz="1300">
                <a:solidFill>
                  <a:srgbClr val="00378A"/>
                </a:solidFill>
              </a:rPr>
              <a:t>: klopt het? Pas aan waar nodig</a:t>
            </a:r>
          </a:p>
        </p:txBody>
      </p:sp>
      <p:sp>
        <p:nvSpPr>
          <p:cNvPr id="11" name="Stap 4"/>
          <p:cNvSpPr/>
          <p:nvPr/>
        </p:nvSpPr>
        <p:spPr>
          <a:xfrm>
            <a:off x="384048" y="29718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4</a:t>
            </a:r>
          </a:p>
        </p:txBody>
      </p:sp>
      <p:sp>
        <p:nvSpPr>
          <p:cNvPr id="12" name="TextBox 11"/>
          <p:cNvSpPr txBox="1"/>
          <p:nvPr/>
        </p:nvSpPr>
        <p:spPr>
          <a:xfrm>
            <a:off x="886968" y="2999232"/>
            <a:ext cx="4343400" cy="365760"/>
          </a:xfrm>
          <a:prstGeom prst="rect">
            <a:avLst/>
          </a:prstGeom>
          <a:noFill/>
        </p:spPr>
        <p:txBody>
          <a:bodyPr wrap="square" anchor="ctr" lIns="0" rIns="0" tIns="0" bIns="0">
            <a:spAutoFit/>
          </a:bodyPr>
          <a:lstStyle/>
          <a:p>
            <a:pPr algn="l">
              <a:spcAft>
                <a:spcPts val="400"/>
              </a:spcAft>
            </a:pPr>
            <a:r>
              <a:rPr sz="1300">
                <a:solidFill>
                  <a:srgbClr val="00378A"/>
                </a:solidFill>
              </a:rPr>
              <a:t>Laat een ander je plan lezen en feedback geven</a:t>
            </a:r>
          </a:p>
        </p:txBody>
      </p:sp>
      <p:sp>
        <p:nvSpPr>
          <p:cNvPr id="13" name="Stap 5"/>
          <p:cNvSpPr/>
          <p:nvPr/>
        </p:nvSpPr>
        <p:spPr>
          <a:xfrm>
            <a:off x="384048" y="34290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5</a:t>
            </a:r>
          </a:p>
        </p:txBody>
      </p:sp>
      <p:sp>
        <p:nvSpPr>
          <p:cNvPr id="14" name="TextBox 13"/>
          <p:cNvSpPr txBox="1"/>
          <p:nvPr/>
        </p:nvSpPr>
        <p:spPr>
          <a:xfrm>
            <a:off x="886968" y="3456432"/>
            <a:ext cx="4343400" cy="365760"/>
          </a:xfrm>
          <a:prstGeom prst="rect">
            <a:avLst/>
          </a:prstGeom>
          <a:noFill/>
        </p:spPr>
        <p:txBody>
          <a:bodyPr wrap="square" anchor="ctr" lIns="0" rIns="0" tIns="0" bIns="0">
            <a:spAutoFit/>
          </a:bodyPr>
          <a:lstStyle/>
          <a:p>
            <a:pPr algn="l">
              <a:spcAft>
                <a:spcPts val="400"/>
              </a:spcAft>
            </a:pPr>
            <a:r>
              <a:rPr sz="1300">
                <a:solidFill>
                  <a:srgbClr val="00378A"/>
                </a:solidFill>
              </a:rPr>
              <a:t>Vraag je agent: "Zet de afspraken uit het plan in </a:t>
            </a:r>
            <a:r>
              <a:rPr sz="1300">
                <a:solidFill>
                  <a:srgbClr val="00378A"/>
                </a:solidFill>
                <a:latin typeface="Consolas"/>
              </a:rPr>
              <a:t>AGENTS.md</a:t>
            </a:r>
            <a:r>
              <a:rPr sz="1300">
                <a:solidFill>
                  <a:srgbClr val="00378A"/>
                </a:solidFill>
              </a:rPr>
              <a:t>", en lees die ook</a:t>
            </a:r>
          </a:p>
        </p:txBody>
      </p:sp>
      <p:sp>
        <p:nvSpPr>
          <p:cNvPr id="15" name="Markering stap 3"/>
          <p:cNvSpPr/>
          <p:nvPr/>
        </p:nvSpPr>
        <p:spPr>
          <a:xfrm>
            <a:off x="292608" y="2468880"/>
            <a:ext cx="5029200" cy="438912"/>
          </a:xfrm>
          <a:prstGeom prst="roundRect">
            <a:avLst>
              <a:gd name="adj" fmla="val 20000"/>
            </a:avLst>
          </a:prstGeom>
          <a:noFill/>
          <a:ln w="317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ecklist"/>
          <p:cNvSpPr/>
          <p:nvPr/>
        </p:nvSpPr>
        <p:spPr>
          <a:xfrm>
            <a:off x="5486400" y="1600200"/>
            <a:ext cx="3017520" cy="22860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ecklist rand"/>
          <p:cNvSpPr/>
          <p:nvPr/>
        </p:nvSpPr>
        <p:spPr>
          <a:xfrm>
            <a:off x="5486400" y="1600200"/>
            <a:ext cx="3017520" cy="2286000"/>
          </a:xfrm>
          <a:prstGeom prst="roundRect">
            <a:avLst>
              <a:gd name="adj" fmla="val 8000"/>
            </a:avLst>
          </a:prstGeom>
          <a:noFill/>
          <a:ln w="317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321808" y="2688336"/>
            <a:ext cx="146304"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23560" y="1691640"/>
            <a:ext cx="2743200" cy="274320"/>
          </a:xfrm>
          <a:prstGeom prst="rect">
            <a:avLst/>
          </a:prstGeom>
          <a:noFill/>
        </p:spPr>
        <p:txBody>
          <a:bodyPr wrap="square" anchor="t" lIns="0" rIns="0" tIns="0" bIns="0">
            <a:spAutoFit/>
          </a:bodyPr>
          <a:lstStyle/>
          <a:p>
            <a:pPr algn="l">
              <a:spcAft>
                <a:spcPts val="400"/>
              </a:spcAft>
            </a:pPr>
            <a:r>
              <a:rPr b="1" sz="1300">
                <a:solidFill>
                  <a:srgbClr val="FF6600"/>
                </a:solidFill>
              </a:rPr>
              <a:t>Checklist bij stap 3</a:t>
            </a:r>
          </a:p>
        </p:txBody>
      </p:sp>
      <p:sp>
        <p:nvSpPr>
          <p:cNvPr id="20" name="TextBox 19"/>
          <p:cNvSpPr txBox="1"/>
          <p:nvPr/>
        </p:nvSpPr>
        <p:spPr>
          <a:xfrm>
            <a:off x="5623560" y="2011680"/>
            <a:ext cx="2743200" cy="1828800"/>
          </a:xfrm>
          <a:prstGeom prst="rect">
            <a:avLst/>
          </a:prstGeom>
          <a:noFill/>
        </p:spPr>
        <p:txBody>
          <a:bodyPr wrap="square" anchor="t" lIns="0" rIns="0" tIns="0" bIns="0">
            <a:spAutoFit/>
          </a:bodyPr>
          <a:lstStyle/>
          <a:p>
            <a:pPr algn="l">
              <a:spcAft>
                <a:spcPts val="400"/>
              </a:spcAft>
            </a:pPr>
            <a:r>
              <a:rPr sz="1000">
                <a:solidFill>
                  <a:srgbClr val="00378A"/>
                </a:solidFill>
              </a:rPr>
              <a:t>☐  Wat het project is, voor wie, en wat de eerste versie is</a:t>
            </a:r>
          </a:p>
          <a:p>
            <a:pPr algn="l">
              <a:spcAft>
                <a:spcPts val="400"/>
              </a:spcAft>
            </a:pPr>
            <a:r>
              <a:rPr sz="1000">
                <a:solidFill>
                  <a:srgbClr val="00378A"/>
                </a:solidFill>
              </a:rPr>
              <a:t>☐  Data access: welke opzet, en wie de data-eigenaar is</a:t>
            </a:r>
          </a:p>
          <a:p>
            <a:pPr algn="l">
              <a:spcAft>
                <a:spcPts val="400"/>
              </a:spcAft>
            </a:pPr>
            <a:r>
              <a:rPr sz="1000">
                <a:solidFill>
                  <a:srgbClr val="00378A"/>
                </a:solidFill>
              </a:rPr>
              <a:t>☐  Wat de agent níét mag lezen (</a:t>
            </a:r>
            <a:r>
              <a:rPr sz="1000">
                <a:solidFill>
                  <a:srgbClr val="00378A"/>
                </a:solidFill>
                <a:latin typeface="Consolas"/>
              </a:rPr>
              <a:t>.env</a:t>
            </a:r>
            <a:r>
              <a:rPr sz="1000">
                <a:solidFill>
                  <a:srgbClr val="00378A"/>
                </a:solidFill>
              </a:rPr>
              <a:t>, je privédata)</a:t>
            </a:r>
          </a:p>
          <a:p>
            <a:pPr algn="l">
              <a:spcAft>
                <a:spcPts val="400"/>
              </a:spcAft>
            </a:pPr>
            <a:r>
              <a:rPr sz="1000">
                <a:solidFill>
                  <a:srgbClr val="00378A"/>
                </a:solidFill>
              </a:rPr>
              <a:t>☐  Workflow: plan, kleine stappen, commit per stap, hand-off</a:t>
            </a:r>
          </a:p>
          <a:p>
            <a:pPr algn="l">
              <a:spcAft>
                <a:spcPts val="400"/>
              </a:spcAft>
            </a:pPr>
            <a:r>
              <a:rPr sz="1000">
                <a:solidFill>
                  <a:srgbClr val="00378A"/>
                </a:solidFill>
              </a:rPr>
              <a:t>☐  Mappenstructuur en naamgeving</a:t>
            </a:r>
          </a:p>
          <a:p>
            <a:pPr algn="l">
              <a:spcAft>
                <a:spcPts val="400"/>
              </a:spcAft>
            </a:pPr>
            <a:r>
              <a:rPr sz="1000">
                <a:solidFill>
                  <a:srgbClr val="00378A"/>
                </a:solidFill>
              </a:rPr>
              <a:t>☐  Verdieping: deny-regels echt ingesteld</a:t>
            </a:r>
          </a:p>
        </p:txBody>
      </p:sp>
      <p:sp>
        <p:nvSpPr>
          <p:cNvPr id="21" name="Les"/>
          <p:cNvSpPr/>
          <p:nvPr/>
        </p:nvSpPr>
        <p:spPr>
          <a:xfrm>
            <a:off x="384048" y="4023360"/>
            <a:ext cx="7680960" cy="502920"/>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023360"/>
            <a:ext cx="7315200" cy="502920"/>
          </a:xfrm>
          <a:prstGeom prst="rect">
            <a:avLst/>
          </a:prstGeom>
          <a:noFill/>
        </p:spPr>
        <p:txBody>
          <a:bodyPr wrap="square" anchor="ctr" lIns="0" rIns="0" tIns="0" bIns="0">
            <a:spAutoFit/>
          </a:bodyPr>
          <a:lstStyle/>
          <a:p>
            <a:pPr algn="l">
              <a:spcAft>
                <a:spcPts val="400"/>
              </a:spcAft>
            </a:pPr>
            <a:r>
              <a:rPr b="1" sz="1500">
                <a:solidFill>
                  <a:srgbClr val="FFFFFF"/>
                </a:solidFill>
              </a:rPr>
              <a:t>Les:</a:t>
            </a:r>
            <a:r>
              <a:rPr sz="1500">
                <a:solidFill>
                  <a:srgbClr val="FFFFFF"/>
                </a:solidFill>
              </a:rPr>
              <a:t> werk je plan goed uit en LEES JE AGENT-DOCS.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Welke documenten, waarvoor?</a:t>
            </a:r>
          </a:p>
        </p:txBody>
      </p:sp>
      <p:graphicFrame>
        <p:nvGraphicFramePr>
          <p:cNvPr id="3" name="Table 2"/>
          <p:cNvGraphicFramePr>
            <a:graphicFrameLocks noGrp="1"/>
          </p:cNvGraphicFramePr>
          <p:nvPr/>
        </p:nvGraphicFramePr>
        <p:xfrm>
          <a:off x="384048" y="1691640"/>
          <a:ext cx="8138160" cy="2304288"/>
        </p:xfrm>
        <a:graphic>
          <a:graphicData uri="http://schemas.openxmlformats.org/drawingml/2006/table">
            <a:tbl>
              <a:tblPr firstRow="1" bandRow="1">
                <a:tableStyleId>{5C22544A-7EE6-4342-B048-85BDC9FD1C3A}</a:tableStyleId>
              </a:tblPr>
              <a:tblGrid>
                <a:gridCol w="2103120"/>
                <a:gridCol w="3566160"/>
                <a:gridCol w="2468880"/>
              </a:tblGrid>
              <a:tr h="384048">
                <a:tc>
                  <a:txBody>
                    <a:bodyPr/>
                    <a:lstStyle/>
                    <a:p>
                      <a:r>
                        <a:rPr b="1" sz="1300">
                          <a:solidFill>
                            <a:srgbClr val="FFFFFF"/>
                          </a:solidFill>
                        </a:rPr>
                        <a:t>Document</a:t>
                      </a:r>
                    </a:p>
                  </a:txBody>
                  <a:tcPr marL="109728" marR="109728" anchor="ctr">
                    <a:solidFill>
                      <a:srgbClr val="FF6600"/>
                    </a:solidFill>
                  </a:tcPr>
                </a:tc>
                <a:tc>
                  <a:txBody>
                    <a:bodyPr/>
                    <a:lstStyle/>
                    <a:p>
                      <a:r>
                        <a:rPr b="1" sz="1300">
                          <a:solidFill>
                            <a:srgbClr val="FFFFFF"/>
                          </a:solidFill>
                        </a:rPr>
                        <a:t>Rol</a:t>
                      </a:r>
                    </a:p>
                  </a:txBody>
                  <a:tcPr marL="109728" marR="109728" anchor="ctr">
                    <a:solidFill>
                      <a:srgbClr val="FF6600"/>
                    </a:solidFill>
                  </a:tcPr>
                </a:tc>
                <a:tc>
                  <a:txBody>
                    <a:bodyPr/>
                    <a:lstStyle/>
                    <a:p>
                      <a:r>
                        <a:rPr b="1" sz="1300">
                          <a:solidFill>
                            <a:srgbClr val="FFFFFF"/>
                          </a:solidFill>
                        </a:rPr>
                        <a:t>Wanneer</a:t>
                      </a:r>
                    </a:p>
                  </a:txBody>
                  <a:tcPr marL="109728" marR="109728" anchor="ctr">
                    <a:solidFill>
                      <a:srgbClr val="FF6600"/>
                    </a:solidFill>
                  </a:tcPr>
                </a:tc>
              </a:tr>
              <a:tr h="384048">
                <a:tc>
                  <a:txBody>
                    <a:bodyPr/>
                    <a:lstStyle/>
                    <a:p>
                      <a:r>
                        <a:rPr sz="1300">
                          <a:solidFill>
                            <a:srgbClr val="00378A"/>
                          </a:solidFill>
                          <a:latin typeface="Consolas"/>
                        </a:rPr>
                        <a:t>plan-van-aanpak.md</a:t>
                      </a:r>
                    </a:p>
                  </a:txBody>
                  <a:tcPr marL="109728" marR="109728" anchor="ctr">
                    <a:solidFill>
                      <a:srgbClr val="FFFFFF"/>
                    </a:solidFill>
                  </a:tcPr>
                </a:tc>
                <a:tc>
                  <a:txBody>
                    <a:bodyPr/>
                    <a:lstStyle/>
                    <a:p>
                      <a:r>
                        <a:rPr b="1" sz="1300">
                          <a:solidFill>
                            <a:srgbClr val="00378A"/>
                          </a:solidFill>
                        </a:rPr>
                        <a:t>Richting</a:t>
                      </a:r>
                      <a:r>
                        <a:rPr sz="1300">
                          <a:solidFill>
                            <a:srgbClr val="00378A"/>
                          </a:solidFill>
                        </a:rPr>
                        <a:t>: doel, aanpak, data, structuur</a:t>
                      </a:r>
                    </a:p>
                  </a:txBody>
                  <a:tcPr marL="109728" marR="109728" anchor="ctr">
                    <a:solidFill>
                      <a:srgbClr val="FFFFFF"/>
                    </a:solidFill>
                  </a:tcPr>
                </a:tc>
                <a:tc>
                  <a:txBody>
                    <a:bodyPr/>
                    <a:lstStyle/>
                    <a:p>
                      <a:r>
                        <a:rPr sz="1300">
                          <a:solidFill>
                            <a:srgbClr val="00378A"/>
                          </a:solidFill>
                        </a:rPr>
                        <a:t>Uit de intake-skill</a:t>
                      </a:r>
                    </a:p>
                  </a:txBody>
                  <a:tcPr marL="109728" marR="109728" anchor="ctr">
                    <a:solidFill>
                      <a:srgbClr val="FFFFFF"/>
                    </a:solidFill>
                  </a:tcPr>
                </a:tc>
              </a:tr>
              <a:tr h="384048">
                <a:tc>
                  <a:txBody>
                    <a:bodyPr/>
                    <a:lstStyle/>
                    <a:p>
                      <a:r>
                        <a:rPr sz="1300">
                          <a:solidFill>
                            <a:srgbClr val="00378A"/>
                          </a:solidFill>
                          <a:latin typeface="Consolas"/>
                        </a:rPr>
                        <a:t>AGENTS.md</a:t>
                      </a:r>
                    </a:p>
                  </a:txBody>
                  <a:tcPr marL="109728" marR="109728" anchor="ctr">
                    <a:solidFill>
                      <a:srgbClr val="F2F2F2"/>
                    </a:solidFill>
                  </a:tcPr>
                </a:tc>
                <a:tc>
                  <a:txBody>
                    <a:bodyPr/>
                    <a:lstStyle/>
                    <a:p>
                      <a:r>
                        <a:rPr b="1" sz="1300">
                          <a:solidFill>
                            <a:srgbClr val="00378A"/>
                          </a:solidFill>
                        </a:rPr>
                        <a:t>Werkafspraken</a:t>
                      </a:r>
                      <a:r>
                        <a:rPr sz="1300">
                          <a:solidFill>
                            <a:srgbClr val="00378A"/>
                          </a:solidFill>
                        </a:rPr>
                        <a:t> voor je agent</a:t>
                      </a:r>
                    </a:p>
                  </a:txBody>
                  <a:tcPr marL="109728" marR="109728" anchor="ctr">
                    <a:solidFill>
                      <a:srgbClr val="F2F2F2"/>
                    </a:solidFill>
                  </a:tcPr>
                </a:tc>
                <a:tc>
                  <a:txBody>
                    <a:bodyPr/>
                    <a:lstStyle/>
                    <a:p>
                      <a:r>
                        <a:rPr sz="1300">
                          <a:solidFill>
                            <a:srgbClr val="00378A"/>
                          </a:solidFill>
                        </a:rPr>
                        <a:t>Vóór je gaat bouwen</a:t>
                      </a:r>
                    </a:p>
                  </a:txBody>
                  <a:tcPr marL="109728" marR="109728" anchor="ctr">
                    <a:solidFill>
                      <a:srgbClr val="F2F2F2"/>
                    </a:solidFill>
                  </a:tcPr>
                </a:tc>
              </a:tr>
              <a:tr h="384048">
                <a:tc>
                  <a:txBody>
                    <a:bodyPr/>
                    <a:lstStyle/>
                    <a:p>
                      <a:r>
                        <a:rPr sz="1300">
                          <a:solidFill>
                            <a:srgbClr val="00378A"/>
                          </a:solidFill>
                          <a:latin typeface="Consolas"/>
                        </a:rPr>
                        <a:t>tasks.md</a:t>
                      </a:r>
                    </a:p>
                  </a:txBody>
                  <a:tcPr marL="109728" marR="109728" anchor="ctr">
                    <a:solidFill>
                      <a:srgbClr val="FFFFFF"/>
                    </a:solidFill>
                  </a:tcPr>
                </a:tc>
                <a:tc>
                  <a:txBody>
                    <a:bodyPr/>
                    <a:lstStyle/>
                    <a:p>
                      <a:r>
                        <a:rPr b="1" sz="1300">
                          <a:solidFill>
                            <a:srgbClr val="00378A"/>
                          </a:solidFill>
                        </a:rPr>
                        <a:t>Stappen</a:t>
                      </a:r>
                      <a:r>
                        <a:rPr sz="1300">
                          <a:solidFill>
                            <a:srgbClr val="00378A"/>
                          </a:solidFill>
                        </a:rPr>
                        <a:t>: wat doen we eerst?</a:t>
                      </a:r>
                    </a:p>
                  </a:txBody>
                  <a:tcPr marL="109728" marR="109728" anchor="ctr">
                    <a:solidFill>
                      <a:srgbClr val="FFFFFF"/>
                    </a:solidFill>
                  </a:tcPr>
                </a:tc>
                <a:tc>
                  <a:txBody>
                    <a:bodyPr/>
                    <a:lstStyle/>
                    <a:p>
                      <a:r>
                        <a:rPr sz="1300">
                          <a:solidFill>
                            <a:srgbClr val="00378A"/>
                          </a:solidFill>
                        </a:rPr>
                        <a:t>Als het project groeit</a:t>
                      </a:r>
                    </a:p>
                  </a:txBody>
                  <a:tcPr marL="109728" marR="109728" anchor="ctr">
                    <a:solidFill>
                      <a:srgbClr val="FFFFFF"/>
                    </a:solidFill>
                  </a:tcPr>
                </a:tc>
              </a:tr>
              <a:tr h="384048">
                <a:tc>
                  <a:txBody>
                    <a:bodyPr/>
                    <a:lstStyle/>
                    <a:p>
                      <a:r>
                        <a:rPr sz="1300">
                          <a:solidFill>
                            <a:srgbClr val="00378A"/>
                          </a:solidFill>
                          <a:latin typeface="Consolas"/>
                        </a:rPr>
                        <a:t>docs/handoffs/</a:t>
                      </a:r>
                    </a:p>
                  </a:txBody>
                  <a:tcPr marL="109728" marR="109728" anchor="ctr">
                    <a:solidFill>
                      <a:srgbClr val="F2F2F2"/>
                    </a:solidFill>
                  </a:tcPr>
                </a:tc>
                <a:tc>
                  <a:txBody>
                    <a:bodyPr/>
                    <a:lstStyle/>
                    <a:p>
                      <a:r>
                        <a:rPr b="1" sz="1300">
                          <a:solidFill>
                            <a:srgbClr val="00378A"/>
                          </a:solidFill>
                        </a:rPr>
                        <a:t>Overdracht</a:t>
                      </a:r>
                      <a:r>
                        <a:rPr sz="1300">
                          <a:solidFill>
                            <a:srgbClr val="00378A"/>
                          </a:solidFill>
                        </a:rPr>
                        <a:t> tussen sessies</a:t>
                      </a:r>
                    </a:p>
                  </a:txBody>
                  <a:tcPr marL="109728" marR="109728" anchor="ctr">
                    <a:solidFill>
                      <a:srgbClr val="F2F2F2"/>
                    </a:solidFill>
                  </a:tcPr>
                </a:tc>
                <a:tc>
                  <a:txBody>
                    <a:bodyPr/>
                    <a:lstStyle/>
                    <a:p>
                      <a:r>
                        <a:rPr sz="1300">
                          <a:solidFill>
                            <a:srgbClr val="00378A"/>
                          </a:solidFill>
                        </a:rPr>
                        <a:t>Aan het eind van elke sessie</a:t>
                      </a:r>
                    </a:p>
                  </a:txBody>
                  <a:tcPr marL="109728" marR="109728" anchor="ctr">
                    <a:solidFill>
                      <a:srgbClr val="F2F2F2"/>
                    </a:solidFill>
                  </a:tcPr>
                </a:tc>
              </a:tr>
              <a:tr h="384048">
                <a:tc>
                  <a:txBody>
                    <a:bodyPr/>
                    <a:lstStyle/>
                    <a:p>
                      <a:r>
                        <a:rPr sz="1300">
                          <a:solidFill>
                            <a:srgbClr val="00378A"/>
                          </a:solidFill>
                          <a:latin typeface="Consolas"/>
                        </a:rPr>
                        <a:t>decisions.md</a:t>
                      </a:r>
                    </a:p>
                  </a:txBody>
                  <a:tcPr marL="109728" marR="109728" anchor="ctr">
                    <a:solidFill>
                      <a:srgbClr val="FFFFFF"/>
                    </a:solidFill>
                  </a:tcPr>
                </a:tc>
                <a:tc>
                  <a:txBody>
                    <a:bodyPr/>
                    <a:lstStyle/>
                    <a:p>
                      <a:r>
                        <a:rPr b="1" sz="1300">
                          <a:solidFill>
                            <a:srgbClr val="00378A"/>
                          </a:solidFill>
                        </a:rPr>
                        <a:t>Besluiten</a:t>
                      </a:r>
                      <a:r>
                        <a:rPr sz="1300">
                          <a:solidFill>
                            <a:srgbClr val="00378A"/>
                          </a:solidFill>
                        </a:rPr>
                        <a:t> en waarom</a:t>
                      </a:r>
                    </a:p>
                  </a:txBody>
                  <a:tcPr marL="109728" marR="109728" anchor="ctr">
                    <a:solidFill>
                      <a:srgbClr val="FFFFFF"/>
                    </a:solidFill>
                  </a:tcPr>
                </a:tc>
                <a:tc>
                  <a:txBody>
                    <a:bodyPr/>
                    <a:lstStyle/>
                    <a:p>
                      <a:r>
                        <a:rPr sz="1300">
                          <a:solidFill>
                            <a:srgbClr val="00378A"/>
                          </a:solidFill>
                        </a:rPr>
                        <a:t>Naar behoefte</a:t>
                      </a:r>
                    </a:p>
                  </a:txBody>
                  <a:tcPr marL="109728" marR="109728"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Verdieping: voorbeeldregels</a:t>
            </a:r>
          </a:p>
        </p:txBody>
      </p:sp>
      <p:sp>
        <p:nvSpPr>
          <p:cNvPr id="4" name="Text Placeholder 3"/>
          <p:cNvSpPr>
            <a:spLocks noGrp="1"/>
          </p:cNvSpPr>
          <p:nvPr>
            <p:ph type="body" idx="13" sz="quarter"/>
          </p:nvPr>
        </p:nvSpPr>
        <p:spPr/>
        <p:txBody>
          <a:bodyPr/>
          <a:lstStyle/>
          <a:p>
            <a:r>
              <a:t>Optioneel, voor wie verder wil</a:t>
            </a:r>
          </a:p>
        </p:txBody>
      </p:sp>
      <p:sp>
        <p:nvSpPr>
          <p:cNvPr id="5" name="Label"/>
          <p:cNvSpPr/>
          <p:nvPr/>
        </p:nvSpPr>
        <p:spPr>
          <a:xfrm>
            <a:off x="384048" y="4507992"/>
            <a:ext cx="4869179" cy="246888"/>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00378A"/>
                </a:solidFill>
              </a:rPr>
              <a:t>OPTIONEEL  ·  lees na: naslagwerk/agent/permissies-en-guardrails.md</a:t>
            </a:r>
          </a:p>
        </p:txBody>
      </p:sp>
      <p:sp>
        <p:nvSpPr>
          <p:cNvPr id="6" name="Kaart 1"/>
          <p:cNvSpPr/>
          <p:nvPr/>
        </p:nvSpPr>
        <p:spPr>
          <a:xfrm>
            <a:off x="384048" y="1737360"/>
            <a:ext cx="3931920" cy="2377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20240"/>
            <a:ext cx="3566160" cy="457200"/>
          </a:xfrm>
          <a:prstGeom prst="rect">
            <a:avLst/>
          </a:prstGeom>
          <a:noFill/>
        </p:spPr>
        <p:txBody>
          <a:bodyPr wrap="square" anchor="t" lIns="0" rIns="0" tIns="0" bIns="0">
            <a:spAutoFit/>
          </a:bodyPr>
          <a:lstStyle/>
          <a:p>
            <a:pPr algn="l">
              <a:spcAft>
                <a:spcPts val="400"/>
              </a:spcAft>
            </a:pPr>
            <a:r>
              <a:rPr b="1" sz="1600">
                <a:solidFill>
                  <a:srgbClr val="FF6600"/>
                </a:solidFill>
              </a:rPr>
              <a:t>User level: voor al je projecten</a:t>
            </a:r>
          </a:p>
        </p:txBody>
      </p:sp>
      <p:sp>
        <p:nvSpPr>
          <p:cNvPr id="8" name="TextBox 7"/>
          <p:cNvSpPr txBox="1"/>
          <p:nvPr/>
        </p:nvSpPr>
        <p:spPr>
          <a:xfrm>
            <a:off x="566928" y="2423160"/>
            <a:ext cx="3566160" cy="1554480"/>
          </a:xfrm>
          <a:prstGeom prst="rect">
            <a:avLst/>
          </a:prstGeom>
          <a:noFill/>
        </p:spPr>
        <p:txBody>
          <a:bodyPr wrap="square" anchor="t" lIns="0" rIns="0" tIns="0" bIns="0">
            <a:spAutoFit/>
          </a:bodyPr>
          <a:lstStyle/>
          <a:p>
            <a:pPr algn="l">
              <a:spcAft>
                <a:spcPts val="400"/>
              </a:spcAft>
            </a:pPr>
            <a:r>
              <a:rPr sz="1300">
                <a:solidFill>
                  <a:srgbClr val="00378A"/>
                </a:solidFill>
              </a:rPr>
              <a:t>Antwoord in het Nederlands</a:t>
            </a:r>
          </a:p>
          <a:p>
            <a:pPr algn="l">
              <a:spcAft>
                <a:spcPts val="400"/>
              </a:spcAft>
            </a:pPr>
            <a:r>
              <a:rPr sz="1300">
                <a:solidFill>
                  <a:srgbClr val="00378A"/>
                </a:solidFill>
              </a:rPr>
              <a:t>Lees nooit </a:t>
            </a:r>
            <a:r>
              <a:rPr sz="1300">
                <a:solidFill>
                  <a:srgbClr val="00378A"/>
                </a:solidFill>
                <a:latin typeface="Consolas"/>
              </a:rPr>
              <a:t>.env</a:t>
            </a:r>
            <a:r>
              <a:rPr sz="1300">
                <a:solidFill>
                  <a:srgbClr val="00378A"/>
                </a:solidFill>
              </a:rPr>
              <a:t>, </a:t>
            </a:r>
            <a:r>
              <a:rPr sz="1300">
                <a:solidFill>
                  <a:srgbClr val="00378A"/>
                </a:solidFill>
                <a:latin typeface="Consolas"/>
              </a:rPr>
              <a:t>*.key</a:t>
            </a:r>
            <a:r>
              <a:rPr sz="1300">
                <a:solidFill>
                  <a:srgbClr val="00378A"/>
                </a:solidFill>
              </a:rPr>
              <a:t> of </a:t>
            </a:r>
            <a:r>
              <a:rPr sz="1300">
                <a:solidFill>
                  <a:srgbClr val="00378A"/>
                </a:solidFill>
                <a:latin typeface="Consolas"/>
              </a:rPr>
              <a:t>*.pem</a:t>
            </a:r>
          </a:p>
          <a:p>
            <a:pPr algn="l">
              <a:spcAft>
                <a:spcPts val="400"/>
              </a:spcAft>
            </a:pPr>
            <a:r>
              <a:rPr sz="1300">
                <a:solidFill>
                  <a:srgbClr val="00378A"/>
                </a:solidFill>
              </a:rPr>
              <a:t>Nooit </a:t>
            </a:r>
            <a:r>
              <a:rPr sz="1300">
                <a:solidFill>
                  <a:srgbClr val="00378A"/>
                </a:solidFill>
                <a:latin typeface="Consolas"/>
              </a:rPr>
              <a:t>git push --force</a:t>
            </a:r>
          </a:p>
          <a:p>
            <a:pPr algn="l">
              <a:spcAft>
                <a:spcPts val="400"/>
              </a:spcAft>
            </a:pPr>
            <a:r>
              <a:rPr sz="1300">
                <a:solidFill>
                  <a:srgbClr val="00378A"/>
                </a:solidFill>
              </a:rPr>
              <a:t>Stel eerst een plan voor bij grotere taken</a:t>
            </a:r>
          </a:p>
        </p:txBody>
      </p:sp>
      <p:sp>
        <p:nvSpPr>
          <p:cNvPr id="9" name="Kaart 2"/>
          <p:cNvSpPr/>
          <p:nvPr/>
        </p:nvSpPr>
        <p:spPr>
          <a:xfrm>
            <a:off x="4590288" y="1737360"/>
            <a:ext cx="3931920" cy="23774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1920240"/>
            <a:ext cx="3566160" cy="457200"/>
          </a:xfrm>
          <a:prstGeom prst="rect">
            <a:avLst/>
          </a:prstGeom>
          <a:noFill/>
        </p:spPr>
        <p:txBody>
          <a:bodyPr wrap="square" anchor="t" lIns="0" rIns="0" tIns="0" bIns="0">
            <a:spAutoFit/>
          </a:bodyPr>
          <a:lstStyle/>
          <a:p>
            <a:pPr algn="l">
              <a:spcAft>
                <a:spcPts val="400"/>
              </a:spcAft>
            </a:pPr>
            <a:r>
              <a:rPr b="1" sz="1600">
                <a:solidFill>
                  <a:srgbClr val="FF6600"/>
                </a:solidFill>
              </a:rPr>
              <a:t>Project level: alleen voor dit project</a:t>
            </a:r>
          </a:p>
        </p:txBody>
      </p:sp>
      <p:sp>
        <p:nvSpPr>
          <p:cNvPr id="11" name="TextBox 10"/>
          <p:cNvSpPr txBox="1"/>
          <p:nvPr/>
        </p:nvSpPr>
        <p:spPr>
          <a:xfrm>
            <a:off x="4773168" y="2423160"/>
            <a:ext cx="3566160" cy="1554480"/>
          </a:xfrm>
          <a:prstGeom prst="rect">
            <a:avLst/>
          </a:prstGeom>
          <a:noFill/>
        </p:spPr>
        <p:txBody>
          <a:bodyPr wrap="square" anchor="t" lIns="0" rIns="0" tIns="0" bIns="0">
            <a:spAutoFit/>
          </a:bodyPr>
          <a:lstStyle/>
          <a:p>
            <a:pPr algn="l">
              <a:spcAft>
                <a:spcPts val="400"/>
              </a:spcAft>
            </a:pPr>
            <a:r>
              <a:rPr sz="1300">
                <a:solidFill>
                  <a:srgbClr val="00378A"/>
                </a:solidFill>
              </a:rPr>
              <a:t>Echte data staat in </a:t>
            </a:r>
            <a:r>
              <a:rPr sz="1300">
                <a:solidFill>
                  <a:srgbClr val="00378A"/>
                </a:solidFill>
                <a:latin typeface="Consolas"/>
              </a:rPr>
              <a:t>data/private/</a:t>
            </a:r>
            <a:r>
              <a:rPr sz="1300">
                <a:solidFill>
                  <a:srgbClr val="00378A"/>
                </a:solidFill>
              </a:rPr>
              <a:t>: niet lezen</a:t>
            </a:r>
          </a:p>
          <a:p>
            <a:pPr algn="l">
              <a:spcAft>
                <a:spcPts val="400"/>
              </a:spcAft>
            </a:pPr>
            <a:r>
              <a:rPr sz="1300">
                <a:solidFill>
                  <a:srgbClr val="00378A"/>
                </a:solidFill>
              </a:rPr>
              <a:t>Gebruik de </a:t>
            </a:r>
            <a:r>
              <a:rPr sz="1300">
                <a:solidFill>
                  <a:srgbClr val="00378A"/>
                </a:solidFill>
                <a:latin typeface="Consolas"/>
              </a:rPr>
              <a:t>.venv</a:t>
            </a:r>
            <a:r>
              <a:rPr sz="1300">
                <a:solidFill>
                  <a:srgbClr val="00378A"/>
                </a:solidFill>
              </a:rPr>
              <a:t>; nieuwe packages in </a:t>
            </a:r>
            <a:r>
              <a:rPr sz="1300">
                <a:solidFill>
                  <a:srgbClr val="00378A"/>
                </a:solidFill>
                <a:latin typeface="Consolas"/>
              </a:rPr>
              <a:t>requirements.txt</a:t>
            </a:r>
          </a:p>
          <a:p>
            <a:pPr algn="l">
              <a:spcAft>
                <a:spcPts val="400"/>
              </a:spcAft>
            </a:pPr>
            <a:r>
              <a:rPr sz="1300">
                <a:solidFill>
                  <a:srgbClr val="00378A"/>
                </a:solidFill>
              </a:rPr>
              <a:t>Tests: </a:t>
            </a:r>
            <a:r>
              <a:rPr sz="1300">
                <a:solidFill>
                  <a:srgbClr val="00378A"/>
                </a:solidFill>
                <a:latin typeface="Consolas"/>
              </a:rPr>
              <a:t>python -m pytest</a:t>
            </a:r>
          </a:p>
          <a:p>
            <a:pPr algn="l">
              <a:spcAft>
                <a:spcPts val="400"/>
              </a:spcAft>
            </a:pPr>
            <a:r>
              <a:rPr sz="1300">
                <a:solidFill>
                  <a:srgbClr val="00378A"/>
                </a:solidFill>
              </a:rPr>
              <a:t>Schrijf aan het eind een hand-off in </a:t>
            </a:r>
            <a:r>
              <a:rPr sz="1300">
                <a:solidFill>
                  <a:srgbClr val="00378A"/>
                </a:solidFill>
                <a:latin typeface="Consolas"/>
              </a:rPr>
              <a:t>docs/handoffs/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Oefening 2: hoe ging het?</a:t>
            </a:r>
          </a:p>
        </p:txBody>
      </p:sp>
      <p:sp>
        <p:nvSpPr>
          <p:cNvPr id="3" name="Text Placeholder 2"/>
          <p:cNvSpPr>
            <a:spLocks noGrp="1"/>
          </p:cNvSpPr>
          <p:nvPr>
            <p:ph type="body" idx="10" sz="quarter"/>
          </p:nvPr>
        </p:nvSpPr>
        <p:spPr/>
        <p:txBody>
          <a:bodyPr/>
          <a:lstStyle/>
          <a:p>
            <a:pPr lvl="1">
              <a:spcAft>
                <a:spcPts val="600"/>
              </a:spcAft>
            </a:pPr>
            <a:r>
              <a:t>Wat leverde de intake-skill op? Klopt </a:t>
            </a:r>
            <a:r>
              <a:rPr>
                <a:latin typeface="Consolas"/>
              </a:rPr>
              <a:t>plan-van-aanpak.md</a:t>
            </a:r>
            <a:r>
              <a:t>?</a:t>
            </a:r>
          </a:p>
          <a:p>
            <a:pPr lvl="1">
              <a:spcAft>
                <a:spcPts val="600"/>
              </a:spcAft>
            </a:pPr>
            <a:r>
              <a:t>Wat stond er in het plan dat je niet had verwacht?</a:t>
            </a:r>
          </a:p>
          <a:p>
            <a:pPr lvl="1">
              <a:spcAft>
                <a:spcPts val="600"/>
              </a:spcAft>
            </a:pPr>
            <a:r>
              <a:t>Welke feedback kreeg je van je buddy?</a:t>
            </a:r>
          </a:p>
          <a:p>
            <a:pPr lvl="1">
              <a:spcAft>
                <a:spcPts val="600"/>
              </a:spcAft>
            </a:pPr>
            <a:r>
              <a:t>Welke afspraken heb je overgenomen in </a:t>
            </a:r>
            <a:r>
              <a:rPr>
                <a:latin typeface="Consolas"/>
              </a:rPr>
              <a:t>AGENTS.md</a:t>
            </a:r>
            <a:r>
              <a:t>?</a:t>
            </a:r>
          </a:p>
        </p:txBody>
      </p:sp>
      <p:sp>
        <p:nvSpPr>
          <p:cNvPr id="4" name="Text Placeholder 3"/>
          <p:cNvSpPr>
            <a:spLocks noGrp="1"/>
          </p:cNvSpPr>
          <p:nvPr>
            <p:ph type="body" idx="13" sz="quarter"/>
          </p:nvPr>
        </p:nvSpPr>
        <p:spPr/>
        <p:txBody>
          <a:bodyPr/>
          <a:lstStyle/>
          <a:p>
            <a:r>
              <a:t>Centraal evalueren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6600"/>
                </a:solidFill>
                <a:highlight>
                  <a:srgbClr val="FFFF00"/>
                </a:highlight>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Alles kan</a:t>
            </a:r>
          </a:p>
        </p:txBody>
      </p:sp>
      <p:sp>
        <p:nvSpPr>
          <p:cNvPr id="3" name="Kaart 1"/>
          <p:cNvSpPr/>
          <p:nvPr/>
        </p:nvSpPr>
        <p:spPr>
          <a:xfrm>
            <a:off x="384048" y="1737360"/>
            <a:ext cx="1828800"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Ophalen</a:t>
            </a:r>
          </a:p>
        </p:txBody>
      </p:sp>
      <p:sp>
        <p:nvSpPr>
          <p:cNvPr id="5" name="TextBox 4"/>
          <p:cNvSpPr txBox="1"/>
          <p:nvPr/>
        </p:nvSpPr>
        <p:spPr>
          <a:xfrm>
            <a:off x="566928" y="2423160"/>
            <a:ext cx="1463040" cy="914399"/>
          </a:xfrm>
          <a:prstGeom prst="rect">
            <a:avLst/>
          </a:prstGeom>
          <a:noFill/>
        </p:spPr>
        <p:txBody>
          <a:bodyPr wrap="square" anchor="t" lIns="0" rIns="0" tIns="0" bIns="0">
            <a:spAutoFit/>
          </a:bodyPr>
          <a:lstStyle/>
          <a:p>
            <a:pPr algn="l">
              <a:spcAft>
                <a:spcPts val="400"/>
              </a:spcAft>
            </a:pPr>
            <a:r>
              <a:rPr sz="1400">
                <a:solidFill>
                  <a:srgbClr val="00378A"/>
                </a:solidFill>
              </a:rPr>
              <a:t>API's</a:t>
            </a:r>
          </a:p>
        </p:txBody>
      </p:sp>
      <p:sp>
        <p:nvSpPr>
          <p:cNvPr id="6" name="Kaart 2"/>
          <p:cNvSpPr/>
          <p:nvPr/>
        </p:nvSpPr>
        <p:spPr>
          <a:xfrm>
            <a:off x="2487168" y="1737360"/>
            <a:ext cx="1828800"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7004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Bekijken</a:t>
            </a:r>
          </a:p>
        </p:txBody>
      </p:sp>
      <p:sp>
        <p:nvSpPr>
          <p:cNvPr id="8" name="TextBox 7"/>
          <p:cNvSpPr txBox="1"/>
          <p:nvPr/>
        </p:nvSpPr>
        <p:spPr>
          <a:xfrm>
            <a:off x="2670048" y="2423160"/>
            <a:ext cx="1463040" cy="914399"/>
          </a:xfrm>
          <a:prstGeom prst="rect">
            <a:avLst/>
          </a:prstGeom>
          <a:noFill/>
        </p:spPr>
        <p:txBody>
          <a:bodyPr wrap="square" anchor="t" lIns="0" rIns="0" tIns="0" bIns="0">
            <a:spAutoFit/>
          </a:bodyPr>
          <a:lstStyle/>
          <a:p>
            <a:pPr algn="l">
              <a:spcAft>
                <a:spcPts val="400"/>
              </a:spcAft>
            </a:pPr>
            <a:r>
              <a:rPr sz="1400">
                <a:solidFill>
                  <a:srgbClr val="00378A"/>
                </a:solidFill>
              </a:rPr>
              <a:t>Een losse </a:t>
            </a:r>
            <a:r>
              <a:rPr sz="1400">
                <a:solidFill>
                  <a:srgbClr val="00378A"/>
                </a:solidFill>
                <a:latin typeface="Consolas"/>
              </a:rPr>
              <a:t>.html</a:t>
            </a:r>
          </a:p>
          <a:p>
            <a:pPr algn="l">
              <a:spcAft>
                <a:spcPts val="400"/>
              </a:spcAft>
            </a:pPr>
            <a:r>
              <a:rPr sz="1400">
                <a:solidFill>
                  <a:srgbClr val="00378A"/>
                </a:solidFill>
              </a:rPr>
              <a:t>Streamlit</a:t>
            </a:r>
          </a:p>
        </p:txBody>
      </p:sp>
      <p:sp>
        <p:nvSpPr>
          <p:cNvPr id="9" name="Kaart 3"/>
          <p:cNvSpPr/>
          <p:nvPr/>
        </p:nvSpPr>
        <p:spPr>
          <a:xfrm>
            <a:off x="4590288" y="1737360"/>
            <a:ext cx="1828800"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Interactie</a:t>
            </a:r>
          </a:p>
        </p:txBody>
      </p:sp>
      <p:sp>
        <p:nvSpPr>
          <p:cNvPr id="11" name="TextBox 10"/>
          <p:cNvSpPr txBox="1"/>
          <p:nvPr/>
        </p:nvSpPr>
        <p:spPr>
          <a:xfrm>
            <a:off x="4773168" y="2423160"/>
            <a:ext cx="1463040" cy="914399"/>
          </a:xfrm>
          <a:prstGeom prst="rect">
            <a:avLst/>
          </a:prstGeom>
          <a:noFill/>
        </p:spPr>
        <p:txBody>
          <a:bodyPr wrap="square" anchor="t" lIns="0" rIns="0" tIns="0" bIns="0">
            <a:spAutoFit/>
          </a:bodyPr>
          <a:lstStyle/>
          <a:p>
            <a:pPr algn="l">
              <a:spcAft>
                <a:spcPts val="400"/>
              </a:spcAft>
            </a:pPr>
            <a:r>
              <a:rPr sz="1400">
                <a:solidFill>
                  <a:srgbClr val="00378A"/>
                </a:solidFill>
              </a:rPr>
              <a:t>React</a:t>
            </a:r>
          </a:p>
          <a:p>
            <a:pPr algn="l">
              <a:spcAft>
                <a:spcPts val="400"/>
              </a:spcAft>
            </a:pPr>
            <a:r>
              <a:rPr sz="1400">
                <a:solidFill>
                  <a:srgbClr val="00378A"/>
                </a:solidFill>
              </a:rPr>
              <a:t>Een web-app</a:t>
            </a:r>
          </a:p>
        </p:txBody>
      </p:sp>
      <p:sp>
        <p:nvSpPr>
          <p:cNvPr id="12" name="Kaart 4"/>
          <p:cNvSpPr/>
          <p:nvPr/>
        </p:nvSpPr>
        <p:spPr>
          <a:xfrm>
            <a:off x="6693407" y="1737360"/>
            <a:ext cx="1828800"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7628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Automatiseren</a:t>
            </a:r>
          </a:p>
        </p:txBody>
      </p:sp>
      <p:sp>
        <p:nvSpPr>
          <p:cNvPr id="14" name="TextBox 13"/>
          <p:cNvSpPr txBox="1"/>
          <p:nvPr/>
        </p:nvSpPr>
        <p:spPr>
          <a:xfrm>
            <a:off x="6876288" y="2423160"/>
            <a:ext cx="1463040" cy="914399"/>
          </a:xfrm>
          <a:prstGeom prst="rect">
            <a:avLst/>
          </a:prstGeom>
          <a:noFill/>
        </p:spPr>
        <p:txBody>
          <a:bodyPr wrap="square" anchor="t" lIns="0" rIns="0" tIns="0" bIns="0">
            <a:spAutoFit/>
          </a:bodyPr>
          <a:lstStyle/>
          <a:p>
            <a:pPr algn="l">
              <a:spcAft>
                <a:spcPts val="400"/>
              </a:spcAft>
            </a:pPr>
            <a:r>
              <a:rPr sz="1400">
                <a:solidFill>
                  <a:srgbClr val="00378A"/>
                </a:solidFill>
              </a:rPr>
              <a:t>Geplande taak</a:t>
            </a:r>
          </a:p>
          <a:p>
            <a:pPr algn="l">
              <a:spcAft>
                <a:spcPts val="400"/>
              </a:spcAft>
            </a:pPr>
            <a:r>
              <a:rPr sz="1400">
                <a:solidFill>
                  <a:srgbClr val="00378A"/>
                </a:solidFill>
              </a:rPr>
              <a:t>Berichtjes versturen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Lessen uit de praktijk</a:t>
            </a:r>
          </a:p>
        </p:txBody>
      </p:sp>
      <p:sp>
        <p:nvSpPr>
          <p:cNvPr id="3" name="Kaart 1"/>
          <p:cNvSpPr/>
          <p:nvPr/>
        </p:nvSpPr>
        <p:spPr>
          <a:xfrm>
            <a:off x="384048"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Vertragen</a:t>
            </a:r>
          </a:p>
        </p:txBody>
      </p:sp>
      <p:sp>
        <p:nvSpPr>
          <p:cNvPr id="5" name="TextBox 4"/>
          <p:cNvSpPr txBox="1"/>
          <p:nvPr/>
        </p:nvSpPr>
        <p:spPr>
          <a:xfrm>
            <a:off x="566928" y="2423160"/>
            <a:ext cx="1463040" cy="1371600"/>
          </a:xfrm>
          <a:prstGeom prst="rect">
            <a:avLst/>
          </a:prstGeom>
          <a:noFill/>
        </p:spPr>
        <p:txBody>
          <a:bodyPr wrap="square" anchor="t" lIns="0" rIns="0" tIns="0" bIns="0">
            <a:spAutoFit/>
          </a:bodyPr>
          <a:lstStyle/>
          <a:p>
            <a:pPr algn="l">
              <a:spcAft>
                <a:spcPts val="400"/>
              </a:spcAft>
            </a:pPr>
            <a:r>
              <a:rPr sz="1400">
                <a:solidFill>
                  <a:srgbClr val="00378A"/>
                </a:solidFill>
              </a:rPr>
              <a:t>De agent is snel, maar jij moet blijven begrijpen wat er gebeurt: </a:t>
            </a:r>
            <a:r>
              <a:rPr b="1" sz="1400">
                <a:solidFill>
                  <a:srgbClr val="00378A"/>
                </a:solidFill>
              </a:rPr>
              <a:t>internaliseren</a:t>
            </a:r>
          </a:p>
        </p:txBody>
      </p:sp>
      <p:sp>
        <p:nvSpPr>
          <p:cNvPr id="6" name="Kaart 2"/>
          <p:cNvSpPr/>
          <p:nvPr/>
        </p:nvSpPr>
        <p:spPr>
          <a:xfrm>
            <a:off x="2487168"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7004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Feature voor feature</a:t>
            </a:r>
          </a:p>
        </p:txBody>
      </p:sp>
      <p:sp>
        <p:nvSpPr>
          <p:cNvPr id="8" name="TextBox 7"/>
          <p:cNvSpPr txBox="1"/>
          <p:nvPr/>
        </p:nvSpPr>
        <p:spPr>
          <a:xfrm>
            <a:off x="2670048" y="2423160"/>
            <a:ext cx="1463040" cy="1371600"/>
          </a:xfrm>
          <a:prstGeom prst="rect">
            <a:avLst/>
          </a:prstGeom>
          <a:noFill/>
        </p:spPr>
        <p:txBody>
          <a:bodyPr wrap="square" anchor="t" lIns="0" rIns="0" tIns="0" bIns="0">
            <a:spAutoFit/>
          </a:bodyPr>
          <a:lstStyle/>
          <a:p>
            <a:pPr algn="l">
              <a:spcAft>
                <a:spcPts val="400"/>
              </a:spcAft>
            </a:pPr>
            <a:r>
              <a:rPr sz="1400">
                <a:solidFill>
                  <a:srgbClr val="00378A"/>
                </a:solidFill>
              </a:rPr>
              <a:t>Eén stap, één commit</a:t>
            </a:r>
          </a:p>
        </p:txBody>
      </p:sp>
      <p:sp>
        <p:nvSpPr>
          <p:cNvPr id="9" name="Kaart 3"/>
          <p:cNvSpPr/>
          <p:nvPr/>
        </p:nvSpPr>
        <p:spPr>
          <a:xfrm>
            <a:off x="4590288"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Korte sessies</a:t>
            </a:r>
          </a:p>
        </p:txBody>
      </p:sp>
      <p:sp>
        <p:nvSpPr>
          <p:cNvPr id="11" name="TextBox 10"/>
          <p:cNvSpPr txBox="1"/>
          <p:nvPr/>
        </p:nvSpPr>
        <p:spPr>
          <a:xfrm>
            <a:off x="4773168" y="2423160"/>
            <a:ext cx="1463040" cy="1371600"/>
          </a:xfrm>
          <a:prstGeom prst="rect">
            <a:avLst/>
          </a:prstGeom>
          <a:noFill/>
        </p:spPr>
        <p:txBody>
          <a:bodyPr wrap="square" anchor="t" lIns="0" rIns="0" tIns="0" bIns="0">
            <a:spAutoFit/>
          </a:bodyPr>
          <a:lstStyle/>
          <a:p>
            <a:pPr algn="l">
              <a:spcAft>
                <a:spcPts val="400"/>
              </a:spcAft>
            </a:pPr>
            <a:r>
              <a:rPr sz="1400">
                <a:solidFill>
                  <a:srgbClr val="00378A"/>
                </a:solidFill>
              </a:rPr>
              <a:t>Een nieuwe chat voor iets nieuws en aan het eind van de dag</a:t>
            </a:r>
          </a:p>
        </p:txBody>
      </p:sp>
      <p:sp>
        <p:nvSpPr>
          <p:cNvPr id="12" name="Kaart 4"/>
          <p:cNvSpPr/>
          <p:nvPr/>
        </p:nvSpPr>
        <p:spPr>
          <a:xfrm>
            <a:off x="6693407"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76288" y="1920240"/>
            <a:ext cx="1463040" cy="457200"/>
          </a:xfrm>
          <a:prstGeom prst="rect">
            <a:avLst/>
          </a:prstGeom>
          <a:noFill/>
        </p:spPr>
        <p:txBody>
          <a:bodyPr wrap="square" anchor="t" lIns="0" rIns="0" tIns="0" bIns="0">
            <a:spAutoFit/>
          </a:bodyPr>
          <a:lstStyle/>
          <a:p>
            <a:pPr algn="l">
              <a:spcAft>
                <a:spcPts val="400"/>
              </a:spcAft>
            </a:pPr>
            <a:r>
              <a:rPr b="1" sz="1600">
                <a:solidFill>
                  <a:srgbClr val="FF6600"/>
                </a:solidFill>
              </a:rPr>
              <a:t>Hand-off</a:t>
            </a:r>
          </a:p>
        </p:txBody>
      </p:sp>
      <p:sp>
        <p:nvSpPr>
          <p:cNvPr id="14" name="TextBox 13"/>
          <p:cNvSpPr txBox="1"/>
          <p:nvPr/>
        </p:nvSpPr>
        <p:spPr>
          <a:xfrm>
            <a:off x="6876288" y="2423160"/>
            <a:ext cx="1463040" cy="1371600"/>
          </a:xfrm>
          <a:prstGeom prst="rect">
            <a:avLst/>
          </a:prstGeom>
          <a:noFill/>
        </p:spPr>
        <p:txBody>
          <a:bodyPr wrap="square" anchor="t" lIns="0" rIns="0" tIns="0" bIns="0">
            <a:spAutoFit/>
          </a:bodyPr>
          <a:lstStyle/>
          <a:p>
            <a:pPr algn="l">
              <a:spcAft>
                <a:spcPts val="400"/>
              </a:spcAft>
            </a:pPr>
            <a:r>
              <a:rPr sz="1400">
                <a:solidFill>
                  <a:srgbClr val="00378A"/>
                </a:solidFill>
              </a:rPr>
              <a:t>Laat je agent opschrijven waar je gebleven bent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st-keep-coding-fix-it-later.jpeg"/>
          <p:cNvPicPr>
            <a:picLocks noChangeAspect="1"/>
          </p:cNvPicPr>
          <p:nvPr/>
        </p:nvPicPr>
        <p:blipFill>
          <a:blip r:embed="rId2"/>
          <a:stretch>
            <a:fillRect/>
          </a:stretch>
        </p:blipFill>
        <p:spPr>
          <a:xfrm>
            <a:off x="2163247" y="411480"/>
            <a:ext cx="4040264" cy="402336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Mijn dagelijkse workflow</a:t>
            </a:r>
          </a:p>
        </p:txBody>
      </p:sp>
      <p:sp>
        <p:nvSpPr>
          <p:cNvPr id="3" name="Stap 1"/>
          <p:cNvSpPr/>
          <p:nvPr/>
        </p:nvSpPr>
        <p:spPr>
          <a:xfrm>
            <a:off x="384048" y="164592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4" name="TextBox 3"/>
          <p:cNvSpPr txBox="1"/>
          <p:nvPr/>
        </p:nvSpPr>
        <p:spPr>
          <a:xfrm>
            <a:off x="886968" y="167335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Start:</a:t>
            </a:r>
            <a:r>
              <a:rPr sz="1600">
                <a:solidFill>
                  <a:srgbClr val="00378A"/>
                </a:solidFill>
              </a:rPr>
              <a:t> "Lees de laatste hand-off en stel voor wat we vandaag doen"</a:t>
            </a:r>
          </a:p>
        </p:txBody>
      </p:sp>
      <p:sp>
        <p:nvSpPr>
          <p:cNvPr id="5" name="Stap 2"/>
          <p:cNvSpPr/>
          <p:nvPr/>
        </p:nvSpPr>
        <p:spPr>
          <a:xfrm>
            <a:off x="384048" y="201168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6" name="TextBox 5"/>
          <p:cNvSpPr txBox="1"/>
          <p:nvPr/>
        </p:nvSpPr>
        <p:spPr>
          <a:xfrm>
            <a:off x="886968" y="203911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Plan:</a:t>
            </a:r>
            <a:r>
              <a:rPr sz="1600">
                <a:solidFill>
                  <a:srgbClr val="00378A"/>
                </a:solidFill>
              </a:rPr>
              <a:t> planmodus, één feature, "nog niet coderen"</a:t>
            </a:r>
          </a:p>
        </p:txBody>
      </p:sp>
      <p:sp>
        <p:nvSpPr>
          <p:cNvPr id="7" name="Stap 3"/>
          <p:cNvSpPr/>
          <p:nvPr/>
        </p:nvSpPr>
        <p:spPr>
          <a:xfrm>
            <a:off x="384048" y="237744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8" name="TextBox 7"/>
          <p:cNvSpPr txBox="1"/>
          <p:nvPr/>
        </p:nvSpPr>
        <p:spPr>
          <a:xfrm>
            <a:off x="886968" y="240487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Bouw:</a:t>
            </a:r>
            <a:r>
              <a:rPr sz="1600">
                <a:solidFill>
                  <a:srgbClr val="00378A"/>
                </a:solidFill>
              </a:rPr>
              <a:t> één stap, en kijk naar de diff</a:t>
            </a:r>
          </a:p>
        </p:txBody>
      </p:sp>
      <p:sp>
        <p:nvSpPr>
          <p:cNvPr id="9" name="Stap 4"/>
          <p:cNvSpPr/>
          <p:nvPr/>
        </p:nvSpPr>
        <p:spPr>
          <a:xfrm>
            <a:off x="384048" y="27432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4</a:t>
            </a:r>
          </a:p>
        </p:txBody>
      </p:sp>
      <p:sp>
        <p:nvSpPr>
          <p:cNvPr id="10" name="TextBox 9"/>
          <p:cNvSpPr txBox="1"/>
          <p:nvPr/>
        </p:nvSpPr>
        <p:spPr>
          <a:xfrm>
            <a:off x="886968" y="277063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Controleer:</a:t>
            </a:r>
            <a:r>
              <a:rPr sz="1600">
                <a:solidFill>
                  <a:srgbClr val="00378A"/>
                </a:solidFill>
              </a:rPr>
              <a:t> draai het zelf. Begrijp je het?</a:t>
            </a:r>
          </a:p>
        </p:txBody>
      </p:sp>
      <p:sp>
        <p:nvSpPr>
          <p:cNvPr id="11" name="Stap 5"/>
          <p:cNvSpPr/>
          <p:nvPr/>
        </p:nvSpPr>
        <p:spPr>
          <a:xfrm>
            <a:off x="384048" y="310896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5</a:t>
            </a:r>
          </a:p>
        </p:txBody>
      </p:sp>
      <p:sp>
        <p:nvSpPr>
          <p:cNvPr id="12" name="TextBox 11"/>
          <p:cNvSpPr txBox="1"/>
          <p:nvPr/>
        </p:nvSpPr>
        <p:spPr>
          <a:xfrm>
            <a:off x="886968" y="313639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Commit:</a:t>
            </a:r>
            <a:r>
              <a:rPr sz="1600">
                <a:solidFill>
                  <a:srgbClr val="00378A"/>
                </a:solidFill>
              </a:rPr>
              <a:t> één werkende stap = één commit</a:t>
            </a:r>
          </a:p>
        </p:txBody>
      </p:sp>
      <p:sp>
        <p:nvSpPr>
          <p:cNvPr id="13" name="Stap 6"/>
          <p:cNvSpPr/>
          <p:nvPr/>
        </p:nvSpPr>
        <p:spPr>
          <a:xfrm>
            <a:off x="384048" y="347472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6</a:t>
            </a:r>
          </a:p>
        </p:txBody>
      </p:sp>
      <p:sp>
        <p:nvSpPr>
          <p:cNvPr id="14" name="TextBox 13"/>
          <p:cNvSpPr txBox="1"/>
          <p:nvPr/>
        </p:nvSpPr>
        <p:spPr>
          <a:xfrm>
            <a:off x="886968" y="3502151"/>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Nieuwe feature?</a:t>
            </a:r>
            <a:r>
              <a:rPr sz="1600">
                <a:solidFill>
                  <a:srgbClr val="00378A"/>
                </a:solidFill>
              </a:rPr>
              <a:t> Nieuwe chat</a:t>
            </a:r>
          </a:p>
        </p:txBody>
      </p:sp>
      <p:sp>
        <p:nvSpPr>
          <p:cNvPr id="15" name="Stap 7"/>
          <p:cNvSpPr/>
          <p:nvPr/>
        </p:nvSpPr>
        <p:spPr>
          <a:xfrm>
            <a:off x="384048" y="384048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7</a:t>
            </a:r>
          </a:p>
        </p:txBody>
      </p:sp>
      <p:sp>
        <p:nvSpPr>
          <p:cNvPr id="16" name="TextBox 15"/>
          <p:cNvSpPr txBox="1"/>
          <p:nvPr/>
        </p:nvSpPr>
        <p:spPr>
          <a:xfrm>
            <a:off x="886968" y="386791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Afsluiten:</a:t>
            </a:r>
            <a:r>
              <a:rPr sz="1600">
                <a:solidFill>
                  <a:srgbClr val="00378A"/>
                </a:solidFill>
              </a:rPr>
              <a:t> "Schrijf een hand-off", lees hem en commit hem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Mijn dagelijkse workflow</a:t>
            </a:r>
          </a:p>
        </p:txBody>
      </p:sp>
      <p:sp>
        <p:nvSpPr>
          <p:cNvPr id="3" name="Stap 1"/>
          <p:cNvSpPr/>
          <p:nvPr/>
        </p:nvSpPr>
        <p:spPr>
          <a:xfrm>
            <a:off x="384048" y="164592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4" name="TextBox 3"/>
          <p:cNvSpPr txBox="1"/>
          <p:nvPr/>
        </p:nvSpPr>
        <p:spPr>
          <a:xfrm>
            <a:off x="886968" y="167335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Start:</a:t>
            </a:r>
            <a:r>
              <a:rPr sz="1600">
                <a:solidFill>
                  <a:srgbClr val="00378A"/>
                </a:solidFill>
              </a:rPr>
              <a:t> "Lees de laatste hand-off en stel voor wat we vandaag doen"</a:t>
            </a:r>
          </a:p>
        </p:txBody>
      </p:sp>
      <p:sp>
        <p:nvSpPr>
          <p:cNvPr id="5" name="Stap 2"/>
          <p:cNvSpPr/>
          <p:nvPr/>
        </p:nvSpPr>
        <p:spPr>
          <a:xfrm>
            <a:off x="384048" y="201168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6" name="TextBox 5"/>
          <p:cNvSpPr txBox="1"/>
          <p:nvPr/>
        </p:nvSpPr>
        <p:spPr>
          <a:xfrm>
            <a:off x="886968" y="203911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Plan:</a:t>
            </a:r>
            <a:r>
              <a:rPr sz="1600">
                <a:solidFill>
                  <a:srgbClr val="00378A"/>
                </a:solidFill>
              </a:rPr>
              <a:t> planmodus, één feature, "nog niet coderen"</a:t>
            </a:r>
          </a:p>
        </p:txBody>
      </p:sp>
      <p:sp>
        <p:nvSpPr>
          <p:cNvPr id="7" name="Stap 3"/>
          <p:cNvSpPr/>
          <p:nvPr/>
        </p:nvSpPr>
        <p:spPr>
          <a:xfrm>
            <a:off x="384048" y="237744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8" name="TextBox 7"/>
          <p:cNvSpPr txBox="1"/>
          <p:nvPr/>
        </p:nvSpPr>
        <p:spPr>
          <a:xfrm>
            <a:off x="886968" y="240487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Bouw:</a:t>
            </a:r>
            <a:r>
              <a:rPr sz="1600">
                <a:solidFill>
                  <a:srgbClr val="00378A"/>
                </a:solidFill>
              </a:rPr>
              <a:t> één stap, en kijk naar de diff</a:t>
            </a:r>
          </a:p>
        </p:txBody>
      </p:sp>
      <p:sp>
        <p:nvSpPr>
          <p:cNvPr id="9" name="Stap 4"/>
          <p:cNvSpPr/>
          <p:nvPr/>
        </p:nvSpPr>
        <p:spPr>
          <a:xfrm>
            <a:off x="384048" y="27432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4</a:t>
            </a:r>
          </a:p>
        </p:txBody>
      </p:sp>
      <p:sp>
        <p:nvSpPr>
          <p:cNvPr id="10" name="TextBox 9"/>
          <p:cNvSpPr txBox="1"/>
          <p:nvPr/>
        </p:nvSpPr>
        <p:spPr>
          <a:xfrm>
            <a:off x="886968" y="277063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Controleer:</a:t>
            </a:r>
            <a:r>
              <a:rPr sz="1600">
                <a:solidFill>
                  <a:srgbClr val="00378A"/>
                </a:solidFill>
              </a:rPr>
              <a:t> draai het zelf. Begrijp je het?</a:t>
            </a:r>
          </a:p>
        </p:txBody>
      </p:sp>
      <p:sp>
        <p:nvSpPr>
          <p:cNvPr id="11" name="Stap 5"/>
          <p:cNvSpPr/>
          <p:nvPr/>
        </p:nvSpPr>
        <p:spPr>
          <a:xfrm>
            <a:off x="384048" y="310896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5</a:t>
            </a:r>
          </a:p>
        </p:txBody>
      </p:sp>
      <p:sp>
        <p:nvSpPr>
          <p:cNvPr id="12" name="TextBox 11"/>
          <p:cNvSpPr txBox="1"/>
          <p:nvPr/>
        </p:nvSpPr>
        <p:spPr>
          <a:xfrm>
            <a:off x="886968" y="313639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Commit:</a:t>
            </a:r>
            <a:r>
              <a:rPr sz="1600">
                <a:solidFill>
                  <a:srgbClr val="00378A"/>
                </a:solidFill>
              </a:rPr>
              <a:t> één werkende stap = één commit</a:t>
            </a:r>
          </a:p>
        </p:txBody>
      </p:sp>
      <p:sp>
        <p:nvSpPr>
          <p:cNvPr id="13" name="Stap 6"/>
          <p:cNvSpPr/>
          <p:nvPr/>
        </p:nvSpPr>
        <p:spPr>
          <a:xfrm>
            <a:off x="384048" y="347472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6</a:t>
            </a:r>
          </a:p>
        </p:txBody>
      </p:sp>
      <p:sp>
        <p:nvSpPr>
          <p:cNvPr id="14" name="TextBox 13"/>
          <p:cNvSpPr txBox="1"/>
          <p:nvPr/>
        </p:nvSpPr>
        <p:spPr>
          <a:xfrm>
            <a:off x="886968" y="3502151"/>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Nieuwe feature?</a:t>
            </a:r>
            <a:r>
              <a:rPr sz="1600">
                <a:solidFill>
                  <a:srgbClr val="00378A"/>
                </a:solidFill>
              </a:rPr>
              <a:t> Nieuwe chat</a:t>
            </a:r>
          </a:p>
        </p:txBody>
      </p:sp>
      <p:sp>
        <p:nvSpPr>
          <p:cNvPr id="15" name="Stap 7"/>
          <p:cNvSpPr/>
          <p:nvPr/>
        </p:nvSpPr>
        <p:spPr>
          <a:xfrm>
            <a:off x="384048" y="384048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7</a:t>
            </a:r>
          </a:p>
        </p:txBody>
      </p:sp>
      <p:sp>
        <p:nvSpPr>
          <p:cNvPr id="16" name="TextBox 15"/>
          <p:cNvSpPr txBox="1"/>
          <p:nvPr/>
        </p:nvSpPr>
        <p:spPr>
          <a:xfrm>
            <a:off x="886968" y="3867912"/>
            <a:ext cx="7635240" cy="365760"/>
          </a:xfrm>
          <a:prstGeom prst="rect">
            <a:avLst/>
          </a:prstGeom>
          <a:noFill/>
        </p:spPr>
        <p:txBody>
          <a:bodyPr wrap="square" anchor="ctr" lIns="0" rIns="0" tIns="0" bIns="0">
            <a:spAutoFit/>
          </a:bodyPr>
          <a:lstStyle/>
          <a:p>
            <a:pPr algn="l">
              <a:spcAft>
                <a:spcPts val="400"/>
              </a:spcAft>
            </a:pPr>
            <a:r>
              <a:rPr b="1" sz="1600">
                <a:solidFill>
                  <a:srgbClr val="00378A"/>
                </a:solidFill>
              </a:rPr>
              <a:t>Afsluiten:</a:t>
            </a:r>
            <a:r>
              <a:rPr sz="1600">
                <a:solidFill>
                  <a:srgbClr val="00378A"/>
                </a:solidFill>
              </a:rPr>
              <a:t> "Schrijf een hand-off", lees hem en commit hem</a:t>
            </a:r>
          </a:p>
        </p:txBody>
      </p:sp>
      <p:sp>
        <p:nvSpPr>
          <p:cNvPr id="17" name="Markering stap 4"/>
          <p:cNvSpPr/>
          <p:nvPr/>
        </p:nvSpPr>
        <p:spPr>
          <a:xfrm>
            <a:off x="292608" y="2697480"/>
            <a:ext cx="5486400" cy="420624"/>
          </a:xfrm>
          <a:prstGeom prst="roundRect">
            <a:avLst>
              <a:gd name="adj" fmla="val 20000"/>
            </a:avLst>
          </a:prstGeom>
          <a:noFill/>
          <a:ln w="317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rd-coded-test-cases-interview.png"/>
          <p:cNvPicPr>
            <a:picLocks noChangeAspect="1"/>
          </p:cNvPicPr>
          <p:nvPr/>
        </p:nvPicPr>
        <p:blipFill>
          <a:blip r:embed="rId2"/>
          <a:stretch>
            <a:fillRect/>
          </a:stretch>
        </p:blipFill>
        <p:spPr>
          <a:xfrm>
            <a:off x="1954754" y="411480"/>
            <a:ext cx="4457251" cy="402336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Zelf doen of je agent laten doen?</a:t>
            </a:r>
          </a:p>
        </p:txBody>
      </p:sp>
      <p:graphicFrame>
        <p:nvGraphicFramePr>
          <p:cNvPr id="3" name="Table 2"/>
          <p:cNvGraphicFramePr>
            <a:graphicFrameLocks noGrp="1"/>
          </p:cNvGraphicFramePr>
          <p:nvPr/>
        </p:nvGraphicFramePr>
        <p:xfrm>
          <a:off x="384048" y="1691640"/>
          <a:ext cx="8138160" cy="2057400"/>
        </p:xfrm>
        <a:graphic>
          <a:graphicData uri="http://schemas.openxmlformats.org/drawingml/2006/table">
            <a:tbl>
              <a:tblPr firstRow="1" bandRow="1">
                <a:tableStyleId>{5C22544A-7EE6-4342-B048-85BDC9FD1C3A}</a:tableStyleId>
              </a:tblPr>
              <a:tblGrid>
                <a:gridCol w="4069080"/>
                <a:gridCol w="4069080"/>
              </a:tblGrid>
              <a:tr h="411480">
                <a:tc>
                  <a:txBody>
                    <a:bodyPr/>
                    <a:lstStyle/>
                    <a:p>
                      <a:r>
                        <a:rPr b="1" sz="1400">
                          <a:solidFill>
                            <a:srgbClr val="FFFFFF"/>
                          </a:solidFill>
                        </a:rPr>
                        <a:t>Doe (uiteindelijk) zelf</a:t>
                      </a:r>
                    </a:p>
                  </a:txBody>
                  <a:tcPr marL="109728" marR="109728" anchor="ctr">
                    <a:solidFill>
                      <a:srgbClr val="FF6600"/>
                    </a:solidFill>
                  </a:tcPr>
                </a:tc>
                <a:tc>
                  <a:txBody>
                    <a:bodyPr/>
                    <a:lstStyle/>
                    <a:p>
                      <a:r>
                        <a:rPr b="1" sz="1400">
                          <a:solidFill>
                            <a:srgbClr val="FFFFFF"/>
                          </a:solidFill>
                        </a:rPr>
                        <a:t>Vraag je agent</a:t>
                      </a:r>
                    </a:p>
                  </a:txBody>
                  <a:tcPr marL="109728" marR="109728" anchor="ctr">
                    <a:solidFill>
                      <a:srgbClr val="FF6600"/>
                    </a:solidFill>
                  </a:tcPr>
                </a:tc>
              </a:tr>
              <a:tr h="411480">
                <a:tc>
                  <a:txBody>
                    <a:bodyPr/>
                    <a:lstStyle/>
                    <a:p>
                      <a:r>
                        <a:rPr sz="1400">
                          <a:solidFill>
                            <a:srgbClr val="00378A"/>
                          </a:solidFill>
                          <a:latin typeface="Consolas"/>
                        </a:rPr>
                        <a:t>git status</a:t>
                      </a:r>
                      <a:r>
                        <a:rPr sz="1400">
                          <a:solidFill>
                            <a:srgbClr val="00378A"/>
                          </a:solidFill>
                        </a:rPr>
                        <a:t>, </a:t>
                      </a:r>
                      <a:r>
                        <a:rPr sz="1400">
                          <a:solidFill>
                            <a:srgbClr val="00378A"/>
                          </a:solidFill>
                          <a:latin typeface="Consolas"/>
                        </a:rPr>
                        <a:t>git diff</a:t>
                      </a:r>
                      <a:r>
                        <a:rPr sz="1400">
                          <a:solidFill>
                            <a:srgbClr val="00378A"/>
                          </a:solidFill>
                        </a:rPr>
                        <a:t>, </a:t>
                      </a:r>
                      <a:r>
                        <a:rPr sz="1400">
                          <a:solidFill>
                            <a:srgbClr val="00378A"/>
                          </a:solidFill>
                          <a:latin typeface="Consolas"/>
                        </a:rPr>
                        <a:t>git log</a:t>
                      </a:r>
                    </a:p>
                  </a:txBody>
                  <a:tcPr marL="109728" marR="109728" anchor="ctr">
                    <a:solidFill>
                      <a:srgbClr val="FFFFFF"/>
                    </a:solidFill>
                  </a:tcPr>
                </a:tc>
                <a:tc>
                  <a:txBody>
                    <a:bodyPr/>
                    <a:lstStyle/>
                    <a:p>
                      <a:r>
                        <a:rPr sz="1400">
                          <a:solidFill>
                            <a:srgbClr val="00378A"/>
                          </a:solidFill>
                        </a:rPr>
                        <a:t>Een feature bouwen</a:t>
                      </a:r>
                    </a:p>
                  </a:txBody>
                  <a:tcPr marL="109728" marR="109728" anchor="ctr">
                    <a:solidFill>
                      <a:srgbClr val="FFFFFF"/>
                    </a:solidFill>
                  </a:tcPr>
                </a:tc>
              </a:tr>
              <a:tr h="411480">
                <a:tc>
                  <a:txBody>
                    <a:bodyPr/>
                    <a:lstStyle/>
                    <a:p>
                      <a:r>
                        <a:rPr sz="1400">
                          <a:solidFill>
                            <a:srgbClr val="00378A"/>
                          </a:solidFill>
                        </a:rPr>
                        <a:t>Je app of tests starten</a:t>
                      </a:r>
                    </a:p>
                  </a:txBody>
                  <a:tcPr marL="109728" marR="109728" anchor="ctr">
                    <a:solidFill>
                      <a:srgbClr val="F2F2F2"/>
                    </a:solidFill>
                  </a:tcPr>
                </a:tc>
                <a:tc>
                  <a:txBody>
                    <a:bodyPr/>
                    <a:lstStyle/>
                    <a:p>
                      <a:r>
                        <a:rPr sz="1400">
                          <a:solidFill>
                            <a:srgbClr val="00378A"/>
                          </a:solidFill>
                        </a:rPr>
                        <a:t>Een foutmelding verklaren</a:t>
                      </a:r>
                    </a:p>
                  </a:txBody>
                  <a:tcPr marL="109728" marR="109728" anchor="ctr">
                    <a:solidFill>
                      <a:srgbClr val="F2F2F2"/>
                    </a:solidFill>
                  </a:tcPr>
                </a:tc>
              </a:tr>
              <a:tr h="411480">
                <a:tc>
                  <a:txBody>
                    <a:bodyPr/>
                    <a:lstStyle/>
                    <a:p>
                      <a:r>
                        <a:rPr sz="1400">
                          <a:solidFill>
                            <a:srgbClr val="00378A"/>
                          </a:solidFill>
                        </a:rPr>
                        <a:t>Een bestand openen en lezen</a:t>
                      </a:r>
                    </a:p>
                  </a:txBody>
                  <a:tcPr marL="109728" marR="109728" anchor="ctr">
                    <a:solidFill>
                      <a:srgbClr val="FFFFFF"/>
                    </a:solidFill>
                  </a:tcPr>
                </a:tc>
                <a:tc>
                  <a:txBody>
                    <a:bodyPr/>
                    <a:lstStyle/>
                    <a:p>
                      <a:r>
                        <a:rPr sz="1400">
                          <a:solidFill>
                            <a:srgbClr val="00378A"/>
                          </a:solidFill>
                        </a:rPr>
                        <a:t>Code herstructureren</a:t>
                      </a:r>
                    </a:p>
                  </a:txBody>
                  <a:tcPr marL="109728" marR="109728" anchor="ctr">
                    <a:solidFill>
                      <a:srgbClr val="FFFFFF"/>
                    </a:solidFill>
                  </a:tcPr>
                </a:tc>
              </a:tr>
              <a:tr h="411480">
                <a:tc>
                  <a:txBody>
                    <a:bodyPr/>
                    <a:lstStyle/>
                    <a:p>
                      <a:r>
                        <a:rPr sz="1400">
                          <a:solidFill>
                            <a:srgbClr val="00378A"/>
                          </a:solidFill>
                          <a:latin typeface="Consolas"/>
                        </a:rPr>
                        <a:t>pip install -r requirements.txt</a:t>
                      </a:r>
                    </a:p>
                  </a:txBody>
                  <a:tcPr marL="109728" marR="109728" anchor="ctr">
                    <a:solidFill>
                      <a:srgbClr val="F2F2F2"/>
                    </a:solidFill>
                  </a:tcPr>
                </a:tc>
                <a:tc>
                  <a:txBody>
                    <a:bodyPr/>
                    <a:lstStyle/>
                    <a:p>
                      <a:r>
                        <a:rPr sz="1400">
                          <a:solidFill>
                            <a:srgbClr val="00378A"/>
                          </a:solidFill>
                        </a:rPr>
                        <a:t>Tests schrijven</a:t>
                      </a:r>
                    </a:p>
                  </a:txBody>
                  <a:tcPr marL="109728" marR="109728" anchor="ctr">
                    <a:solidFill>
                      <a:srgbClr val="F2F2F2"/>
                    </a:solidFill>
                  </a:tcPr>
                </a:tc>
              </a:tr>
            </a:tbl>
          </a:graphicData>
        </a:graphic>
      </p:graphicFrame>
      <p:sp>
        <p:nvSpPr>
          <p:cNvPr id="4" name="TextBox 3"/>
          <p:cNvSpPr txBox="1"/>
          <p:nvPr/>
        </p:nvSpPr>
        <p:spPr>
          <a:xfrm>
            <a:off x="384048" y="3886200"/>
            <a:ext cx="8138160" cy="365760"/>
          </a:xfrm>
          <a:prstGeom prst="rect">
            <a:avLst/>
          </a:prstGeom>
          <a:noFill/>
        </p:spPr>
        <p:txBody>
          <a:bodyPr wrap="square" anchor="t" lIns="0" rIns="0" tIns="0" bIns="0">
            <a:spAutoFit/>
          </a:bodyPr>
          <a:lstStyle/>
          <a:p>
            <a:pPr algn="l">
              <a:spcAft>
                <a:spcPts val="400"/>
              </a:spcAft>
            </a:pPr>
            <a:r>
              <a:rPr sz="1500">
                <a:solidFill>
                  <a:srgbClr val="FF6600"/>
                </a:solidFill>
              </a:rPr>
              <a:t>Behandel je agent als software engineer, niet als je terminal.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Tokens &amp; context</a:t>
            </a:r>
          </a:p>
        </p:txBody>
      </p:sp>
      <p:sp>
        <p:nvSpPr>
          <p:cNvPr id="3" name="Text Placeholder 2"/>
          <p:cNvSpPr>
            <a:spLocks noGrp="1"/>
          </p:cNvSpPr>
          <p:nvPr>
            <p:ph type="body" idx="10" sz="quarter"/>
          </p:nvPr>
        </p:nvSpPr>
        <p:spPr/>
        <p:txBody>
          <a:bodyPr/>
          <a:lstStyle/>
          <a:p>
            <a:pPr lvl="1">
              <a:spcAft>
                <a:spcPts val="600"/>
              </a:spcAft>
            </a:pPr>
            <a:r>
              <a:t>Hoe langer de chat, hoe </a:t>
            </a:r>
            <a:r>
              <a:rPr b="1"/>
              <a:t>duurder</a:t>
            </a:r>
          </a:p>
          <a:p>
            <a:pPr lvl="1">
              <a:spcAft>
                <a:spcPts val="600"/>
              </a:spcAft>
            </a:pPr>
            <a:r>
              <a:t>Hoe langer de chat, hoe </a:t>
            </a:r>
            <a:r>
              <a:rPr b="1"/>
              <a:t>slechter</a:t>
            </a:r>
            <a:r>
              <a:t> het werk</a:t>
            </a:r>
          </a:p>
          <a:p>
            <a:pPr>
              <a:spcAft>
                <a:spcPts val="600"/>
              </a:spcAft>
            </a:pPr>
          </a:p>
          <a:p>
            <a:pPr>
              <a:spcAft>
                <a:spcPts val="600"/>
              </a:spcAft>
            </a:pPr>
            <a:r>
              <a:t>→ korte sessies + hand-offs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.venv en requirements.txt</a:t>
            </a:r>
          </a:p>
        </p:txBody>
      </p:sp>
      <p:sp>
        <p:nvSpPr>
          <p:cNvPr id="3" name="Kaart 1"/>
          <p:cNvSpPr/>
          <p:nvPr/>
        </p:nvSpPr>
        <p:spPr>
          <a:xfrm>
            <a:off x="384048" y="1737360"/>
            <a:ext cx="3931920" cy="16459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3566160" cy="457200"/>
          </a:xfrm>
          <a:prstGeom prst="rect">
            <a:avLst/>
          </a:prstGeom>
          <a:noFill/>
        </p:spPr>
        <p:txBody>
          <a:bodyPr wrap="square" anchor="t" lIns="0" rIns="0" tIns="0" bIns="0">
            <a:spAutoFit/>
          </a:bodyPr>
          <a:lstStyle/>
          <a:p>
            <a:pPr algn="l">
              <a:spcAft>
                <a:spcPts val="400"/>
              </a:spcAft>
            </a:pPr>
            <a:r>
              <a:rPr sz="1700">
                <a:solidFill>
                  <a:srgbClr val="FF6600"/>
                </a:solidFill>
                <a:latin typeface="Consolas"/>
              </a:rPr>
              <a:t>.venv/</a:t>
            </a:r>
          </a:p>
        </p:txBody>
      </p:sp>
      <p:sp>
        <p:nvSpPr>
          <p:cNvPr id="5" name="TextBox 4"/>
          <p:cNvSpPr txBox="1"/>
          <p:nvPr/>
        </p:nvSpPr>
        <p:spPr>
          <a:xfrm>
            <a:off x="566928" y="2423160"/>
            <a:ext cx="3566160" cy="822960"/>
          </a:xfrm>
          <a:prstGeom prst="rect">
            <a:avLst/>
          </a:prstGeom>
          <a:noFill/>
        </p:spPr>
        <p:txBody>
          <a:bodyPr wrap="square" anchor="t" lIns="0" rIns="0" tIns="0" bIns="0">
            <a:spAutoFit/>
          </a:bodyPr>
          <a:lstStyle/>
          <a:p>
            <a:pPr algn="l">
              <a:spcAft>
                <a:spcPts val="400"/>
              </a:spcAft>
            </a:pPr>
            <a:r>
              <a:rPr sz="1400">
                <a:solidFill>
                  <a:srgbClr val="00378A"/>
                </a:solidFill>
              </a:rPr>
              <a:t>De eigen Python-omgeving van je project</a:t>
            </a:r>
          </a:p>
          <a:p>
            <a:pPr algn="l">
              <a:spcAft>
                <a:spcPts val="400"/>
              </a:spcAft>
            </a:pPr>
            <a:r>
              <a:rPr b="1" sz="1400">
                <a:solidFill>
                  <a:srgbClr val="00378A"/>
                </a:solidFill>
              </a:rPr>
              <a:t>Nooit in git</a:t>
            </a:r>
            <a:r>
              <a:rPr sz="1400">
                <a:solidFill>
                  <a:srgbClr val="00378A"/>
                </a:solidFill>
              </a:rPr>
              <a:t>: groot, en per computer anders</a:t>
            </a:r>
          </a:p>
        </p:txBody>
      </p:sp>
      <p:sp>
        <p:nvSpPr>
          <p:cNvPr id="6" name="Kaart 2"/>
          <p:cNvSpPr/>
          <p:nvPr/>
        </p:nvSpPr>
        <p:spPr>
          <a:xfrm>
            <a:off x="4590288" y="1737360"/>
            <a:ext cx="3931920" cy="16459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73168" y="1920240"/>
            <a:ext cx="3566160" cy="457200"/>
          </a:xfrm>
          <a:prstGeom prst="rect">
            <a:avLst/>
          </a:prstGeom>
          <a:noFill/>
        </p:spPr>
        <p:txBody>
          <a:bodyPr wrap="square" anchor="t" lIns="0" rIns="0" tIns="0" bIns="0">
            <a:spAutoFit/>
          </a:bodyPr>
          <a:lstStyle/>
          <a:p>
            <a:pPr algn="l">
              <a:spcAft>
                <a:spcPts val="400"/>
              </a:spcAft>
            </a:pPr>
            <a:r>
              <a:rPr sz="1700">
                <a:solidFill>
                  <a:srgbClr val="FF6600"/>
                </a:solidFill>
                <a:latin typeface="Consolas"/>
              </a:rPr>
              <a:t>requirements.txt</a:t>
            </a:r>
          </a:p>
        </p:txBody>
      </p:sp>
      <p:sp>
        <p:nvSpPr>
          <p:cNvPr id="8" name="TextBox 7"/>
          <p:cNvSpPr txBox="1"/>
          <p:nvPr/>
        </p:nvSpPr>
        <p:spPr>
          <a:xfrm>
            <a:off x="4773168" y="2423160"/>
            <a:ext cx="3566160" cy="822960"/>
          </a:xfrm>
          <a:prstGeom prst="rect">
            <a:avLst/>
          </a:prstGeom>
          <a:noFill/>
        </p:spPr>
        <p:txBody>
          <a:bodyPr wrap="square" anchor="t" lIns="0" rIns="0" tIns="0" bIns="0">
            <a:spAutoFit/>
          </a:bodyPr>
          <a:lstStyle/>
          <a:p>
            <a:pPr algn="l">
              <a:spcAft>
                <a:spcPts val="400"/>
              </a:spcAft>
            </a:pPr>
            <a:r>
              <a:rPr sz="1400">
                <a:solidFill>
                  <a:srgbClr val="00378A"/>
                </a:solidFill>
              </a:rPr>
              <a:t>Het boodschappenlijstje</a:t>
            </a:r>
          </a:p>
          <a:p>
            <a:pPr algn="l">
              <a:spcAft>
                <a:spcPts val="400"/>
              </a:spcAft>
            </a:pPr>
            <a:r>
              <a:rPr sz="1400">
                <a:solidFill>
                  <a:srgbClr val="00378A"/>
                </a:solidFill>
              </a:rPr>
              <a:t>Je buddy doet: </a:t>
            </a:r>
            <a:r>
              <a:rPr sz="1400">
                <a:solidFill>
                  <a:srgbClr val="00378A"/>
                </a:solidFill>
                <a:latin typeface="Consolas"/>
              </a:rPr>
              <a:t>pip install -r requirements.txt</a:t>
            </a:r>
          </a:p>
        </p:txBody>
      </p:sp>
      <p:sp>
        <p:nvSpPr>
          <p:cNvPr id="9" name="Code"/>
          <p:cNvSpPr/>
          <p:nvPr/>
        </p:nvSpPr>
        <p:spPr>
          <a:xfrm>
            <a:off x="384048" y="3520440"/>
            <a:ext cx="8138160" cy="777240"/>
          </a:xfrm>
          <a:prstGeom prst="roundRect">
            <a:avLst>
              <a:gd name="adj" fmla="val 6000"/>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a:solidFill>
                  <a:srgbClr val="DCE4F0"/>
                </a:solidFill>
                <a:latin typeface="Consolas"/>
              </a:rPr>
              <a:t>python -m venv .venv  &amp;&amp;  .venv\Scripts\activate</a:t>
            </a:r>
          </a:p>
          <a:p>
            <a:pPr algn="l"/>
            <a:r>
              <a:rPr sz="1200">
                <a:solidFill>
                  <a:srgbClr val="DCE4F0"/>
                </a:solidFill>
                <a:latin typeface="Consolas"/>
              </a:rPr>
              <a:t>pip install pandas  &amp;&amp;  pip freeze &gt; requirements.txt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Optioneel: lees het na</a:t>
            </a:r>
          </a:p>
        </p:txBody>
      </p:sp>
      <p:sp>
        <p:nvSpPr>
          <p:cNvPr id="3" name="Label"/>
          <p:cNvSpPr/>
          <p:nvPr/>
        </p:nvSpPr>
        <p:spPr>
          <a:xfrm>
            <a:off x="384048" y="4507992"/>
            <a:ext cx="3223260" cy="246888"/>
          </a:xfrm>
          <a:prstGeom prst="roundRect">
            <a:avLst>
              <a:gd name="adj" fmla="val 5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00378A"/>
                </a:solidFill>
              </a:rPr>
              <a:t>OPTIONEEL  ·  lees na: naslagwerk/README.md</a:t>
            </a:r>
          </a:p>
        </p:txBody>
      </p:sp>
      <p:sp>
        <p:nvSpPr>
          <p:cNvPr id="4" name="Kaart 1"/>
          <p:cNvSpPr/>
          <p:nvPr/>
        </p:nvSpPr>
        <p:spPr>
          <a:xfrm>
            <a:off x="384048"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920240"/>
            <a:ext cx="1463040" cy="457200"/>
          </a:xfrm>
          <a:prstGeom prst="rect">
            <a:avLst/>
          </a:prstGeom>
          <a:noFill/>
        </p:spPr>
        <p:txBody>
          <a:bodyPr wrap="square" anchor="t" lIns="0" rIns="0" tIns="0" bIns="0">
            <a:spAutoFit/>
          </a:bodyPr>
          <a:lstStyle/>
          <a:p>
            <a:pPr algn="l">
              <a:spcAft>
                <a:spcPts val="400"/>
              </a:spcAft>
            </a:pPr>
            <a:r>
              <a:rPr b="1" sz="1500">
                <a:solidFill>
                  <a:srgbClr val="FF6600"/>
                </a:solidFill>
              </a:rPr>
              <a:t>Folder structure</a:t>
            </a:r>
          </a:p>
        </p:txBody>
      </p:sp>
      <p:sp>
        <p:nvSpPr>
          <p:cNvPr id="6" name="TextBox 5"/>
          <p:cNvSpPr txBox="1"/>
          <p:nvPr/>
        </p:nvSpPr>
        <p:spPr>
          <a:xfrm>
            <a:off x="566928" y="2423160"/>
            <a:ext cx="1463040" cy="1371600"/>
          </a:xfrm>
          <a:prstGeom prst="rect">
            <a:avLst/>
          </a:prstGeom>
          <a:noFill/>
        </p:spPr>
        <p:txBody>
          <a:bodyPr wrap="square" anchor="t" lIns="0" rIns="0" tIns="0" bIns="0">
            <a:spAutoFit/>
          </a:bodyPr>
          <a:lstStyle/>
          <a:p>
            <a:pPr algn="l">
              <a:spcAft>
                <a:spcPts val="400"/>
              </a:spcAft>
            </a:pPr>
            <a:r>
              <a:rPr sz="1300">
                <a:solidFill>
                  <a:srgbClr val="00378A"/>
                </a:solidFill>
                <a:latin typeface="Consolas"/>
              </a:rPr>
              <a:t>src/</a:t>
            </a:r>
            <a:r>
              <a:rPr sz="1300">
                <a:solidFill>
                  <a:srgbClr val="00378A"/>
                </a:solidFill>
              </a:rPr>
              <a:t>, </a:t>
            </a:r>
            <a:r>
              <a:rPr sz="1300">
                <a:solidFill>
                  <a:srgbClr val="00378A"/>
                </a:solidFill>
                <a:latin typeface="Consolas"/>
              </a:rPr>
              <a:t>data/</a:t>
            </a:r>
            <a:r>
              <a:rPr sz="1300">
                <a:solidFill>
                  <a:srgbClr val="00378A"/>
                </a:solidFill>
              </a:rPr>
              <a:t>, </a:t>
            </a:r>
            <a:r>
              <a:rPr sz="1300">
                <a:solidFill>
                  <a:srgbClr val="00378A"/>
                </a:solidFill>
                <a:latin typeface="Consolas"/>
              </a:rPr>
              <a:t>assets/</a:t>
            </a:r>
            <a:r>
              <a:rPr sz="1300">
                <a:solidFill>
                  <a:srgbClr val="00378A"/>
                </a:solidFill>
              </a:rPr>
              <a:t>, </a:t>
            </a:r>
            <a:r>
              <a:rPr sz="1300">
                <a:solidFill>
                  <a:srgbClr val="00378A"/>
                </a:solidFill>
                <a:latin typeface="Consolas"/>
              </a:rPr>
              <a:t>docs/</a:t>
            </a:r>
            <a:r>
              <a:rPr sz="1300">
                <a:solidFill>
                  <a:srgbClr val="00378A"/>
                </a:solidFill>
              </a:rPr>
              <a:t>, </a:t>
            </a:r>
            <a:r>
              <a:rPr sz="1300">
                <a:solidFill>
                  <a:srgbClr val="00378A"/>
                </a:solidFill>
                <a:latin typeface="Consolas"/>
              </a:rPr>
              <a:t>tests/</a:t>
            </a:r>
          </a:p>
          <a:p>
            <a:pPr algn="l">
              <a:spcAft>
                <a:spcPts val="400"/>
              </a:spcAft>
            </a:pPr>
            <a:r>
              <a:rPr sz="1300">
                <a:solidFill>
                  <a:srgbClr val="00378A"/>
                </a:solidFill>
              </a:rPr>
              <a:t>groeit mee met je project</a:t>
            </a:r>
          </a:p>
        </p:txBody>
      </p:sp>
      <p:sp>
        <p:nvSpPr>
          <p:cNvPr id="7" name="Kaart 2"/>
          <p:cNvSpPr/>
          <p:nvPr/>
        </p:nvSpPr>
        <p:spPr>
          <a:xfrm>
            <a:off x="2487168"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70048" y="1920240"/>
            <a:ext cx="1463040" cy="457200"/>
          </a:xfrm>
          <a:prstGeom prst="rect">
            <a:avLst/>
          </a:prstGeom>
          <a:noFill/>
        </p:spPr>
        <p:txBody>
          <a:bodyPr wrap="square" anchor="t" lIns="0" rIns="0" tIns="0" bIns="0">
            <a:spAutoFit/>
          </a:bodyPr>
          <a:lstStyle/>
          <a:p>
            <a:pPr algn="l">
              <a:spcAft>
                <a:spcPts val="400"/>
              </a:spcAft>
            </a:pPr>
            <a:r>
              <a:rPr b="1" sz="1500">
                <a:solidFill>
                  <a:srgbClr val="FF6600"/>
                </a:solidFill>
              </a:rPr>
              <a:t>Notebooks</a:t>
            </a:r>
          </a:p>
        </p:txBody>
      </p:sp>
      <p:sp>
        <p:nvSpPr>
          <p:cNvPr id="9" name="TextBox 8"/>
          <p:cNvSpPr txBox="1"/>
          <p:nvPr/>
        </p:nvSpPr>
        <p:spPr>
          <a:xfrm>
            <a:off x="2670048" y="2423160"/>
            <a:ext cx="1463040" cy="1371600"/>
          </a:xfrm>
          <a:prstGeom prst="rect">
            <a:avLst/>
          </a:prstGeom>
          <a:noFill/>
        </p:spPr>
        <p:txBody>
          <a:bodyPr wrap="square" anchor="t" lIns="0" rIns="0" tIns="0" bIns="0">
            <a:spAutoFit/>
          </a:bodyPr>
          <a:lstStyle/>
          <a:p>
            <a:pPr algn="l">
              <a:spcAft>
                <a:spcPts val="400"/>
              </a:spcAft>
            </a:pPr>
            <a:r>
              <a:rPr sz="1300">
                <a:solidFill>
                  <a:srgbClr val="00378A"/>
                </a:solidFill>
              </a:rPr>
              <a:t>Output = data in git</a:t>
            </a:r>
          </a:p>
          <a:p>
            <a:pPr algn="l">
              <a:spcAft>
                <a:spcPts val="400"/>
              </a:spcAft>
            </a:pPr>
            <a:r>
              <a:rPr sz="1300">
                <a:solidFill>
                  <a:srgbClr val="00378A"/>
                </a:solidFill>
              </a:rPr>
              <a:t>wis de output vóór je commit</a:t>
            </a:r>
          </a:p>
        </p:txBody>
      </p:sp>
      <p:sp>
        <p:nvSpPr>
          <p:cNvPr id="10" name="Kaart 3"/>
          <p:cNvSpPr/>
          <p:nvPr/>
        </p:nvSpPr>
        <p:spPr>
          <a:xfrm>
            <a:off x="4590288"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73168" y="1920240"/>
            <a:ext cx="1463040" cy="457200"/>
          </a:xfrm>
          <a:prstGeom prst="rect">
            <a:avLst/>
          </a:prstGeom>
          <a:noFill/>
        </p:spPr>
        <p:txBody>
          <a:bodyPr wrap="square" anchor="t" lIns="0" rIns="0" tIns="0" bIns="0">
            <a:spAutoFit/>
          </a:bodyPr>
          <a:lstStyle/>
          <a:p>
            <a:pPr algn="l">
              <a:spcAft>
                <a:spcPts val="400"/>
              </a:spcAft>
            </a:pPr>
            <a:r>
              <a:rPr sz="1500">
                <a:solidFill>
                  <a:srgbClr val="FF6600"/>
                </a:solidFill>
                <a:latin typeface="Consolas"/>
              </a:rPr>
              <a:t>.gitkeep</a:t>
            </a:r>
          </a:p>
        </p:txBody>
      </p:sp>
      <p:sp>
        <p:nvSpPr>
          <p:cNvPr id="12" name="TextBox 11"/>
          <p:cNvSpPr txBox="1"/>
          <p:nvPr/>
        </p:nvSpPr>
        <p:spPr>
          <a:xfrm>
            <a:off x="4773168" y="2423160"/>
            <a:ext cx="1463040" cy="1371600"/>
          </a:xfrm>
          <a:prstGeom prst="rect">
            <a:avLst/>
          </a:prstGeom>
          <a:noFill/>
        </p:spPr>
        <p:txBody>
          <a:bodyPr wrap="square" anchor="t" lIns="0" rIns="0" tIns="0" bIns="0">
            <a:spAutoFit/>
          </a:bodyPr>
          <a:lstStyle/>
          <a:p>
            <a:pPr algn="l">
              <a:spcAft>
                <a:spcPts val="400"/>
              </a:spcAft>
            </a:pPr>
            <a:r>
              <a:rPr sz="1300">
                <a:solidFill>
                  <a:srgbClr val="00378A"/>
                </a:solidFill>
              </a:rPr>
              <a:t>Lege map toch in git</a:t>
            </a:r>
          </a:p>
          <a:p>
            <a:pPr algn="l">
              <a:spcAft>
                <a:spcPts val="400"/>
              </a:spcAft>
            </a:pPr>
            <a:r>
              <a:rPr sz="1300">
                <a:solidFill>
                  <a:srgbClr val="00378A"/>
                </a:solidFill>
                <a:latin typeface="Consolas"/>
              </a:rPr>
              <a:t>data/private/*</a:t>
            </a:r>
            <a:r>
              <a:rPr sz="1300">
                <a:solidFill>
                  <a:srgbClr val="00378A"/>
                </a:solidFill>
              </a:rPr>
              <a:t> + </a:t>
            </a:r>
            <a:r>
              <a:rPr sz="1300">
                <a:solidFill>
                  <a:srgbClr val="00378A"/>
                </a:solidFill>
                <a:latin typeface="Consolas"/>
              </a:rPr>
              <a:t>!…/.gitkeep</a:t>
            </a:r>
          </a:p>
        </p:txBody>
      </p:sp>
      <p:sp>
        <p:nvSpPr>
          <p:cNvPr id="13" name="Kaart 4"/>
          <p:cNvSpPr/>
          <p:nvPr/>
        </p:nvSpPr>
        <p:spPr>
          <a:xfrm>
            <a:off x="6693407" y="1737360"/>
            <a:ext cx="182880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76288" y="1920240"/>
            <a:ext cx="1463040" cy="457200"/>
          </a:xfrm>
          <a:prstGeom prst="rect">
            <a:avLst/>
          </a:prstGeom>
          <a:noFill/>
        </p:spPr>
        <p:txBody>
          <a:bodyPr wrap="square" anchor="t" lIns="0" rIns="0" tIns="0" bIns="0">
            <a:spAutoFit/>
          </a:bodyPr>
          <a:lstStyle/>
          <a:p>
            <a:pPr algn="l">
              <a:spcAft>
                <a:spcPts val="400"/>
              </a:spcAft>
            </a:pPr>
            <a:r>
              <a:rPr b="1" sz="1500">
                <a:solidFill>
                  <a:srgbClr val="FF6600"/>
                </a:solidFill>
              </a:rPr>
              <a:t>Hand-offs &amp; decisions</a:t>
            </a:r>
          </a:p>
        </p:txBody>
      </p:sp>
      <p:sp>
        <p:nvSpPr>
          <p:cNvPr id="15" name="TextBox 14"/>
          <p:cNvSpPr txBox="1"/>
          <p:nvPr/>
        </p:nvSpPr>
        <p:spPr>
          <a:xfrm>
            <a:off x="6876288" y="2423160"/>
            <a:ext cx="1463040" cy="1371600"/>
          </a:xfrm>
          <a:prstGeom prst="rect">
            <a:avLst/>
          </a:prstGeom>
          <a:noFill/>
        </p:spPr>
        <p:txBody>
          <a:bodyPr wrap="square" anchor="t" lIns="0" rIns="0" tIns="0" bIns="0">
            <a:spAutoFit/>
          </a:bodyPr>
          <a:lstStyle/>
          <a:p>
            <a:pPr algn="l">
              <a:spcAft>
                <a:spcPts val="400"/>
              </a:spcAft>
            </a:pPr>
            <a:r>
              <a:rPr sz="1300">
                <a:solidFill>
                  <a:srgbClr val="00378A"/>
                </a:solidFill>
              </a:rPr>
              <a:t>Hand-off = geschiedenis</a:t>
            </a:r>
          </a:p>
          <a:p>
            <a:pPr algn="l">
              <a:spcAft>
                <a:spcPts val="400"/>
              </a:spcAft>
            </a:pPr>
            <a:r>
              <a:rPr sz="1300">
                <a:solidFill>
                  <a:srgbClr val="00378A"/>
                </a:solidFill>
              </a:rPr>
              <a:t>Decision = waarheid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6600"/>
                </a:solidFill>
                <a:highlight>
                  <a:srgbClr val="FFFF00"/>
                </a:highlight>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Oefening 3: Je eigen project</a:t>
            </a:r>
          </a:p>
        </p:txBody>
      </p:sp>
      <p:sp>
        <p:nvSpPr>
          <p:cNvPr id="4" name="Text Placeholder 3"/>
          <p:cNvSpPr>
            <a:spLocks noGrp="1"/>
          </p:cNvSpPr>
          <p:nvPr>
            <p:ph type="body" idx="13" sz="quarter"/>
          </p:nvPr>
        </p:nvSpPr>
        <p:spPr/>
        <p:txBody>
          <a:bodyPr/>
          <a:lstStyle/>
          <a:p>
            <a:r>
              <a:t>60 minuten · inclusief working lunch</a:t>
            </a:r>
          </a:p>
        </p:txBody>
      </p:sp>
      <p:sp>
        <p:nvSpPr>
          <p:cNvPr id="5" name="Stap 1"/>
          <p:cNvSpPr/>
          <p:nvPr/>
        </p:nvSpPr>
        <p:spPr>
          <a:xfrm>
            <a:off x="384048" y="173736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6" name="TextBox 5"/>
          <p:cNvSpPr txBox="1"/>
          <p:nvPr/>
        </p:nvSpPr>
        <p:spPr>
          <a:xfrm>
            <a:off x="886968" y="176479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Zet je agent(s) aan het werk volgens de dagelijkse workflow</a:t>
            </a:r>
          </a:p>
        </p:txBody>
      </p:sp>
      <p:sp>
        <p:nvSpPr>
          <p:cNvPr id="7" name="Stap 2"/>
          <p:cNvSpPr/>
          <p:nvPr/>
        </p:nvSpPr>
        <p:spPr>
          <a:xfrm>
            <a:off x="384048" y="224028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8" name="TextBox 7"/>
          <p:cNvSpPr txBox="1"/>
          <p:nvPr/>
        </p:nvSpPr>
        <p:spPr>
          <a:xfrm>
            <a:off x="886968" y="226771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Maak je eerste PoC</a:t>
            </a:r>
          </a:p>
        </p:txBody>
      </p:sp>
      <p:sp>
        <p:nvSpPr>
          <p:cNvPr id="9" name="Stap 3"/>
          <p:cNvSpPr/>
          <p:nvPr/>
        </p:nvSpPr>
        <p:spPr>
          <a:xfrm>
            <a:off x="384048" y="27432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10" name="TextBox 9"/>
          <p:cNvSpPr txBox="1"/>
          <p:nvPr/>
        </p:nvSpPr>
        <p:spPr>
          <a:xfrm>
            <a:off x="886968" y="277063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Commit na elke stap die werkt</a:t>
            </a:r>
          </a:p>
        </p:txBody>
      </p:sp>
      <p:sp>
        <p:nvSpPr>
          <p:cNvPr id="11" name="Stap 4"/>
          <p:cNvSpPr/>
          <p:nvPr/>
        </p:nvSpPr>
        <p:spPr>
          <a:xfrm>
            <a:off x="384048" y="324612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4</a:t>
            </a:r>
          </a:p>
        </p:txBody>
      </p:sp>
      <p:sp>
        <p:nvSpPr>
          <p:cNvPr id="12" name="TextBox 11"/>
          <p:cNvSpPr txBox="1"/>
          <p:nvPr/>
        </p:nvSpPr>
        <p:spPr>
          <a:xfrm>
            <a:off x="886968" y="3273551"/>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Schrijf aan het eind een hand-off (of laat hem schrijven, maar lees hem dan wel)</a:t>
            </a:r>
          </a:p>
        </p:txBody>
      </p:sp>
      <p:sp>
        <p:nvSpPr>
          <p:cNvPr id="13" name="Les"/>
          <p:cNvSpPr/>
          <p:nvPr/>
        </p:nvSpPr>
        <p:spPr>
          <a:xfrm>
            <a:off x="384048" y="3886200"/>
            <a:ext cx="7680960" cy="502920"/>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86200"/>
            <a:ext cx="7315200" cy="502920"/>
          </a:xfrm>
          <a:prstGeom prst="rect">
            <a:avLst/>
          </a:prstGeom>
          <a:noFill/>
        </p:spPr>
        <p:txBody>
          <a:bodyPr wrap="square" anchor="ctr" lIns="0" rIns="0" tIns="0" bIns="0">
            <a:spAutoFit/>
          </a:bodyPr>
          <a:lstStyle/>
          <a:p>
            <a:pPr algn="l">
              <a:spcAft>
                <a:spcPts val="400"/>
              </a:spcAft>
            </a:pPr>
            <a:r>
              <a:rPr b="1" sz="1500">
                <a:solidFill>
                  <a:srgbClr val="FFFFFF"/>
                </a:solidFill>
              </a:rPr>
              <a:t>Les:</a:t>
            </a:r>
            <a:r>
              <a:rPr sz="1500">
                <a:solidFill>
                  <a:srgbClr val="FFFFFF"/>
                </a:solidFill>
              </a:rPr>
              <a:t> feature voor feature, en je kennis in de repo.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6600"/>
                </a:solidFill>
                <a:highlight>
                  <a:srgbClr val="FFFF00"/>
                </a:highlight>
              </a:rPr>
              <a:t>45 min	Oefening 4: Deelbaar maken</a:t>
            </a:r>
          </a:p>
          <a:p>
            <a:pPr algn="l">
              <a:tabLst>
                <a:tab pos="731520" algn="l"/>
              </a:tabLst>
            </a:pPr>
            <a:r>
              <a:rPr sz="1700">
                <a:solidFill>
                  <a:srgbClr val="FFFFFF"/>
                </a:solidFill>
              </a:rPr>
              <a:t>20 min	Afsluiting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Werkt het ook op een andere computer?</a:t>
            </a:r>
          </a:p>
        </p:txBody>
      </p:sp>
      <p:sp>
        <p:nvSpPr>
          <p:cNvPr id="3" name="Kaart 1"/>
          <p:cNvSpPr/>
          <p:nvPr/>
        </p:nvSpPr>
        <p:spPr>
          <a:xfrm>
            <a:off x="384048" y="1737360"/>
            <a:ext cx="2529840" cy="15544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2164080" cy="457200"/>
          </a:xfrm>
          <a:prstGeom prst="rect">
            <a:avLst/>
          </a:prstGeom>
          <a:noFill/>
        </p:spPr>
        <p:txBody>
          <a:bodyPr wrap="square" anchor="t" lIns="0" rIns="0" tIns="0" bIns="0">
            <a:spAutoFit/>
          </a:bodyPr>
          <a:lstStyle/>
          <a:p>
            <a:pPr algn="l">
              <a:spcAft>
                <a:spcPts val="400"/>
              </a:spcAft>
            </a:pPr>
            <a:r>
              <a:rPr sz="1800">
                <a:solidFill>
                  <a:srgbClr val="FF6600"/>
                </a:solidFill>
                <a:latin typeface="Consolas"/>
              </a:rPr>
              <a:t>README.md</a:t>
            </a:r>
          </a:p>
        </p:txBody>
      </p:sp>
      <p:sp>
        <p:nvSpPr>
          <p:cNvPr id="5" name="TextBox 4"/>
          <p:cNvSpPr txBox="1"/>
          <p:nvPr/>
        </p:nvSpPr>
        <p:spPr>
          <a:xfrm>
            <a:off x="566928" y="2423160"/>
            <a:ext cx="2164080" cy="731519"/>
          </a:xfrm>
          <a:prstGeom prst="rect">
            <a:avLst/>
          </a:prstGeom>
          <a:noFill/>
        </p:spPr>
        <p:txBody>
          <a:bodyPr wrap="square" anchor="t" lIns="0" rIns="0" tIns="0" bIns="0">
            <a:spAutoFit/>
          </a:bodyPr>
          <a:lstStyle/>
          <a:p>
            <a:pPr algn="l">
              <a:spcAft>
                <a:spcPts val="400"/>
              </a:spcAft>
            </a:pPr>
            <a:r>
              <a:rPr sz="1500">
                <a:solidFill>
                  <a:srgbClr val="00378A"/>
                </a:solidFill>
              </a:rPr>
              <a:t>Wat doet het en hoe start je het?</a:t>
            </a:r>
          </a:p>
        </p:txBody>
      </p:sp>
      <p:sp>
        <p:nvSpPr>
          <p:cNvPr id="6" name="Kaart 2"/>
          <p:cNvSpPr/>
          <p:nvPr/>
        </p:nvSpPr>
        <p:spPr>
          <a:xfrm>
            <a:off x="3188208" y="1737360"/>
            <a:ext cx="2529840" cy="15544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71088" y="1920240"/>
            <a:ext cx="2164080" cy="457200"/>
          </a:xfrm>
          <a:prstGeom prst="rect">
            <a:avLst/>
          </a:prstGeom>
          <a:noFill/>
        </p:spPr>
        <p:txBody>
          <a:bodyPr wrap="square" anchor="t" lIns="0" rIns="0" tIns="0" bIns="0">
            <a:spAutoFit/>
          </a:bodyPr>
          <a:lstStyle/>
          <a:p>
            <a:pPr algn="l">
              <a:spcAft>
                <a:spcPts val="400"/>
              </a:spcAft>
            </a:pPr>
            <a:r>
              <a:rPr sz="1800">
                <a:solidFill>
                  <a:srgbClr val="FF6600"/>
                </a:solidFill>
                <a:latin typeface="Consolas"/>
              </a:rPr>
              <a:t>requirements.txt</a:t>
            </a:r>
          </a:p>
        </p:txBody>
      </p:sp>
      <p:sp>
        <p:nvSpPr>
          <p:cNvPr id="8" name="TextBox 7"/>
          <p:cNvSpPr txBox="1"/>
          <p:nvPr/>
        </p:nvSpPr>
        <p:spPr>
          <a:xfrm>
            <a:off x="3371088" y="2423160"/>
            <a:ext cx="2164080" cy="731519"/>
          </a:xfrm>
          <a:prstGeom prst="rect">
            <a:avLst/>
          </a:prstGeom>
          <a:noFill/>
        </p:spPr>
        <p:txBody>
          <a:bodyPr wrap="square" anchor="t" lIns="0" rIns="0" tIns="0" bIns="0">
            <a:spAutoFit/>
          </a:bodyPr>
          <a:lstStyle/>
          <a:p>
            <a:pPr algn="l">
              <a:spcAft>
                <a:spcPts val="400"/>
              </a:spcAft>
            </a:pPr>
            <a:r>
              <a:rPr sz="1500">
                <a:solidFill>
                  <a:srgbClr val="00378A"/>
                </a:solidFill>
              </a:rPr>
              <a:t>Welke software heb je nodig?</a:t>
            </a:r>
          </a:p>
        </p:txBody>
      </p:sp>
      <p:sp>
        <p:nvSpPr>
          <p:cNvPr id="9" name="Kaart 3"/>
          <p:cNvSpPr/>
          <p:nvPr/>
        </p:nvSpPr>
        <p:spPr>
          <a:xfrm>
            <a:off x="5992368" y="1737360"/>
            <a:ext cx="2529840" cy="15544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5248" y="1920240"/>
            <a:ext cx="2164080" cy="457200"/>
          </a:xfrm>
          <a:prstGeom prst="rect">
            <a:avLst/>
          </a:prstGeom>
          <a:noFill/>
        </p:spPr>
        <p:txBody>
          <a:bodyPr wrap="square" anchor="t" lIns="0" rIns="0" tIns="0" bIns="0">
            <a:spAutoFit/>
          </a:bodyPr>
          <a:lstStyle/>
          <a:p>
            <a:pPr algn="l">
              <a:spcAft>
                <a:spcPts val="400"/>
              </a:spcAft>
            </a:pPr>
            <a:r>
              <a:rPr sz="1800">
                <a:solidFill>
                  <a:srgbClr val="FF6600"/>
                </a:solidFill>
                <a:latin typeface="Consolas"/>
              </a:rPr>
              <a:t>.env.example</a:t>
            </a:r>
          </a:p>
        </p:txBody>
      </p:sp>
      <p:sp>
        <p:nvSpPr>
          <p:cNvPr id="11" name="TextBox 10"/>
          <p:cNvSpPr txBox="1"/>
          <p:nvPr/>
        </p:nvSpPr>
        <p:spPr>
          <a:xfrm>
            <a:off x="6175248" y="2423160"/>
            <a:ext cx="2164080" cy="731519"/>
          </a:xfrm>
          <a:prstGeom prst="rect">
            <a:avLst/>
          </a:prstGeom>
          <a:noFill/>
        </p:spPr>
        <p:txBody>
          <a:bodyPr wrap="square" anchor="t" lIns="0" rIns="0" tIns="0" bIns="0">
            <a:spAutoFit/>
          </a:bodyPr>
          <a:lstStyle/>
          <a:p>
            <a:pPr algn="l">
              <a:spcAft>
                <a:spcPts val="400"/>
              </a:spcAft>
            </a:pPr>
            <a:r>
              <a:rPr sz="1500">
                <a:solidFill>
                  <a:srgbClr val="00378A"/>
                </a:solidFill>
              </a:rPr>
              <a:t>Welke instellingen moet je zelf invullen?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ai-used-readme-out-of-date.jpg"/>
          <p:cNvPicPr>
            <a:picLocks noChangeAspect="1"/>
          </p:cNvPicPr>
          <p:nvPr/>
        </p:nvPicPr>
        <p:blipFill>
          <a:blip r:embed="rId2"/>
          <a:stretch>
            <a:fillRect/>
          </a:stretch>
        </p:blipFill>
        <p:spPr>
          <a:xfrm>
            <a:off x="2565423" y="411480"/>
            <a:ext cx="3235913" cy="402336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Nooit in git</a:t>
            </a:r>
          </a:p>
        </p:txBody>
      </p:sp>
      <p:sp>
        <p:nvSpPr>
          <p:cNvPr id="3" name="Kaart 1"/>
          <p:cNvSpPr/>
          <p:nvPr/>
        </p:nvSpPr>
        <p:spPr>
          <a:xfrm>
            <a:off x="384048" y="1737360"/>
            <a:ext cx="3931920" cy="13716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3566160" cy="457200"/>
          </a:xfrm>
          <a:prstGeom prst="rect">
            <a:avLst/>
          </a:prstGeom>
          <a:noFill/>
        </p:spPr>
        <p:txBody>
          <a:bodyPr wrap="square" anchor="t" lIns="0" rIns="0" tIns="0" bIns="0">
            <a:spAutoFit/>
          </a:bodyPr>
          <a:lstStyle/>
          <a:p>
            <a:pPr algn="l">
              <a:spcAft>
                <a:spcPts val="400"/>
              </a:spcAft>
            </a:pPr>
            <a:r>
              <a:rPr b="1" sz="2000">
                <a:solidFill>
                  <a:srgbClr val="FF6600"/>
                </a:solidFill>
              </a:rPr>
              <a:t>Data</a:t>
            </a:r>
          </a:p>
        </p:txBody>
      </p:sp>
      <p:sp>
        <p:nvSpPr>
          <p:cNvPr id="5" name="TextBox 4"/>
          <p:cNvSpPr txBox="1"/>
          <p:nvPr/>
        </p:nvSpPr>
        <p:spPr>
          <a:xfrm>
            <a:off x="566928" y="2423160"/>
            <a:ext cx="3566160" cy="548640"/>
          </a:xfrm>
          <a:prstGeom prst="rect">
            <a:avLst/>
          </a:prstGeom>
          <a:noFill/>
        </p:spPr>
        <p:txBody>
          <a:bodyPr wrap="square" anchor="t" lIns="0" rIns="0" tIns="0" bIns="0">
            <a:spAutoFit/>
          </a:bodyPr>
          <a:lstStyle/>
          <a:p>
            <a:pPr algn="l">
              <a:spcAft>
                <a:spcPts val="400"/>
              </a:spcAft>
            </a:pPr>
            <a:r>
              <a:rPr sz="1500">
                <a:solidFill>
                  <a:srgbClr val="00378A"/>
                </a:solidFill>
              </a:rPr>
              <a:t>Ook geen example data van echte sporters</a:t>
            </a:r>
          </a:p>
        </p:txBody>
      </p:sp>
      <p:sp>
        <p:nvSpPr>
          <p:cNvPr id="6" name="Kaart 2"/>
          <p:cNvSpPr/>
          <p:nvPr/>
        </p:nvSpPr>
        <p:spPr>
          <a:xfrm>
            <a:off x="4590288" y="1737360"/>
            <a:ext cx="3931920" cy="13716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73168" y="1920240"/>
            <a:ext cx="3566160" cy="457200"/>
          </a:xfrm>
          <a:prstGeom prst="rect">
            <a:avLst/>
          </a:prstGeom>
          <a:noFill/>
        </p:spPr>
        <p:txBody>
          <a:bodyPr wrap="square" anchor="t" lIns="0" rIns="0" tIns="0" bIns="0">
            <a:spAutoFit/>
          </a:bodyPr>
          <a:lstStyle/>
          <a:p>
            <a:pPr algn="l">
              <a:spcAft>
                <a:spcPts val="400"/>
              </a:spcAft>
            </a:pPr>
            <a:r>
              <a:rPr b="1" sz="2000">
                <a:solidFill>
                  <a:srgbClr val="FF6600"/>
                </a:solidFill>
              </a:rPr>
              <a:t>Credentials</a:t>
            </a:r>
          </a:p>
        </p:txBody>
      </p:sp>
      <p:sp>
        <p:nvSpPr>
          <p:cNvPr id="8" name="TextBox 7"/>
          <p:cNvSpPr txBox="1"/>
          <p:nvPr/>
        </p:nvSpPr>
        <p:spPr>
          <a:xfrm>
            <a:off x="4773168" y="2423160"/>
            <a:ext cx="3566160" cy="548640"/>
          </a:xfrm>
          <a:prstGeom prst="rect">
            <a:avLst/>
          </a:prstGeom>
          <a:noFill/>
        </p:spPr>
        <p:txBody>
          <a:bodyPr wrap="square" anchor="t" lIns="0" rIns="0" tIns="0" bIns="0">
            <a:spAutoFit/>
          </a:bodyPr>
          <a:lstStyle/>
          <a:p>
            <a:pPr algn="l">
              <a:spcAft>
                <a:spcPts val="400"/>
              </a:spcAft>
            </a:pPr>
            <a:r>
              <a:rPr sz="1500">
                <a:solidFill>
                  <a:srgbClr val="00378A"/>
                </a:solidFill>
              </a:rPr>
              <a:t>Wachtwoorden, API-keys, </a:t>
            </a:r>
            <a:r>
              <a:rPr sz="1500">
                <a:solidFill>
                  <a:srgbClr val="00378A"/>
                </a:solidFill>
                <a:latin typeface="Consolas"/>
              </a:rPr>
              <a:t>.env</a:t>
            </a:r>
          </a:p>
        </p:txBody>
      </p:sp>
      <p:sp>
        <p:nvSpPr>
          <p:cNvPr id="9" name="TextBox 8"/>
          <p:cNvSpPr txBox="1"/>
          <p:nvPr/>
        </p:nvSpPr>
        <p:spPr>
          <a:xfrm>
            <a:off x="384048" y="3383280"/>
            <a:ext cx="8138160" cy="365760"/>
          </a:xfrm>
          <a:prstGeom prst="rect">
            <a:avLst/>
          </a:prstGeom>
          <a:noFill/>
        </p:spPr>
        <p:txBody>
          <a:bodyPr wrap="square" anchor="t" lIns="0" rIns="0" tIns="0" bIns="0">
            <a:spAutoFit/>
          </a:bodyPr>
          <a:lstStyle/>
          <a:p>
            <a:pPr algn="l">
              <a:spcAft>
                <a:spcPts val="400"/>
              </a:spcAft>
            </a:pPr>
            <a:r>
              <a:rPr b="1" sz="1800">
                <a:solidFill>
                  <a:srgbClr val="FF6600"/>
                </a:solidFill>
              </a:rPr>
              <a:t>Hoe krijgt je buddy de data dan wel?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Hoe deel je data dan wél?</a:t>
            </a:r>
          </a:p>
        </p:txBody>
      </p:sp>
      <p:sp>
        <p:nvSpPr>
          <p:cNvPr id="3" name="Kaart 1"/>
          <p:cNvSpPr/>
          <p:nvPr/>
        </p:nvSpPr>
        <p:spPr>
          <a:xfrm>
            <a:off x="384048" y="1737360"/>
            <a:ext cx="252984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2164080" cy="457200"/>
          </a:xfrm>
          <a:prstGeom prst="rect">
            <a:avLst/>
          </a:prstGeom>
          <a:noFill/>
        </p:spPr>
        <p:txBody>
          <a:bodyPr wrap="square" anchor="t" lIns="0" rIns="0" tIns="0" bIns="0">
            <a:spAutoFit/>
          </a:bodyPr>
          <a:lstStyle/>
          <a:p>
            <a:pPr algn="l">
              <a:spcAft>
                <a:spcPts val="400"/>
              </a:spcAft>
            </a:pPr>
            <a:r>
              <a:rPr b="1" sz="1500">
                <a:solidFill>
                  <a:srgbClr val="FF6600"/>
                </a:solidFill>
              </a:rPr>
              <a:t>Kleine voorbeelddata in de repo</a:t>
            </a:r>
          </a:p>
        </p:txBody>
      </p:sp>
      <p:sp>
        <p:nvSpPr>
          <p:cNvPr id="5" name="TextBox 4"/>
          <p:cNvSpPr txBox="1"/>
          <p:nvPr/>
        </p:nvSpPr>
        <p:spPr>
          <a:xfrm>
            <a:off x="566928" y="2423160"/>
            <a:ext cx="2164080" cy="1371600"/>
          </a:xfrm>
          <a:prstGeom prst="rect">
            <a:avLst/>
          </a:prstGeom>
          <a:noFill/>
        </p:spPr>
        <p:txBody>
          <a:bodyPr wrap="square" anchor="t" lIns="0" rIns="0" tIns="0" bIns="0">
            <a:spAutoFit/>
          </a:bodyPr>
          <a:lstStyle/>
          <a:p>
            <a:pPr algn="l">
              <a:spcAft>
                <a:spcPts val="400"/>
              </a:spcAft>
            </a:pPr>
            <a:r>
              <a:rPr sz="1300">
                <a:solidFill>
                  <a:srgbClr val="00378A"/>
                </a:solidFill>
              </a:rPr>
              <a:t>Altijd klein: </a:t>
            </a:r>
            <a:r>
              <a:rPr b="1" sz="1300">
                <a:solidFill>
                  <a:srgbClr val="00378A"/>
                </a:solidFill>
              </a:rPr>
              <a:t>&lt; 1 MB</a:t>
            </a:r>
          </a:p>
          <a:p>
            <a:pPr algn="l">
              <a:spcAft>
                <a:spcPts val="400"/>
              </a:spcAft>
            </a:pPr>
            <a:r>
              <a:rPr sz="1300">
                <a:solidFill>
                  <a:srgbClr val="00378A"/>
                </a:solidFill>
              </a:rPr>
              <a:t>Ga ervan uit dat het </a:t>
            </a:r>
            <a:r>
              <a:rPr b="1" sz="1300">
                <a:solidFill>
                  <a:srgbClr val="00378A"/>
                </a:solidFill>
              </a:rPr>
              <a:t>op straat ligt</a:t>
            </a:r>
            <a:r>
              <a:rPr sz="1300">
                <a:solidFill>
                  <a:srgbClr val="00378A"/>
                </a:solidFill>
              </a:rPr>
              <a:t>: niets gevoeligs, liefst synthetisch</a:t>
            </a:r>
          </a:p>
        </p:txBody>
      </p:sp>
      <p:sp>
        <p:nvSpPr>
          <p:cNvPr id="6" name="Kaart 2"/>
          <p:cNvSpPr/>
          <p:nvPr/>
        </p:nvSpPr>
        <p:spPr>
          <a:xfrm>
            <a:off x="3188208" y="1737360"/>
            <a:ext cx="252984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71088" y="1920240"/>
            <a:ext cx="2164080" cy="457200"/>
          </a:xfrm>
          <a:prstGeom prst="rect">
            <a:avLst/>
          </a:prstGeom>
          <a:noFill/>
        </p:spPr>
        <p:txBody>
          <a:bodyPr wrap="square" anchor="t" lIns="0" rIns="0" tIns="0" bIns="0">
            <a:spAutoFit/>
          </a:bodyPr>
          <a:lstStyle/>
          <a:p>
            <a:pPr algn="l">
              <a:spcAft>
                <a:spcPts val="400"/>
              </a:spcAft>
            </a:pPr>
            <a:r>
              <a:rPr b="1" sz="1500">
                <a:solidFill>
                  <a:srgbClr val="FF6600"/>
                </a:solidFill>
              </a:rPr>
              <a:t>Een script dat nepdata maakt</a:t>
            </a:r>
          </a:p>
        </p:txBody>
      </p:sp>
      <p:sp>
        <p:nvSpPr>
          <p:cNvPr id="8" name="TextBox 7"/>
          <p:cNvSpPr txBox="1"/>
          <p:nvPr/>
        </p:nvSpPr>
        <p:spPr>
          <a:xfrm>
            <a:off x="3371088" y="2423160"/>
            <a:ext cx="2164080" cy="1371600"/>
          </a:xfrm>
          <a:prstGeom prst="rect">
            <a:avLst/>
          </a:prstGeom>
          <a:noFill/>
        </p:spPr>
        <p:txBody>
          <a:bodyPr wrap="square" anchor="t" lIns="0" rIns="0" tIns="0" bIns="0">
            <a:spAutoFit/>
          </a:bodyPr>
          <a:lstStyle/>
          <a:p>
            <a:pPr algn="l">
              <a:spcAft>
                <a:spcPts val="400"/>
              </a:spcAft>
            </a:pPr>
            <a:r>
              <a:rPr sz="1300">
                <a:solidFill>
                  <a:srgbClr val="00378A"/>
                </a:solidFill>
              </a:rPr>
              <a:t>Bijv. </a:t>
            </a:r>
            <a:r>
              <a:rPr sz="1300">
                <a:solidFill>
                  <a:srgbClr val="00378A"/>
                </a:solidFill>
                <a:latin typeface="Consolas"/>
              </a:rPr>
              <a:t>scripts/make_example_data.py</a:t>
            </a:r>
          </a:p>
          <a:p>
            <a:pPr algn="l">
              <a:spcAft>
                <a:spcPts val="400"/>
              </a:spcAft>
            </a:pPr>
            <a:r>
              <a:rPr sz="1300">
                <a:solidFill>
                  <a:srgbClr val="00378A"/>
                </a:solidFill>
              </a:rPr>
              <a:t>Je agent schrijft het op basis van alleen de kolomnamen</a:t>
            </a:r>
          </a:p>
        </p:txBody>
      </p:sp>
      <p:sp>
        <p:nvSpPr>
          <p:cNvPr id="9" name="Kaart 3"/>
          <p:cNvSpPr/>
          <p:nvPr/>
        </p:nvSpPr>
        <p:spPr>
          <a:xfrm>
            <a:off x="5992368" y="1737360"/>
            <a:ext cx="2529840" cy="2194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5248" y="1920240"/>
            <a:ext cx="2164080" cy="457200"/>
          </a:xfrm>
          <a:prstGeom prst="rect">
            <a:avLst/>
          </a:prstGeom>
          <a:noFill/>
        </p:spPr>
        <p:txBody>
          <a:bodyPr wrap="square" anchor="t" lIns="0" rIns="0" tIns="0" bIns="0">
            <a:spAutoFit/>
          </a:bodyPr>
          <a:lstStyle/>
          <a:p>
            <a:pPr algn="l">
              <a:spcAft>
                <a:spcPts val="400"/>
              </a:spcAft>
            </a:pPr>
            <a:r>
              <a:rPr b="1" sz="1500">
                <a:solidFill>
                  <a:srgbClr val="FF6600"/>
                </a:solidFill>
              </a:rPr>
              <a:t>Echte data buiten git</a:t>
            </a:r>
          </a:p>
        </p:txBody>
      </p:sp>
      <p:sp>
        <p:nvSpPr>
          <p:cNvPr id="11" name="TextBox 10"/>
          <p:cNvSpPr txBox="1"/>
          <p:nvPr/>
        </p:nvSpPr>
        <p:spPr>
          <a:xfrm>
            <a:off x="6175248" y="2423160"/>
            <a:ext cx="2164080" cy="1371600"/>
          </a:xfrm>
          <a:prstGeom prst="rect">
            <a:avLst/>
          </a:prstGeom>
          <a:noFill/>
        </p:spPr>
        <p:txBody>
          <a:bodyPr wrap="square" anchor="t" lIns="0" rIns="0" tIns="0" bIns="0">
            <a:spAutoFit/>
          </a:bodyPr>
          <a:lstStyle/>
          <a:p>
            <a:pPr algn="l">
              <a:spcAft>
                <a:spcPts val="400"/>
              </a:spcAft>
            </a:pPr>
            <a:r>
              <a:rPr sz="1300">
                <a:solidFill>
                  <a:srgbClr val="00378A"/>
                </a:solidFill>
              </a:rPr>
              <a:t>In een gedeelde map (bijv. OneDrive)</a:t>
            </a:r>
          </a:p>
          <a:p>
            <a:pPr algn="l">
              <a:spcAft>
                <a:spcPts val="400"/>
              </a:spcAft>
            </a:pPr>
            <a:r>
              <a:rPr sz="1300">
                <a:solidFill>
                  <a:srgbClr val="00378A"/>
                </a:solidFill>
              </a:rPr>
              <a:t>Het pad staat in je </a:t>
            </a:r>
            <a:r>
              <a:rPr sz="1300">
                <a:solidFill>
                  <a:srgbClr val="00378A"/>
                </a:solidFill>
                <a:latin typeface="Consolas"/>
              </a:rPr>
              <a:t>.env</a:t>
            </a:r>
            <a:r>
              <a:rPr sz="1300">
                <a:solidFill>
                  <a:srgbClr val="00378A"/>
                </a:solidFill>
              </a:rPr>
              <a:t> (</a:t>
            </a:r>
            <a:r>
              <a:rPr sz="1300">
                <a:solidFill>
                  <a:srgbClr val="00378A"/>
                </a:solidFill>
                <a:latin typeface="Consolas"/>
              </a:rPr>
              <a:t>DATA_DIR</a:t>
            </a:r>
            <a:r>
              <a:rPr sz="1300">
                <a:solidFill>
                  <a:srgbClr val="00378A"/>
                </a:solidFill>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Oefening 4: Deelbaar maken</a:t>
            </a:r>
          </a:p>
        </p:txBody>
      </p:sp>
      <p:sp>
        <p:nvSpPr>
          <p:cNvPr id="4" name="Text Placeholder 3"/>
          <p:cNvSpPr>
            <a:spLocks noGrp="1"/>
          </p:cNvSpPr>
          <p:nvPr>
            <p:ph type="body" idx="13" sz="quarter"/>
          </p:nvPr>
        </p:nvSpPr>
        <p:spPr/>
        <p:txBody>
          <a:bodyPr/>
          <a:lstStyle/>
          <a:p>
            <a:r>
              <a:t>45 minuten</a:t>
            </a:r>
          </a:p>
        </p:txBody>
      </p:sp>
      <p:sp>
        <p:nvSpPr>
          <p:cNvPr id="5" name="Stap 1"/>
          <p:cNvSpPr/>
          <p:nvPr/>
        </p:nvSpPr>
        <p:spPr>
          <a:xfrm>
            <a:off x="384048" y="173736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6" name="TextBox 5"/>
          <p:cNvSpPr txBox="1"/>
          <p:nvPr/>
        </p:nvSpPr>
        <p:spPr>
          <a:xfrm>
            <a:off x="886968" y="176479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Maak je repo klaar: data? packages (</a:t>
            </a:r>
            <a:r>
              <a:rPr sz="1600">
                <a:solidFill>
                  <a:srgbClr val="00378A"/>
                </a:solidFill>
                <a:latin typeface="Consolas"/>
              </a:rPr>
              <a:t>requirements.txt</a:t>
            </a:r>
            <a:r>
              <a:rPr sz="1600">
                <a:solidFill>
                  <a:srgbClr val="00378A"/>
                </a:solidFill>
              </a:rPr>
              <a:t>)? uitleg (</a:t>
            </a:r>
            <a:r>
              <a:rPr sz="1600">
                <a:solidFill>
                  <a:srgbClr val="00378A"/>
                </a:solidFill>
                <a:latin typeface="Consolas"/>
              </a:rPr>
              <a:t>README.md</a:t>
            </a:r>
            <a:r>
              <a:rPr sz="1600">
                <a:solidFill>
                  <a:srgbClr val="00378A"/>
                </a:solidFill>
              </a:rPr>
              <a:t>)?</a:t>
            </a:r>
          </a:p>
        </p:txBody>
      </p:sp>
      <p:sp>
        <p:nvSpPr>
          <p:cNvPr id="7" name="Stap 2"/>
          <p:cNvSpPr/>
          <p:nvPr/>
        </p:nvSpPr>
        <p:spPr>
          <a:xfrm>
            <a:off x="384048" y="2286000"/>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8" name="TextBox 7"/>
          <p:cNvSpPr txBox="1"/>
          <p:nvPr/>
        </p:nvSpPr>
        <p:spPr>
          <a:xfrm>
            <a:off x="886968" y="2313432"/>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Voeg je buddy toe aan je repo</a:t>
            </a:r>
          </a:p>
        </p:txBody>
      </p:sp>
      <p:sp>
        <p:nvSpPr>
          <p:cNvPr id="9" name="Stap 3"/>
          <p:cNvSpPr/>
          <p:nvPr/>
        </p:nvSpPr>
        <p:spPr>
          <a:xfrm>
            <a:off x="384048" y="2834639"/>
            <a:ext cx="329184" cy="329184"/>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10" name="TextBox 9"/>
          <p:cNvSpPr txBox="1"/>
          <p:nvPr/>
        </p:nvSpPr>
        <p:spPr>
          <a:xfrm>
            <a:off x="886968" y="2862071"/>
            <a:ext cx="7635240" cy="365760"/>
          </a:xfrm>
          <a:prstGeom prst="rect">
            <a:avLst/>
          </a:prstGeom>
          <a:noFill/>
        </p:spPr>
        <p:txBody>
          <a:bodyPr wrap="square" anchor="ctr" lIns="0" rIns="0" tIns="0" bIns="0">
            <a:spAutoFit/>
          </a:bodyPr>
          <a:lstStyle/>
          <a:p>
            <a:pPr algn="l">
              <a:spcAft>
                <a:spcPts val="400"/>
              </a:spcAft>
            </a:pPr>
            <a:r>
              <a:rPr sz="1600">
                <a:solidFill>
                  <a:srgbClr val="00378A"/>
                </a:solidFill>
              </a:rPr>
              <a:t>Handen thuis: krijgt je buddy het </a:t>
            </a:r>
            <a:r>
              <a:rPr b="1" sz="1600">
                <a:solidFill>
                  <a:srgbClr val="00378A"/>
                </a:solidFill>
              </a:rPr>
              <a:t>zonder jouw hulp</a:t>
            </a:r>
            <a:r>
              <a:rPr sz="1600">
                <a:solidFill>
                  <a:srgbClr val="00378A"/>
                </a:solidFill>
              </a:rPr>
              <a:t> aan de praat?</a:t>
            </a:r>
          </a:p>
        </p:txBody>
      </p:sp>
      <p:sp>
        <p:nvSpPr>
          <p:cNvPr id="11" name="Les"/>
          <p:cNvSpPr/>
          <p:nvPr/>
        </p:nvSpPr>
        <p:spPr>
          <a:xfrm>
            <a:off x="384048" y="3886200"/>
            <a:ext cx="7680960" cy="502920"/>
          </a:xfrm>
          <a:prstGeom prst="roundRect">
            <a:avLst>
              <a:gd name="adj" fmla="val 12000"/>
            </a:avLst>
          </a:prstGeom>
          <a:solidFill>
            <a:srgbClr val="00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886200"/>
            <a:ext cx="7315200" cy="502920"/>
          </a:xfrm>
          <a:prstGeom prst="rect">
            <a:avLst/>
          </a:prstGeom>
          <a:noFill/>
        </p:spPr>
        <p:txBody>
          <a:bodyPr wrap="square" anchor="ctr" lIns="0" rIns="0" tIns="0" bIns="0">
            <a:spAutoFit/>
          </a:bodyPr>
          <a:lstStyle/>
          <a:p>
            <a:pPr algn="l">
              <a:spcAft>
                <a:spcPts val="400"/>
              </a:spcAft>
            </a:pPr>
            <a:r>
              <a:rPr b="1" sz="1500">
                <a:solidFill>
                  <a:srgbClr val="FFFFFF"/>
                </a:solidFill>
              </a:rPr>
              <a:t>Les:</a:t>
            </a:r>
            <a:r>
              <a:rPr sz="1500">
                <a:solidFill>
                  <a:srgbClr val="FFFFFF"/>
                </a:solidFill>
              </a:rPr>
              <a:t> het werkt pas echt als het bij een ander werkt.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genda-achtergrond.png"/>
          <p:cNvPicPr>
            <a:picLocks noGrp="1" noChangeAspect="1"/>
          </p:cNvPicPr>
          <p:nvPr>
            <p:ph type="pic" idx="12" sz="quarter"/>
          </p:nvPr>
        </p:nvPicPr>
        <p:blipFill>
          <a:blip r:embed="rId2"/>
          <a:srcRect t="27" b="27"/>
          <a:stretch>
            <a:fillRect/>
          </a:stretch>
        </p:blipFill>
        <p:spPr/>
      </p:pic>
      <p:sp>
        <p:nvSpPr>
          <p:cNvPr id="3" name="Agenda"/>
          <p:cNvSpPr/>
          <p:nvPr/>
        </p:nvSpPr>
        <p:spPr>
          <a:xfrm>
            <a:off x="164592" y="137160"/>
            <a:ext cx="5212080" cy="3063240"/>
          </a:xfrm>
          <a:prstGeom prst="rect">
            <a:avLst/>
          </a:prstGeom>
          <a:solidFill>
            <a:srgbClr val="00378A">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tabLst>
                <a:tab pos="731520" algn="l"/>
              </a:tabLst>
            </a:pPr>
            <a:r>
              <a:rPr sz="1700">
                <a:solidFill>
                  <a:srgbClr val="FFFFFF"/>
                </a:solidFill>
              </a:rPr>
              <a:t>35 min	Welkom &amp; waarom zijn we hier?</a:t>
            </a:r>
          </a:p>
          <a:p>
            <a:pPr algn="l">
              <a:tabLst>
                <a:tab pos="731520" algn="l"/>
              </a:tabLst>
            </a:pPr>
            <a:r>
              <a:rPr sz="1700">
                <a:solidFill>
                  <a:srgbClr val="FFFFFF"/>
                </a:solidFill>
              </a:rPr>
              <a:t>30 min	Oefening 1: Git basics</a:t>
            </a:r>
          </a:p>
          <a:p>
            <a:pPr algn="l">
              <a:tabLst>
                <a:tab pos="731520" algn="l"/>
              </a:tabLst>
            </a:pPr>
            <a:r>
              <a:rPr sz="1700">
                <a:solidFill>
                  <a:srgbClr val="FFFFFF"/>
                </a:solidFill>
              </a:rPr>
              <a:t>15 min	Pauze</a:t>
            </a:r>
          </a:p>
          <a:p>
            <a:pPr algn="l">
              <a:tabLst>
                <a:tab pos="731520" algn="l"/>
              </a:tabLst>
            </a:pPr>
            <a:r>
              <a:rPr sz="1700">
                <a:solidFill>
                  <a:srgbClr val="FFFFFF"/>
                </a:solidFill>
              </a:rPr>
              <a:t>35 min	Veilig de lucht in</a:t>
            </a:r>
          </a:p>
          <a:p>
            <a:pPr algn="l">
              <a:tabLst>
                <a:tab pos="731520" algn="l"/>
              </a:tabLst>
            </a:pPr>
            <a:r>
              <a:rPr sz="1700">
                <a:solidFill>
                  <a:srgbClr val="FFFFFF"/>
                </a:solidFill>
              </a:rPr>
              <a:t>40 min	Oefening 2: Intake-skill en je plan delen</a:t>
            </a:r>
          </a:p>
          <a:p>
            <a:pPr algn="l">
              <a:tabLst>
                <a:tab pos="731520" algn="l"/>
              </a:tabLst>
            </a:pPr>
            <a:r>
              <a:rPr sz="1700">
                <a:solidFill>
                  <a:srgbClr val="FFFFFF"/>
                </a:solidFill>
              </a:rPr>
              <a:t>20 min	Bouwen</a:t>
            </a:r>
          </a:p>
          <a:p>
            <a:pPr algn="l">
              <a:tabLst>
                <a:tab pos="731520" algn="l"/>
              </a:tabLst>
            </a:pPr>
            <a:r>
              <a:rPr sz="1700">
                <a:solidFill>
                  <a:srgbClr val="FFFFFF"/>
                </a:solidFill>
              </a:rPr>
              <a:t>60 min	Oefening 3: Je eigen project + lunch</a:t>
            </a:r>
          </a:p>
          <a:p>
            <a:pPr algn="l">
              <a:tabLst>
                <a:tab pos="731520" algn="l"/>
              </a:tabLst>
            </a:pPr>
            <a:r>
              <a:rPr sz="1700">
                <a:solidFill>
                  <a:srgbClr val="FFFFFF"/>
                </a:solidFill>
              </a:rPr>
              <a:t>45 min	Oefening 4: Deelbaar maken</a:t>
            </a:r>
          </a:p>
          <a:p>
            <a:pPr algn="l">
              <a:tabLst>
                <a:tab pos="731520" algn="l"/>
              </a:tabLst>
            </a:pPr>
            <a:r>
              <a:rPr sz="1700">
                <a:solidFill>
                  <a:srgbClr val="FF6600"/>
                </a:solidFill>
                <a:highlight>
                  <a:srgbClr val="FFFF00"/>
                </a:highlight>
              </a:rPr>
              <a:t>20 min	Afsluiting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Rondvraag</a:t>
            </a:r>
          </a:p>
        </p:txBody>
      </p:sp>
      <p:sp>
        <p:nvSpPr>
          <p:cNvPr id="3" name="Text Placeholder 2"/>
          <p:cNvSpPr>
            <a:spLocks noGrp="1"/>
          </p:cNvSpPr>
          <p:nvPr>
            <p:ph type="body" idx="10" sz="quarter"/>
          </p:nvPr>
        </p:nvSpPr>
        <p:spPr/>
        <p:txBody>
          <a:bodyPr/>
          <a:lstStyle/>
          <a:p>
            <a:pPr lvl="1">
              <a:spcAft>
                <a:spcPts val="600"/>
              </a:spcAft>
            </a:pPr>
            <a:r>
              <a:t>Welke verandering in denkwijze merk je bij jezelf?</a:t>
            </a:r>
          </a:p>
          <a:p>
            <a:pPr lvl="1">
              <a:spcAft>
                <a:spcPts val="600"/>
              </a:spcAft>
            </a:pPr>
            <a:r>
              <a:t>Hoe zou je je </a:t>
            </a:r>
            <a:r>
              <a:rPr>
                <a:latin typeface="Consolas"/>
              </a:rPr>
              <a:t>AGENTS.md</a:t>
            </a:r>
            <a:r>
              <a:t> uitbreiden?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 repo na vandaag</a:t>
            </a:r>
          </a:p>
        </p:txBody>
      </p:sp>
      <p:sp>
        <p:nvSpPr>
          <p:cNvPr id="3" name="Code"/>
          <p:cNvSpPr/>
          <p:nvPr/>
        </p:nvSpPr>
        <p:spPr>
          <a:xfrm>
            <a:off x="384048" y="1600200"/>
            <a:ext cx="4572000" cy="2834640"/>
          </a:xfrm>
          <a:prstGeom prst="roundRect">
            <a:avLst>
              <a:gd name="adj" fmla="val 6000"/>
            </a:avLst>
          </a:prstGeom>
          <a:solidFill>
            <a:srgbClr val="0E162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a:solidFill>
                  <a:srgbClr val="DCE4F0"/>
                </a:solidFill>
                <a:latin typeface="Consolas"/>
              </a:rPr>
              <a:t>wsv-pompfrequentie-analyse/</a:t>
            </a:r>
          </a:p>
          <a:p>
            <a:pPr algn="l"/>
            <a:r>
              <a:rPr sz="1200">
                <a:solidFill>
                  <a:srgbClr val="DCE4F0"/>
                </a:solidFill>
                <a:latin typeface="Consolas"/>
              </a:rPr>
              <a:t>├── README.md</a:t>
            </a:r>
          </a:p>
          <a:p>
            <a:pPr algn="l"/>
            <a:r>
              <a:rPr sz="1200">
                <a:solidFill>
                  <a:srgbClr val="DCE4F0"/>
                </a:solidFill>
                <a:latin typeface="Consolas"/>
              </a:rPr>
              <a:t>├── AGENTS.md</a:t>
            </a:r>
          </a:p>
          <a:p>
            <a:pPr algn="l"/>
            <a:r>
              <a:rPr sz="1200">
                <a:solidFill>
                  <a:srgbClr val="DCE4F0"/>
                </a:solidFill>
                <a:latin typeface="Consolas"/>
              </a:rPr>
              <a:t>├── CLAUDE.md   (@AGENTS.md)</a:t>
            </a:r>
          </a:p>
          <a:p>
            <a:pPr algn="l"/>
            <a:r>
              <a:rPr sz="1200">
                <a:solidFill>
                  <a:srgbClr val="DCE4F0"/>
                </a:solidFill>
                <a:latin typeface="Consolas"/>
              </a:rPr>
              <a:t>├── plan-van-aanpak.md</a:t>
            </a:r>
          </a:p>
          <a:p>
            <a:pPr algn="l"/>
            <a:r>
              <a:rPr sz="1200">
                <a:solidFill>
                  <a:srgbClr val="DCE4F0"/>
                </a:solidFill>
                <a:latin typeface="Consolas"/>
              </a:rPr>
              <a:t>├── logs/</a:t>
            </a:r>
          </a:p>
          <a:p>
            <a:pPr algn="l"/>
            <a:r>
              <a:rPr sz="1200">
                <a:solidFill>
                  <a:srgbClr val="DCE4F0"/>
                </a:solidFill>
                <a:latin typeface="Consolas"/>
              </a:rPr>
              <a:t>├── tests/</a:t>
            </a:r>
          </a:p>
          <a:p>
            <a:pPr algn="l"/>
            <a:r>
              <a:rPr sz="1200">
                <a:solidFill>
                  <a:srgbClr val="DCE4F0"/>
                </a:solidFill>
                <a:latin typeface="Consolas"/>
              </a:rPr>
              <a:t>├── .gitignore</a:t>
            </a:r>
          </a:p>
          <a:p>
            <a:pPr algn="l"/>
            <a:r>
              <a:rPr sz="1200">
                <a:solidFill>
                  <a:srgbClr val="DCE4F0"/>
                </a:solidFill>
                <a:latin typeface="Consolas"/>
              </a:rPr>
              <a:t>├── .env.example</a:t>
            </a:r>
          </a:p>
          <a:p>
            <a:pPr algn="l"/>
            <a:r>
              <a:rPr sz="1200">
                <a:solidFill>
                  <a:srgbClr val="DCE4F0"/>
                </a:solidFill>
                <a:latin typeface="Consolas"/>
              </a:rPr>
              <a:t>├── requirements.txt</a:t>
            </a:r>
          </a:p>
          <a:p>
            <a:pPr algn="l"/>
            <a:r>
              <a:rPr sz="1200">
                <a:solidFill>
                  <a:srgbClr val="DCE4F0"/>
                </a:solidFill>
                <a:latin typeface="Consolas"/>
              </a:rPr>
              <a:t>├── data/example/</a:t>
            </a:r>
          </a:p>
          <a:p>
            <a:pPr algn="l"/>
            <a:r>
              <a:rPr sz="1200">
                <a:solidFill>
                  <a:srgbClr val="DCE4F0"/>
                </a:solidFill>
                <a:latin typeface="Consolas"/>
              </a:rPr>
              <a:t>├── src/</a:t>
            </a:r>
          </a:p>
          <a:p>
            <a:pPr algn="l"/>
            <a:r>
              <a:rPr sz="1200">
                <a:solidFill>
                  <a:srgbClr val="DCE4F0"/>
                </a:solidFill>
                <a:latin typeface="Consolas"/>
              </a:rPr>
              <a:t>└── docs/handoffs/</a:t>
            </a:r>
          </a:p>
        </p:txBody>
      </p:sp>
      <p:sp>
        <p:nvSpPr>
          <p:cNvPr id="4" name="TextBox 3"/>
          <p:cNvSpPr txBox="1"/>
          <p:nvPr/>
        </p:nvSpPr>
        <p:spPr>
          <a:xfrm>
            <a:off x="5303520" y="1737360"/>
            <a:ext cx="3200400" cy="2377440"/>
          </a:xfrm>
          <a:prstGeom prst="rect">
            <a:avLst/>
          </a:prstGeom>
          <a:noFill/>
        </p:spPr>
        <p:txBody>
          <a:bodyPr wrap="square" anchor="t" lIns="0" rIns="0" tIns="0" bIns="0">
            <a:spAutoFit/>
          </a:bodyPr>
          <a:lstStyle/>
          <a:p>
            <a:pPr algn="l">
              <a:spcAft>
                <a:spcPts val="400"/>
              </a:spcAft>
            </a:pPr>
            <a:r>
              <a:rPr sz="1500">
                <a:solidFill>
                  <a:srgbClr val="00378A"/>
                </a:solidFill>
              </a:rPr>
              <a:t>Niet in git:</a:t>
            </a:r>
          </a:p>
          <a:p>
            <a:pPr algn="l">
              <a:spcAft>
                <a:spcPts val="400"/>
              </a:spcAft>
            </a:pPr>
            <a:r>
              <a:rPr sz="1500">
                <a:solidFill>
                  <a:srgbClr val="00378A"/>
                </a:solidFill>
                <a:latin typeface="Consolas"/>
              </a:rPr>
              <a:t>.env</a:t>
            </a:r>
          </a:p>
          <a:p>
            <a:pPr algn="l">
              <a:spcAft>
                <a:spcPts val="400"/>
              </a:spcAft>
            </a:pPr>
            <a:r>
              <a:rPr sz="1500">
                <a:solidFill>
                  <a:srgbClr val="00378A"/>
                </a:solidFill>
                <a:latin typeface="Consolas"/>
              </a:rPr>
              <a:t>.venv/</a:t>
            </a:r>
          </a:p>
          <a:p>
            <a:pPr algn="l">
              <a:spcAft>
                <a:spcPts val="400"/>
              </a:spcAft>
            </a:pPr>
            <a:r>
              <a:rPr sz="1500">
                <a:solidFill>
                  <a:srgbClr val="00378A"/>
                </a:solidFill>
                <a:latin typeface="Consolas"/>
              </a:rPr>
              <a:t>data/private/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Doelen</a:t>
            </a:r>
          </a:p>
        </p:txBody>
      </p:sp>
      <p:sp>
        <p:nvSpPr>
          <p:cNvPr id="3" name="Text Placeholder 2"/>
          <p:cNvSpPr>
            <a:spLocks noGrp="1"/>
          </p:cNvSpPr>
          <p:nvPr>
            <p:ph type="body" idx="10" sz="quarter"/>
          </p:nvPr>
        </p:nvSpPr>
        <p:spPr/>
        <p:txBody>
          <a:bodyPr/>
          <a:lstStyle/>
          <a:p>
            <a:pPr>
              <a:spcAft>
                <a:spcPts val="600"/>
              </a:spcAft>
            </a:pPr>
            <a:r>
              <a:t>☐  Onder de indruk: </a:t>
            </a:r>
            <a:r>
              <a:rPr i="1"/>
              <a:t>the only limitation is your imagination</a:t>
            </a:r>
          </a:p>
          <a:p>
            <a:pPr>
              <a:spcAft>
                <a:spcPts val="600"/>
              </a:spcAft>
            </a:pPr>
            <a:r>
              <a:t>☑  Elk project staat </a:t>
            </a:r>
            <a:r>
              <a:rPr b="1"/>
              <a:t>altijd in git</a:t>
            </a:r>
          </a:p>
          <a:p>
            <a:pPr>
              <a:spcAft>
                <a:spcPts val="600"/>
              </a:spcAft>
            </a:pPr>
            <a:r>
              <a:t>☑  </a:t>
            </a:r>
            <a:r>
              <a:rPr b="1"/>
              <a:t>Overdraagbare mappenstructuur</a:t>
            </a:r>
            <a:r>
              <a:t>: code in </a:t>
            </a:r>
            <a:r>
              <a:rPr>
                <a:latin typeface="Consolas"/>
              </a:rPr>
              <a:t>src/</a:t>
            </a:r>
            <a:r>
              <a:t>, data in </a:t>
            </a:r>
            <a:r>
              <a:rPr>
                <a:latin typeface="Consolas"/>
              </a:rPr>
              <a:t>data/</a:t>
            </a:r>
            <a:r>
              <a:t>, plaatjes in </a:t>
            </a:r>
            <a:r>
              <a:rPr>
                <a:latin typeface="Consolas"/>
              </a:rPr>
              <a:t>assets/</a:t>
            </a:r>
          </a:p>
          <a:p>
            <a:pPr>
              <a:spcAft>
                <a:spcPts val="600"/>
              </a:spcAft>
            </a:pPr>
            <a:r>
              <a:t>☑  </a:t>
            </a:r>
            <a:r>
              <a:rPr b="1"/>
              <a:t>Geen data in git</a:t>
            </a:r>
            <a:r>
              <a:t>, geen secrets in een gedeelde (en zeker niet in publieke) </a:t>
            </a:r>
            <a:r>
              <a:rPr>
                <a:latin typeface="Consolas"/>
              </a:rPr>
              <a:t>.env</a:t>
            </a:r>
          </a:p>
          <a:p>
            <a:pPr>
              <a:spcAft>
                <a:spcPts val="600"/>
              </a:spcAft>
            </a:pPr>
            <a:r>
              <a:t>☐  Beangstigend: </a:t>
            </a:r>
            <a:r>
              <a:rPr i="1"/>
              <a:t>with great power comes great responsibility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Take-home messages</a:t>
            </a:r>
          </a:p>
        </p:txBody>
      </p:sp>
      <p:sp>
        <p:nvSpPr>
          <p:cNvPr id="3" name="Text Placeholder 2"/>
          <p:cNvSpPr>
            <a:spLocks noGrp="1"/>
          </p:cNvSpPr>
          <p:nvPr>
            <p:ph type="body" idx="10" sz="quarter"/>
          </p:nvPr>
        </p:nvSpPr>
        <p:spPr/>
        <p:txBody>
          <a:bodyPr/>
          <a:lstStyle/>
          <a:p>
            <a:pPr>
              <a:spcAft>
                <a:spcPts val="600"/>
              </a:spcAft>
            </a:pPr>
            <a:r>
              <a:rPr b="1"/>
              <a:t>Git:</a:t>
            </a:r>
            <a:r>
              <a:t> samenwerken, overzicht, en je agent werkt erin</a:t>
            </a:r>
          </a:p>
          <a:p>
            <a:pPr>
              <a:spcAft>
                <a:spcPts val="600"/>
              </a:spcAft>
            </a:pPr>
            <a:r>
              <a:rPr b="1"/>
              <a:t>Nooit in git:</a:t>
            </a:r>
            <a:r>
              <a:t> data en credentials</a:t>
            </a:r>
          </a:p>
          <a:p>
            <a:pPr>
              <a:spcAft>
                <a:spcPts val="600"/>
              </a:spcAft>
            </a:pPr>
            <a:r>
              <a:rPr b="1"/>
              <a:t>Data access:</a:t>
            </a:r>
            <a:r>
              <a:t> verwerken is niet lezen; de data-eigenaar bepaalt wat mag</a:t>
            </a:r>
          </a:p>
          <a:p>
            <a:pPr>
              <a:spcAft>
                <a:spcPts val="600"/>
              </a:spcAft>
            </a:pPr>
            <a:r>
              <a:rPr b="1"/>
              <a:t>Gewoontes:</a:t>
            </a:r>
            <a:r>
              <a:t> doel afkaderen, kleine stappen, </a:t>
            </a:r>
            <a:r>
              <a:rPr>
                <a:latin typeface="Consolas"/>
              </a:rPr>
              <a:t>AGENTS.md</a:t>
            </a:r>
            <a:r>
              <a:t>, </a:t>
            </a:r>
            <a:r>
              <a:rPr>
                <a:latin typeface="Consolas"/>
              </a:rPr>
              <a:t>.gitignore</a:t>
            </a:r>
            <a:r>
              <a:t>, </a:t>
            </a:r>
            <a:r>
              <a:rPr>
                <a:latin typeface="Consolas"/>
              </a:rPr>
              <a:t>requirements.txt</a:t>
            </a:r>
            <a:r>
              <a:t>, goede namen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Programmeren is makkelijker dan ooit</a:t>
            </a:r>
          </a:p>
        </p:txBody>
      </p:sp>
      <p:sp>
        <p:nvSpPr>
          <p:cNvPr id="3" name="Subtitle 2"/>
          <p:cNvSpPr>
            <a:spLocks noGrp="1"/>
          </p:cNvSpPr>
          <p:nvPr>
            <p:ph type="subTitle" idx="1"/>
          </p:nvPr>
        </p:nvSpPr>
        <p:spPr>
          <a:xfrm>
            <a:off x="429768" y="2331720"/>
            <a:ext cx="4142232" cy="1097280"/>
          </a:xfrm>
        </p:spPr>
        <p:txBody>
          <a:bodyPr/>
          <a:lstStyle/>
          <a:p>
            <a:r>
              <a:t>De kunst is nu: overzicht houden, je doel scherp houden en blijven valideren.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Huiswerk</a:t>
            </a:r>
          </a:p>
        </p:txBody>
      </p:sp>
      <p:sp>
        <p:nvSpPr>
          <p:cNvPr id="3" name="Text Placeholder 2"/>
          <p:cNvSpPr>
            <a:spLocks noGrp="1"/>
          </p:cNvSpPr>
          <p:nvPr>
            <p:ph type="body" idx="10" sz="quarter"/>
          </p:nvPr>
        </p:nvSpPr>
        <p:spPr/>
        <p:txBody>
          <a:bodyPr/>
          <a:lstStyle/>
          <a:p>
            <a:pPr lvl="1">
              <a:spcAft>
                <a:spcPts val="600"/>
              </a:spcAft>
            </a:pPr>
            <a:r>
              <a:t>Werk verder aan je project</a:t>
            </a:r>
          </a:p>
          <a:p>
            <a:pPr lvl="1">
              <a:spcAft>
                <a:spcPts val="600"/>
              </a:spcAft>
            </a:pPr>
            <a:r>
              <a:t>Houd je hand-offs bij</a:t>
            </a:r>
          </a:p>
          <a:p>
            <a:pPr lvl="1">
              <a:spcAft>
                <a:spcPts val="600"/>
              </a:spcAft>
            </a:pPr>
            <a:r>
              <a:t>Zorg dat je repo deelbaar is: </a:t>
            </a:r>
            <a:r>
              <a:rPr>
                <a:latin typeface="Consolas"/>
              </a:rPr>
              <a:t>README.md</a:t>
            </a:r>
            <a:r>
              <a:t>, </a:t>
            </a:r>
            <a:r>
              <a:rPr>
                <a:latin typeface="Consolas"/>
              </a:rPr>
              <a:t>.gitignore</a:t>
            </a:r>
            <a:r>
              <a:t>, </a:t>
            </a:r>
            <a:r>
              <a:rPr>
                <a:latin typeface="Consolas"/>
              </a:rPr>
              <a:t>requirements.txt</a:t>
            </a:r>
            <a:r>
              <a:t>, </a:t>
            </a:r>
            <a:r>
              <a:rPr>
                <a:latin typeface="Consolas"/>
              </a:rPr>
              <a:t>.env.example</a:t>
            </a:r>
            <a:r>
              <a:t> en </a:t>
            </a:r>
            <a:r>
              <a:rPr>
                <a:latin typeface="Consolas"/>
              </a:rPr>
              <a:t>AGENTS.md</a:t>
            </a:r>
          </a:p>
          <a:p>
            <a:pPr lvl="1">
              <a:spcAft>
                <a:spcPts val="600"/>
              </a:spcAft>
            </a:pPr>
            <a:r>
              <a:t>Verdieping: laat je agent je repo checken met het naslagwerk</a:t>
            </a:r>
          </a:p>
          <a:p>
            <a:pPr lvl="1">
              <a:spcAft>
                <a:spcPts val="600"/>
              </a:spcAft>
            </a:pPr>
            <a:r>
              <a:t>Noteer waar je vastloopt → input voor sessie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Sessie 2: een voorproefje</a:t>
            </a:r>
          </a:p>
        </p:txBody>
      </p:sp>
      <p:sp>
        <p:nvSpPr>
          <p:cNvPr id="3" name="Kaart 1"/>
          <p:cNvSpPr/>
          <p:nvPr/>
        </p:nvSpPr>
        <p:spPr>
          <a:xfrm>
            <a:off x="384048" y="1737360"/>
            <a:ext cx="1408176"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20240"/>
            <a:ext cx="1042416" cy="457200"/>
          </a:xfrm>
          <a:prstGeom prst="rect">
            <a:avLst/>
          </a:prstGeom>
          <a:noFill/>
        </p:spPr>
        <p:txBody>
          <a:bodyPr wrap="square" anchor="t" lIns="0" rIns="0" tIns="0" bIns="0">
            <a:spAutoFit/>
          </a:bodyPr>
          <a:lstStyle/>
          <a:p>
            <a:pPr algn="l">
              <a:spcAft>
                <a:spcPts val="400"/>
              </a:spcAft>
            </a:pPr>
            <a:r>
              <a:rPr b="1" sz="1400">
                <a:solidFill>
                  <a:srgbClr val="FF6600"/>
                </a:solidFill>
              </a:rPr>
              <a:t>Branches &amp; PR's</a:t>
            </a:r>
          </a:p>
        </p:txBody>
      </p:sp>
      <p:sp>
        <p:nvSpPr>
          <p:cNvPr id="5" name="TextBox 4"/>
          <p:cNvSpPr txBox="1"/>
          <p:nvPr/>
        </p:nvSpPr>
        <p:spPr>
          <a:xfrm>
            <a:off x="566928" y="2423160"/>
            <a:ext cx="1042416" cy="914399"/>
          </a:xfrm>
          <a:prstGeom prst="rect">
            <a:avLst/>
          </a:prstGeom>
          <a:noFill/>
        </p:spPr>
        <p:txBody>
          <a:bodyPr wrap="square" anchor="t" lIns="0" rIns="0" tIns="0" bIns="0">
            <a:spAutoFit/>
          </a:bodyPr>
          <a:lstStyle/>
          <a:p>
            <a:pPr algn="l">
              <a:spcAft>
                <a:spcPts val="400"/>
              </a:spcAft>
            </a:pPr>
            <a:r>
              <a:rPr sz="1200">
                <a:solidFill>
                  <a:srgbClr val="00378A"/>
                </a:solidFill>
              </a:rPr>
              <a:t>Twee features tegelijk, elkaars werk reviewen</a:t>
            </a:r>
          </a:p>
        </p:txBody>
      </p:sp>
      <p:sp>
        <p:nvSpPr>
          <p:cNvPr id="6" name="Kaart 2"/>
          <p:cNvSpPr/>
          <p:nvPr/>
        </p:nvSpPr>
        <p:spPr>
          <a:xfrm>
            <a:off x="2066544" y="1737360"/>
            <a:ext cx="1408176"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49424" y="1920240"/>
            <a:ext cx="1042416" cy="457200"/>
          </a:xfrm>
          <a:prstGeom prst="rect">
            <a:avLst/>
          </a:prstGeom>
          <a:noFill/>
        </p:spPr>
        <p:txBody>
          <a:bodyPr wrap="square" anchor="t" lIns="0" rIns="0" tIns="0" bIns="0">
            <a:spAutoFit/>
          </a:bodyPr>
          <a:lstStyle/>
          <a:p>
            <a:pPr algn="l">
              <a:spcAft>
                <a:spcPts val="400"/>
              </a:spcAft>
            </a:pPr>
            <a:r>
              <a:rPr b="1" sz="1400">
                <a:solidFill>
                  <a:srgbClr val="FF6600"/>
                </a:solidFill>
              </a:rPr>
              <a:t>Issues</a:t>
            </a:r>
          </a:p>
        </p:txBody>
      </p:sp>
      <p:sp>
        <p:nvSpPr>
          <p:cNvPr id="8" name="TextBox 7"/>
          <p:cNvSpPr txBox="1"/>
          <p:nvPr/>
        </p:nvSpPr>
        <p:spPr>
          <a:xfrm>
            <a:off x="2249424" y="2423160"/>
            <a:ext cx="1042416" cy="914399"/>
          </a:xfrm>
          <a:prstGeom prst="rect">
            <a:avLst/>
          </a:prstGeom>
          <a:noFill/>
        </p:spPr>
        <p:txBody>
          <a:bodyPr wrap="square" anchor="t" lIns="0" rIns="0" tIns="0" bIns="0">
            <a:spAutoFit/>
          </a:bodyPr>
          <a:lstStyle/>
          <a:p>
            <a:pPr algn="l">
              <a:spcAft>
                <a:spcPts val="400"/>
              </a:spcAft>
            </a:pPr>
            <a:r>
              <a:rPr sz="1200">
                <a:solidFill>
                  <a:srgbClr val="00378A"/>
                </a:solidFill>
              </a:rPr>
              <a:t>Je agent maakt en pakt issues op</a:t>
            </a:r>
          </a:p>
        </p:txBody>
      </p:sp>
      <p:sp>
        <p:nvSpPr>
          <p:cNvPr id="9" name="Kaart 3"/>
          <p:cNvSpPr/>
          <p:nvPr/>
        </p:nvSpPr>
        <p:spPr>
          <a:xfrm>
            <a:off x="3749040" y="1737360"/>
            <a:ext cx="1408176"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1920240"/>
            <a:ext cx="1042416" cy="457200"/>
          </a:xfrm>
          <a:prstGeom prst="rect">
            <a:avLst/>
          </a:prstGeom>
          <a:noFill/>
        </p:spPr>
        <p:txBody>
          <a:bodyPr wrap="square" anchor="t" lIns="0" rIns="0" tIns="0" bIns="0">
            <a:spAutoFit/>
          </a:bodyPr>
          <a:lstStyle/>
          <a:p>
            <a:pPr algn="l">
              <a:spcAft>
                <a:spcPts val="400"/>
              </a:spcAft>
            </a:pPr>
            <a:r>
              <a:rPr b="1" sz="1400">
                <a:solidFill>
                  <a:srgbClr val="FF6600"/>
                </a:solidFill>
              </a:rPr>
              <a:t>Builder / reviewer</a:t>
            </a:r>
          </a:p>
        </p:txBody>
      </p:sp>
      <p:sp>
        <p:nvSpPr>
          <p:cNvPr id="11" name="TextBox 10"/>
          <p:cNvSpPr txBox="1"/>
          <p:nvPr/>
        </p:nvSpPr>
        <p:spPr>
          <a:xfrm>
            <a:off x="3931920" y="2423160"/>
            <a:ext cx="1042416" cy="914399"/>
          </a:xfrm>
          <a:prstGeom prst="rect">
            <a:avLst/>
          </a:prstGeom>
          <a:noFill/>
        </p:spPr>
        <p:txBody>
          <a:bodyPr wrap="square" anchor="t" lIns="0" rIns="0" tIns="0" bIns="0">
            <a:spAutoFit/>
          </a:bodyPr>
          <a:lstStyle/>
          <a:p>
            <a:pPr algn="l">
              <a:spcAft>
                <a:spcPts val="400"/>
              </a:spcAft>
            </a:pPr>
            <a:r>
              <a:rPr sz="1200">
                <a:solidFill>
                  <a:srgbClr val="00378A"/>
                </a:solidFill>
              </a:rPr>
              <a:t>Twee agents, één controleert de ander</a:t>
            </a:r>
          </a:p>
        </p:txBody>
      </p:sp>
      <p:sp>
        <p:nvSpPr>
          <p:cNvPr id="12" name="Kaart 4"/>
          <p:cNvSpPr/>
          <p:nvPr/>
        </p:nvSpPr>
        <p:spPr>
          <a:xfrm>
            <a:off x="5431536" y="1737360"/>
            <a:ext cx="1408176"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14416" y="1920240"/>
            <a:ext cx="1042416" cy="457200"/>
          </a:xfrm>
          <a:prstGeom prst="rect">
            <a:avLst/>
          </a:prstGeom>
          <a:noFill/>
        </p:spPr>
        <p:txBody>
          <a:bodyPr wrap="square" anchor="t" lIns="0" rIns="0" tIns="0" bIns="0">
            <a:spAutoFit/>
          </a:bodyPr>
          <a:lstStyle/>
          <a:p>
            <a:pPr algn="l">
              <a:spcAft>
                <a:spcPts val="400"/>
              </a:spcAft>
            </a:pPr>
            <a:r>
              <a:rPr b="1" sz="1400">
                <a:solidFill>
                  <a:srgbClr val="FF6600"/>
                </a:solidFill>
              </a:rPr>
              <a:t>Tests &amp; hosting</a:t>
            </a:r>
          </a:p>
        </p:txBody>
      </p:sp>
      <p:sp>
        <p:nvSpPr>
          <p:cNvPr id="14" name="TextBox 13"/>
          <p:cNvSpPr txBox="1"/>
          <p:nvPr/>
        </p:nvSpPr>
        <p:spPr>
          <a:xfrm>
            <a:off x="5614416" y="2423160"/>
            <a:ext cx="1042416" cy="914399"/>
          </a:xfrm>
          <a:prstGeom prst="rect">
            <a:avLst/>
          </a:prstGeom>
          <a:noFill/>
        </p:spPr>
        <p:txBody>
          <a:bodyPr wrap="square" anchor="t" lIns="0" rIns="0" tIns="0" bIns="0">
            <a:spAutoFit/>
          </a:bodyPr>
          <a:lstStyle/>
          <a:p>
            <a:pPr algn="l">
              <a:spcAft>
                <a:spcPts val="400"/>
              </a:spcAft>
            </a:pPr>
            <a:r>
              <a:rPr sz="1200">
                <a:solidFill>
                  <a:srgbClr val="00378A"/>
                </a:solidFill>
              </a:rPr>
              <a:t>Hoe weet je dat het werkt? Online zetten</a:t>
            </a:r>
          </a:p>
        </p:txBody>
      </p:sp>
      <p:sp>
        <p:nvSpPr>
          <p:cNvPr id="15" name="Kaart 5"/>
          <p:cNvSpPr/>
          <p:nvPr/>
        </p:nvSpPr>
        <p:spPr>
          <a:xfrm>
            <a:off x="7114032" y="1737360"/>
            <a:ext cx="1408176"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1920240"/>
            <a:ext cx="1042416" cy="457200"/>
          </a:xfrm>
          <a:prstGeom prst="rect">
            <a:avLst/>
          </a:prstGeom>
          <a:noFill/>
        </p:spPr>
        <p:txBody>
          <a:bodyPr wrap="square" anchor="t" lIns="0" rIns="0" tIns="0" bIns="0">
            <a:spAutoFit/>
          </a:bodyPr>
          <a:lstStyle/>
          <a:p>
            <a:pPr algn="l">
              <a:spcAft>
                <a:spcPts val="400"/>
              </a:spcAft>
            </a:pPr>
            <a:r>
              <a:rPr b="1" sz="1400">
                <a:solidFill>
                  <a:srgbClr val="FF6600"/>
                </a:solidFill>
              </a:rPr>
              <a:t>Agent-tools</a:t>
            </a:r>
          </a:p>
        </p:txBody>
      </p:sp>
      <p:sp>
        <p:nvSpPr>
          <p:cNvPr id="17" name="TextBox 16"/>
          <p:cNvSpPr txBox="1"/>
          <p:nvPr/>
        </p:nvSpPr>
        <p:spPr>
          <a:xfrm>
            <a:off x="7296912" y="2423160"/>
            <a:ext cx="1042416" cy="914399"/>
          </a:xfrm>
          <a:prstGeom prst="rect">
            <a:avLst/>
          </a:prstGeom>
          <a:noFill/>
        </p:spPr>
        <p:txBody>
          <a:bodyPr wrap="square" anchor="t" lIns="0" rIns="0" tIns="0" bIns="0">
            <a:spAutoFit/>
          </a:bodyPr>
          <a:lstStyle/>
          <a:p>
            <a:pPr algn="l">
              <a:spcAft>
                <a:spcPts val="400"/>
              </a:spcAft>
            </a:pPr>
            <a:r>
              <a:rPr sz="1200">
                <a:solidFill>
                  <a:srgbClr val="00378A"/>
                </a:solidFill>
              </a:rPr>
              <a:t>Playwright, Context7, …</a:t>
            </a:r>
          </a:p>
        </p:txBody>
      </p:sp>
      <p:sp>
        <p:nvSpPr>
          <p:cNvPr id="18" name="TextBox 17"/>
          <p:cNvSpPr txBox="1"/>
          <p:nvPr/>
        </p:nvSpPr>
        <p:spPr>
          <a:xfrm>
            <a:off x="384048" y="3703320"/>
            <a:ext cx="8138160" cy="548640"/>
          </a:xfrm>
          <a:prstGeom prst="rect">
            <a:avLst/>
          </a:prstGeom>
          <a:noFill/>
        </p:spPr>
        <p:txBody>
          <a:bodyPr wrap="square" anchor="t" lIns="0" rIns="0" tIns="0" bIns="0">
            <a:spAutoFit/>
          </a:bodyPr>
          <a:lstStyle/>
          <a:p>
            <a:pPr algn="l">
              <a:spcAft>
                <a:spcPts val="400"/>
              </a:spcAft>
            </a:pPr>
            <a:r>
              <a:rPr sz="1500">
                <a:solidFill>
                  <a:srgbClr val="FF6600"/>
                </a:solidFill>
              </a:rPr>
              <a:t>Laat ons vooral </a:t>
            </a:r>
            <a:r>
              <a:rPr b="1" sz="1500">
                <a:solidFill>
                  <a:srgbClr val="FF6600"/>
                </a:solidFill>
              </a:rPr>
              <a:t>tijdig weten</a:t>
            </a:r>
            <a:r>
              <a:rPr sz="1500">
                <a:solidFill>
                  <a:srgbClr val="FF6600"/>
                </a:solidFill>
              </a:rPr>
              <a:t> waar je tegenaan loopt en waar je meer van wilt weten. Daar spelen we bij sessie 2 zo veel mogelijk op in.</a:t>
            </a:r>
          </a:p>
        </p:txBody>
      </p:sp>
    </p:spTree>
  </p:cSld>
  <p:clrMapOvr>
    <a:masterClrMapping/>
  </p:clrMapOvr>
</p:sld>
</file>

<file path=ppt/theme/theme1.xml><?xml version="1.0" encoding="utf-8"?>
<a:theme xmlns:a="http://schemas.openxmlformats.org/drawingml/2006/main" name="TeamNL">
  <a:themeElements>
    <a:clrScheme name="NOC_NSF">
      <a:dk1>
        <a:srgbClr val="00378A"/>
      </a:dk1>
      <a:lt1>
        <a:sysClr val="window" lastClr="FFFFFF"/>
      </a:lt1>
      <a:dk2>
        <a:srgbClr val="000000"/>
      </a:dk2>
      <a:lt2>
        <a:srgbClr val="FFFFFF"/>
      </a:lt2>
      <a:accent1>
        <a:srgbClr val="00378A"/>
      </a:accent1>
      <a:accent2>
        <a:srgbClr val="0079C1"/>
      </a:accent2>
      <a:accent3>
        <a:srgbClr val="FF001A"/>
      </a:accent3>
      <a:accent4>
        <a:srgbClr val="FF6600"/>
      </a:accent4>
      <a:accent5>
        <a:srgbClr val="FFB280"/>
      </a:accent5>
      <a:accent6>
        <a:srgbClr val="809BC4"/>
      </a:accent6>
      <a:hlink>
        <a:srgbClr val="0563C1"/>
      </a:hlink>
      <a:folHlink>
        <a:srgbClr val="954F72"/>
      </a:folHlink>
    </a:clrScheme>
    <a:fontScheme name="NOC_NSF">
      <a:majorFont>
        <a:latin typeface="Brown"/>
        <a:ea typeface=""/>
        <a:cs typeface=""/>
      </a:majorFont>
      <a:minorFont>
        <a:latin typeface="HK Grotesk"/>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TeamNL.potx" id="{7BE7A698-1C37-484D-AD3B-D13A1E1538E2}" vid="{3AE55B03-ED97-4CFA-8B72-41EA6DC6B9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UI/customUI14.xml><?xml version="1.0" encoding="utf-8"?>
<customUI xmlns="http://schemas.microsoft.com/office/2009/07/customui">
  <ribbon>
    <tabs>
      <tab idMso="TabDesign" visible="false"/>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9A792F949CCE4ABA1BC33C0D35F241" ma:contentTypeVersion="23" ma:contentTypeDescription="Create a new document." ma:contentTypeScope="" ma:versionID="0e28d5c28b64f32d25c37f8d19fd0b4e">
  <xsd:schema xmlns:xsd="http://www.w3.org/2001/XMLSchema" xmlns:xs="http://www.w3.org/2001/XMLSchema" xmlns:p="http://schemas.microsoft.com/office/2006/metadata/properties" xmlns:ns2="55a0b61c-5367-4bb1-a337-2d927a8588b6" xmlns:ns3="51d9a547-8ed6-4021-9967-71613ff32d4a" targetNamespace="http://schemas.microsoft.com/office/2006/metadata/properties" ma:root="true" ma:fieldsID="150bf7c1e1398523619c847c7399fca6" ns2:_="" ns3:_="">
    <xsd:import namespace="55a0b61c-5367-4bb1-a337-2d927a8588b6"/>
    <xsd:import namespace="51d9a547-8ed6-4021-9967-71613ff32d4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Location" minOccurs="0"/>
                <xsd:element ref="ns2:MediaLengthInSecond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a0b61c-5367-4bb1-a337-2d927a8588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9b2e1ac-94c0-419a-94d0-c399bcdcca7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d9a547-8ed6-4021-9967-71613ff32d4a"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a7f741b8-d254-400b-a03c-732cb4969bc4}" ma:internalName="TaxCatchAll" ma:showField="CatchAllData" ma:web="51d9a547-8ed6-4021-9967-71613ff32d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1d9a547-8ed6-4021-9967-71613ff32d4a" xsi:nil="true"/>
    <lcf76f155ced4ddcb4097134ff3c332f xmlns="55a0b61c-5367-4bb1-a337-2d927a8588b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3B1AC00-0449-45C1-9654-F53770A21A80}"/>
</file>

<file path=customXml/itemProps2.xml><?xml version="1.0" encoding="utf-8"?>
<ds:datastoreItem xmlns:ds="http://schemas.openxmlformats.org/officeDocument/2006/customXml" ds:itemID="{5F30E352-1F08-42A0-882A-171FCF5C1A77}"/>
</file>

<file path=customXml/itemProps3.xml><?xml version="1.0" encoding="utf-8"?>
<ds:datastoreItem xmlns:ds="http://schemas.openxmlformats.org/officeDocument/2006/customXml" ds:itemID="{BB5BA338-0185-4DCC-B5BA-89519A8BF923}"/>
</file>

<file path=docProps/app.xml><?xml version="1.0" encoding="utf-8"?>
<Properties xmlns="http://schemas.openxmlformats.org/officeDocument/2006/extended-properties" xmlns:vt="http://schemas.openxmlformats.org/officeDocument/2006/docPropsVTypes">
  <Template/>
  <TotalTime>25</TotalTime>
  <Words>56</Words>
  <Application>Microsoft Office PowerPoint</Application>
  <PresentationFormat>Diavoorstelling (16:9)</PresentationFormat>
  <Paragraphs>6</Paragraphs>
  <Slides>5</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5</vt:i4>
      </vt:variant>
    </vt:vector>
  </HeadingPairs>
  <TitlesOfParts>
    <vt:vector size="9" baseType="lpstr">
      <vt:lpstr>Arial</vt:lpstr>
      <vt:lpstr>Brown</vt:lpstr>
      <vt:lpstr>HK Grotesk</vt:lpstr>
      <vt:lpstr>TeamNL</vt:lpstr>
      <vt:lpstr>PowerPoint-presentatie</vt:lpstr>
      <vt:lpstr>PowerPoint-presentatie</vt:lpstr>
      <vt:lpstr>PowerPoint-presentatie</vt:lpstr>
      <vt:lpstr>Voorbeeld van een tekstdia</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Engineering - Sessie 1</dc:title>
  <dc:creator>TeamNL Sport Science Centre</dc:creator>
  <cp:lastModifiedBy>TeamNL Sport Science Centre</cp:lastModifiedBy>
  <cp:revision>12</cp:revision>
  <dcterms:created xsi:type="dcterms:W3CDTF">2023-09-12T12:26:43Z</dcterms:created>
  <dcterms:modified xsi:type="dcterms:W3CDTF">2026-01-12T15:28:41Z</dcterms:modified>
  <dc:subject/>
  <cp:keywords/>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jabloonVersieDatum">
    <vt:lpwstr>12-01-2026</vt:lpwstr>
  </property>
  <property fmtid="{D5CDD505-2E9C-101B-9397-08002B2CF9AE}" pid="3" name="ContentTypeId">
    <vt:lpwstr>0x010100089A792F949CCE4ABA1BC33C0D35F241</vt:lpwstr>
  </property>
</Properties>
</file>